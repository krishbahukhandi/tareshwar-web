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381" r:id="rId2"/>
    <p:sldId id="298" r:id="rId3"/>
    <p:sldId id="300" r:id="rId4"/>
    <p:sldId id="301" r:id="rId5"/>
    <p:sldId id="302" r:id="rId6"/>
    <p:sldId id="336" r:id="rId7"/>
    <p:sldId id="335" r:id="rId8"/>
    <p:sldId id="337" r:id="rId9"/>
    <p:sldId id="338" r:id="rId10"/>
    <p:sldId id="339" r:id="rId11"/>
    <p:sldId id="340" r:id="rId12"/>
    <p:sldId id="308" r:id="rId13"/>
    <p:sldId id="341" r:id="rId14"/>
    <p:sldId id="342" r:id="rId15"/>
    <p:sldId id="343" r:id="rId16"/>
    <p:sldId id="372" r:id="rId17"/>
    <p:sldId id="311" r:id="rId18"/>
    <p:sldId id="373" r:id="rId19"/>
    <p:sldId id="312" r:id="rId20"/>
    <p:sldId id="313" r:id="rId21"/>
    <p:sldId id="344" r:id="rId22"/>
    <p:sldId id="345" r:id="rId23"/>
    <p:sldId id="346" r:id="rId24"/>
    <p:sldId id="347" r:id="rId25"/>
    <p:sldId id="314" r:id="rId26"/>
    <p:sldId id="315" r:id="rId27"/>
    <p:sldId id="316" r:id="rId28"/>
    <p:sldId id="317" r:id="rId29"/>
    <p:sldId id="348" r:id="rId30"/>
    <p:sldId id="320" r:id="rId31"/>
    <p:sldId id="321" r:id="rId32"/>
    <p:sldId id="349" r:id="rId33"/>
    <p:sldId id="374" r:id="rId34"/>
    <p:sldId id="380" r:id="rId35"/>
    <p:sldId id="376" r:id="rId36"/>
    <p:sldId id="375" r:id="rId37"/>
    <p:sldId id="377" r:id="rId38"/>
    <p:sldId id="378" r:id="rId39"/>
    <p:sldId id="379" r:id="rId40"/>
    <p:sldId id="363" r:id="rId41"/>
    <p:sldId id="350" r:id="rId42"/>
    <p:sldId id="351" r:id="rId43"/>
    <p:sldId id="352" r:id="rId44"/>
    <p:sldId id="353" r:id="rId45"/>
    <p:sldId id="354" r:id="rId46"/>
    <p:sldId id="355" r:id="rId47"/>
    <p:sldId id="356" r:id="rId48"/>
    <p:sldId id="357" r:id="rId49"/>
    <p:sldId id="358" r:id="rId50"/>
    <p:sldId id="359" r:id="rId51"/>
    <p:sldId id="360" r:id="rId52"/>
    <p:sldId id="361" r:id="rId53"/>
    <p:sldId id="362"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828"/>
    <a:srgbClr val="006666"/>
    <a:srgbClr val="456B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1" d="100"/>
          <a:sy n="101" d="100"/>
        </p:scale>
        <p:origin x="92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7F27CB-F3D3-499F-97C9-BB1775A17E08}" type="datetimeFigureOut">
              <a:rPr lang="en-US" smtClean="0"/>
              <a:pPr/>
              <a:t>4/15/2026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43D146-438A-4F3D-A05C-6D4FE8FA380B}" type="slidenum">
              <a:rPr lang="en-US" smtClean="0"/>
              <a:pPr/>
              <a:t>‹#›</a:t>
            </a:fld>
            <a:endParaRPr lang="en-US"/>
          </a:p>
        </p:txBody>
      </p:sp>
    </p:spTree>
    <p:extLst>
      <p:ext uri="{BB962C8B-B14F-4D97-AF65-F5344CB8AC3E}">
        <p14:creationId xmlns:p14="http://schemas.microsoft.com/office/powerpoint/2010/main" val="3115944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12:notes"/>
          <p:cNvSpPr>
            <a:spLocks noGrp="1" noRot="1" noChangeAspect="1"/>
          </p:cNvSpPr>
          <p:nvPr>
            <p:ph type="sldImg" idx="2"/>
          </p:nvPr>
        </p:nvSpPr>
        <p:spPr>
          <a:xfrm>
            <a:off x="2514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 name="Google Shape;79;p12: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12:notes"/>
          <p:cNvSpPr txBox="1">
            <a:spLocks noGrp="1"/>
          </p:cNvSpPr>
          <p:nvPr>
            <p:ph type="sldNum" idx="12"/>
          </p:nvPr>
        </p:nvSpPr>
        <p:spPr>
          <a:xfrm>
            <a:off x="5179484" y="8685214"/>
            <a:ext cx="39624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29</a:t>
            </a:fld>
            <a:endParaRPr/>
          </a:p>
        </p:txBody>
      </p:sp>
    </p:spTree>
    <p:extLst>
      <p:ext uri="{BB962C8B-B14F-4D97-AF65-F5344CB8AC3E}">
        <p14:creationId xmlns:p14="http://schemas.microsoft.com/office/powerpoint/2010/main" val="2187369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D0E793A-F859-4549-AE87-FA057AF1202D}"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4051618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0E793A-F859-4549-AE87-FA057AF1202D}"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905829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0E793A-F859-4549-AE87-FA057AF1202D}"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1478100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0E793A-F859-4549-AE87-FA057AF1202D}"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3090065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0E793A-F859-4549-AE87-FA057AF1202D}"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76308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D0E793A-F859-4549-AE87-FA057AF1202D}"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2355160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0E793A-F859-4549-AE87-FA057AF1202D}"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1631145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AD0E793A-F859-4549-AE87-FA057AF1202D}"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85072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0E793A-F859-4549-AE87-FA057AF1202D}"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11616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0E793A-F859-4549-AE87-FA057AF1202D}"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675897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0E793A-F859-4549-AE87-FA057AF1202D}"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815A4F-ADF4-428C-A4E5-EBC29F6A67F6}"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733430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0E793A-F859-4549-AE87-FA057AF1202D}"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23932027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0E793A-F859-4549-AE87-FA057AF1202D}"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815A4F-ADF4-428C-A4E5-EBC29F6A67F6}"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795815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0E793A-F859-4549-AE87-FA057AF1202D}"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22885154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0E793A-F859-4549-AE87-FA057AF1202D}"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37865475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0E793A-F859-4549-AE87-FA057AF1202D}"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815A4F-ADF4-428C-A4E5-EBC29F6A67F6}" type="slidenum">
              <a:rPr lang="en-US" smtClean="0"/>
              <a:pPr/>
              <a:t>‹#›</a:t>
            </a:fld>
            <a:endParaRPr lang="en-US"/>
          </a:p>
        </p:txBody>
      </p:sp>
    </p:spTree>
    <p:extLst>
      <p:ext uri="{BB962C8B-B14F-4D97-AF65-F5344CB8AC3E}">
        <p14:creationId xmlns:p14="http://schemas.microsoft.com/office/powerpoint/2010/main" val="3649032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D0E793A-F859-4549-AE87-FA057AF1202D}" type="datetimeFigureOut">
              <a:rPr lang="en-US" smtClean="0"/>
              <a:pPr/>
              <a:t>4/15/2026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8815A4F-ADF4-428C-A4E5-EBC29F6A67F6}" type="slidenum">
              <a:rPr lang="en-US" smtClean="0"/>
              <a:pPr/>
              <a:t>‹#›</a:t>
            </a:fld>
            <a:endParaRPr lang="en-US"/>
          </a:p>
        </p:txBody>
      </p:sp>
    </p:spTree>
    <p:extLst>
      <p:ext uri="{BB962C8B-B14F-4D97-AF65-F5344CB8AC3E}">
        <p14:creationId xmlns:p14="http://schemas.microsoft.com/office/powerpoint/2010/main" val="30895741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pn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43.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2.xml"/><Relationship Id="rId5" Type="http://schemas.openxmlformats.org/officeDocument/2006/relationships/image" Target="../media/image57.jpeg"/><Relationship Id="rId4" Type="http://schemas.openxmlformats.org/officeDocument/2006/relationships/image" Target="../media/image56.jpeg"/></Relationships>
</file>

<file path=ppt/slides/_rels/slide3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gif"/></Relationships>
</file>

<file path=ppt/slides/_rels/slide53.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jpeg"/><Relationship Id="rId1" Type="http://schemas.openxmlformats.org/officeDocument/2006/relationships/slideLayout" Target="../slideLayouts/slideLayout2.xml"/><Relationship Id="rId4" Type="http://schemas.openxmlformats.org/officeDocument/2006/relationships/image" Target="../media/image7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108764"/>
            <a:ext cx="9144000" cy="951029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indent="457200" algn="ctr" eaLnBrk="0" fontAlgn="base" hangingPunct="0">
              <a:spcBef>
                <a:spcPct val="0"/>
              </a:spcBef>
              <a:spcAft>
                <a:spcPct val="0"/>
              </a:spcAft>
            </a:pPr>
            <a:r>
              <a:rPr lang="en-US" sz="2800" b="1" u="sng" cap="small" dirty="0">
                <a:solidFill>
                  <a:srgbClr val="FF0000"/>
                </a:solidFill>
                <a:latin typeface="Arial" pitchFamily="34" charset="0"/>
                <a:cs typeface="Arial" pitchFamily="34" charset="0"/>
              </a:rPr>
              <a:t>some interesting facts about carbon</a:t>
            </a:r>
            <a:endParaRPr kumimoji="0" lang="en-US" sz="2800" b="1" i="0" strike="noStrike" cap="all" normalizeH="0" dirty="0">
              <a:ln>
                <a:noFill/>
              </a:ln>
              <a:solidFill>
                <a:srgbClr val="FF0000"/>
              </a:solidFill>
              <a:effectLst/>
              <a:latin typeface="Arial" pitchFamily="34" charset="0"/>
              <a:ea typeface="Times New Roman" pitchFamily="18" charset="0"/>
              <a:cs typeface="Arial"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pPr>
            <a:endParaRPr kumimoji="0" lang="en-US" sz="1000" b="0" i="0" strike="noStrike" cap="all" normalizeH="0" dirty="0">
              <a:ln>
                <a:noFill/>
              </a:ln>
              <a:solidFill>
                <a:srgbClr val="FF0000"/>
              </a:solidFill>
              <a:effectLst/>
              <a:latin typeface="Arial" pitchFamily="34" charset="0"/>
              <a:cs typeface="Arial" pitchFamily="34" charset="0"/>
            </a:endParaRPr>
          </a:p>
          <a:p>
            <a:pPr marL="573088" marR="0" lvl="0" indent="-573088" algn="just" defTabSz="914400" rtl="0" eaLnBrk="0" fontAlgn="base" latinLnBrk="0" hangingPunct="0">
              <a:spcBef>
                <a:spcPts val="600"/>
              </a:spcBef>
              <a:buClrTx/>
              <a:buSzTx/>
              <a:buFont typeface="Wingdings" pitchFamily="2" charset="2"/>
              <a:buChar char="v"/>
              <a:tabLst>
                <a:tab pos="573088" algn="l"/>
              </a:tabLst>
            </a:pPr>
            <a:r>
              <a:rPr kumimoji="0" lang="en-US" sz="2000" b="0" i="0" u="none" strike="noStrike" cap="none" normalizeH="0" baseline="0" dirty="0">
                <a:ln>
                  <a:noFill/>
                </a:ln>
                <a:solidFill>
                  <a:schemeClr val="tx1"/>
                </a:solidFill>
                <a:effectLst/>
                <a:latin typeface="Arial" pitchFamily="34" charset="0"/>
                <a:ea typeface="Times New Roman" pitchFamily="18" charset="0"/>
                <a:cs typeface="Arial" pitchFamily="34" charset="0"/>
              </a:rPr>
              <a:t>Carbon is an element,</a:t>
            </a:r>
            <a:r>
              <a:rPr kumimoji="0" lang="en-US" sz="2000" b="0" i="0" u="none" strike="noStrike" cap="none" normalizeH="0" dirty="0">
                <a:ln>
                  <a:noFill/>
                </a:ln>
                <a:solidFill>
                  <a:schemeClr val="tx1"/>
                </a:solidFill>
                <a:effectLst/>
                <a:latin typeface="Arial" pitchFamily="34" charset="0"/>
                <a:ea typeface="Times New Roman" pitchFamily="18" charset="0"/>
                <a:cs typeface="Arial" pitchFamily="34" charset="0"/>
              </a:rPr>
              <a:t>  belong to non-metal and its </a:t>
            </a:r>
            <a:r>
              <a:rPr kumimoji="0" lang="en-US" sz="2000" b="0" i="0" u="none" strike="noStrike" cap="none" normalizeH="0" dirty="0" err="1">
                <a:ln>
                  <a:noFill/>
                </a:ln>
                <a:solidFill>
                  <a:schemeClr val="tx1"/>
                </a:solidFill>
                <a:effectLst/>
                <a:latin typeface="Arial" pitchFamily="34" charset="0"/>
                <a:ea typeface="Times New Roman" pitchFamily="18" charset="0"/>
                <a:cs typeface="Arial" pitchFamily="34" charset="0"/>
              </a:rPr>
              <a:t>symboI</a:t>
            </a:r>
            <a:r>
              <a:rPr kumimoji="0" lang="en-US" sz="2000" b="0" i="0" u="none" strike="noStrike" cap="none" normalizeH="0" dirty="0">
                <a:ln>
                  <a:noFill/>
                </a:ln>
                <a:solidFill>
                  <a:schemeClr val="tx1"/>
                </a:solidFill>
                <a:effectLst/>
                <a:latin typeface="Arial" pitchFamily="34" charset="0"/>
                <a:ea typeface="Times New Roman" pitchFamily="18" charset="0"/>
                <a:cs typeface="Arial" pitchFamily="34" charset="0"/>
              </a:rPr>
              <a:t> is </a:t>
            </a:r>
            <a:r>
              <a:rPr kumimoji="0" lang="en-US" sz="2000" b="1" i="0" u="none" strike="noStrike" cap="none" normalizeH="0" dirty="0">
                <a:ln>
                  <a:noFill/>
                </a:ln>
                <a:solidFill>
                  <a:srgbClr val="005828"/>
                </a:solidFill>
                <a:effectLst/>
                <a:latin typeface="Arial" pitchFamily="34" charset="0"/>
                <a:ea typeface="Times New Roman" pitchFamily="18" charset="0"/>
                <a:cs typeface="Arial" pitchFamily="34" charset="0"/>
              </a:rPr>
              <a:t>”C”</a:t>
            </a:r>
          </a:p>
          <a:p>
            <a:pPr marL="573088" lvl="0" indent="-573088" algn="just" eaLnBrk="0" fontAlgn="base" hangingPunct="0">
              <a:spcBef>
                <a:spcPts val="600"/>
              </a:spcBef>
              <a:buFont typeface="Wingdings" pitchFamily="2" charset="2"/>
              <a:buChar char="v"/>
              <a:tabLst>
                <a:tab pos="573088" algn="l"/>
              </a:tabLst>
            </a:pPr>
            <a:r>
              <a:rPr lang="en-US" sz="2000" dirty="0">
                <a:latin typeface="Arial" pitchFamily="34" charset="0"/>
                <a:ea typeface="Times New Roman" pitchFamily="18" charset="0"/>
                <a:cs typeface="Arial" pitchFamily="34" charset="0"/>
              </a:rPr>
              <a:t>The name of the </a:t>
            </a:r>
            <a:r>
              <a:rPr lang="en-US" sz="2000" b="1" dirty="0">
                <a:solidFill>
                  <a:srgbClr val="005828"/>
                </a:solidFill>
                <a:latin typeface="Arial" pitchFamily="34" charset="0"/>
                <a:ea typeface="Times New Roman" pitchFamily="18" charset="0"/>
                <a:cs typeface="Arial" pitchFamily="34" charset="0"/>
              </a:rPr>
              <a:t>‘</a:t>
            </a:r>
            <a:r>
              <a:rPr lang="en-US" sz="2000" b="1" u="sng" dirty="0">
                <a:solidFill>
                  <a:srgbClr val="005828"/>
                </a:solidFill>
                <a:latin typeface="Arial" pitchFamily="34" charset="0"/>
                <a:ea typeface="Times New Roman" pitchFamily="18" charset="0"/>
                <a:cs typeface="Arial" pitchFamily="34" charset="0"/>
              </a:rPr>
              <a:t>Carbon</a:t>
            </a:r>
            <a:r>
              <a:rPr lang="en-US" sz="2000" b="1" dirty="0">
                <a:solidFill>
                  <a:srgbClr val="005828"/>
                </a:solidFill>
                <a:latin typeface="Arial" pitchFamily="34" charset="0"/>
                <a:ea typeface="Times New Roman" pitchFamily="18" charset="0"/>
                <a:cs typeface="Arial" pitchFamily="34" charset="0"/>
              </a:rPr>
              <a:t>’</a:t>
            </a:r>
            <a:r>
              <a:rPr lang="en-US" sz="2000" b="1" dirty="0">
                <a:latin typeface="Arial" pitchFamily="34" charset="0"/>
                <a:ea typeface="Times New Roman" pitchFamily="18" charset="0"/>
                <a:cs typeface="Arial" pitchFamily="34" charset="0"/>
              </a:rPr>
              <a:t> </a:t>
            </a:r>
            <a:r>
              <a:rPr lang="en-US" sz="2000" dirty="0">
                <a:latin typeface="Arial" pitchFamily="34" charset="0"/>
                <a:ea typeface="Times New Roman" pitchFamily="18" charset="0"/>
                <a:cs typeface="Arial" pitchFamily="34" charset="0"/>
              </a:rPr>
              <a:t>derived from the Latin word </a:t>
            </a:r>
            <a:r>
              <a:rPr lang="en-US" sz="2000" b="1" dirty="0">
                <a:solidFill>
                  <a:srgbClr val="005828"/>
                </a:solidFill>
                <a:latin typeface="Arial" pitchFamily="34" charset="0"/>
                <a:ea typeface="Times New Roman" pitchFamily="18" charset="0"/>
                <a:cs typeface="Arial" pitchFamily="34" charset="0"/>
              </a:rPr>
              <a:t>“</a:t>
            </a:r>
            <a:r>
              <a:rPr lang="en-US" sz="2000" b="1" u="sng" dirty="0" err="1">
                <a:solidFill>
                  <a:srgbClr val="005828"/>
                </a:solidFill>
                <a:latin typeface="Arial" pitchFamily="34" charset="0"/>
                <a:ea typeface="Times New Roman" pitchFamily="18" charset="0"/>
                <a:cs typeface="Arial" pitchFamily="34" charset="0"/>
              </a:rPr>
              <a:t>Carbo</a:t>
            </a:r>
            <a:r>
              <a:rPr lang="en-US" sz="2000" b="1" dirty="0">
                <a:solidFill>
                  <a:srgbClr val="005828"/>
                </a:solidFill>
                <a:latin typeface="Arial" pitchFamily="34" charset="0"/>
                <a:ea typeface="Times New Roman" pitchFamily="18" charset="0"/>
                <a:cs typeface="Arial" pitchFamily="34" charset="0"/>
              </a:rPr>
              <a:t>’</a:t>
            </a:r>
            <a:r>
              <a:rPr lang="en-US" sz="2000" dirty="0">
                <a:solidFill>
                  <a:srgbClr val="005828"/>
                </a:solidFill>
                <a:latin typeface="Arial" pitchFamily="34" charset="0"/>
                <a:ea typeface="Times New Roman" pitchFamily="18" charset="0"/>
                <a:cs typeface="Arial" pitchFamily="34" charset="0"/>
              </a:rPr>
              <a:t> </a:t>
            </a:r>
            <a:r>
              <a:rPr lang="en-US" sz="2000" dirty="0">
                <a:latin typeface="Arial" pitchFamily="34" charset="0"/>
                <a:ea typeface="Times New Roman" pitchFamily="18" charset="0"/>
                <a:cs typeface="Arial" pitchFamily="34" charset="0"/>
              </a:rPr>
              <a:t>which means coal. This is because  carbon is the main constituent of coal.</a:t>
            </a:r>
          </a:p>
          <a:p>
            <a:pPr marL="546100" indent="-546100">
              <a:spcBef>
                <a:spcPts val="600"/>
              </a:spcBef>
              <a:buFont typeface="Wingdings" pitchFamily="2" charset="2"/>
              <a:buChar char="v"/>
              <a:tabLst>
                <a:tab pos="520700" algn="l"/>
              </a:tabLst>
            </a:pPr>
            <a:r>
              <a:rPr lang="en-US" sz="2000" dirty="0">
                <a:latin typeface="Arial" pitchFamily="34" charset="0"/>
                <a:cs typeface="Arial" pitchFamily="34" charset="0"/>
              </a:rPr>
              <a:t>It is the </a:t>
            </a:r>
            <a:r>
              <a:rPr lang="en-US" sz="2000" b="1" u="sng" dirty="0">
                <a:solidFill>
                  <a:srgbClr val="005828"/>
                </a:solidFill>
                <a:latin typeface="Arial" pitchFamily="34" charset="0"/>
                <a:cs typeface="Arial" pitchFamily="34" charset="0"/>
              </a:rPr>
              <a:t>fourth</a:t>
            </a:r>
            <a:r>
              <a:rPr lang="en-US" sz="2000" b="1" u="sng" dirty="0">
                <a:solidFill>
                  <a:srgbClr val="006666"/>
                </a:solidFill>
                <a:latin typeface="Arial" pitchFamily="34" charset="0"/>
                <a:cs typeface="Arial" pitchFamily="34" charset="0"/>
              </a:rPr>
              <a:t> </a:t>
            </a:r>
            <a:r>
              <a:rPr lang="en-US" sz="2000" dirty="0">
                <a:latin typeface="Arial" pitchFamily="34" charset="0"/>
                <a:cs typeface="Arial" pitchFamily="34" charset="0"/>
              </a:rPr>
              <a:t>most abundant element  in the</a:t>
            </a:r>
            <a:r>
              <a:rPr lang="en-US" sz="2000" dirty="0">
                <a:solidFill>
                  <a:srgbClr val="005828"/>
                </a:solidFill>
                <a:latin typeface="Arial" pitchFamily="34" charset="0"/>
                <a:cs typeface="Arial" pitchFamily="34" charset="0"/>
              </a:rPr>
              <a:t> </a:t>
            </a:r>
            <a:r>
              <a:rPr lang="en-US" sz="2000" b="1" u="sng" dirty="0">
                <a:solidFill>
                  <a:srgbClr val="005828"/>
                </a:solidFill>
                <a:latin typeface="Arial" pitchFamily="34" charset="0"/>
                <a:cs typeface="Arial" pitchFamily="34" charset="0"/>
              </a:rPr>
              <a:t>universe</a:t>
            </a:r>
          </a:p>
          <a:p>
            <a:pPr marL="546100" indent="-546100">
              <a:spcBef>
                <a:spcPts val="600"/>
              </a:spcBef>
              <a:buFont typeface="Wingdings" pitchFamily="2" charset="2"/>
              <a:buChar char="v"/>
              <a:tabLst>
                <a:tab pos="520700" algn="l"/>
              </a:tabLst>
            </a:pPr>
            <a:r>
              <a:rPr lang="en-US" sz="2000" dirty="0">
                <a:latin typeface="Arial" pitchFamily="34" charset="0"/>
                <a:cs typeface="Arial" pitchFamily="34" charset="0"/>
              </a:rPr>
              <a:t>		     H	   He	    O	    </a:t>
            </a:r>
            <a:r>
              <a:rPr lang="en-US" sz="2000" b="1" dirty="0">
                <a:solidFill>
                  <a:srgbClr val="006666"/>
                </a:solidFill>
                <a:latin typeface="Arial" pitchFamily="34" charset="0"/>
                <a:cs typeface="Arial" pitchFamily="34" charset="0"/>
              </a:rPr>
              <a:t>C</a:t>
            </a:r>
          </a:p>
          <a:p>
            <a:pPr marL="546100" indent="-546100">
              <a:spcBef>
                <a:spcPts val="600"/>
              </a:spcBef>
              <a:buFont typeface="Wingdings" pitchFamily="2" charset="2"/>
              <a:buChar char="v"/>
              <a:tabLst>
                <a:tab pos="520700" algn="l"/>
              </a:tabLst>
            </a:pPr>
            <a:r>
              <a:rPr lang="en-US" sz="2000" dirty="0">
                <a:latin typeface="Arial" pitchFamily="34" charset="0"/>
                <a:cs typeface="Arial" pitchFamily="34" charset="0"/>
              </a:rPr>
              <a:t>	PPM  739000	240000	 10400	  4600</a:t>
            </a:r>
          </a:p>
          <a:p>
            <a:pPr marL="546100" indent="-546100">
              <a:spcBef>
                <a:spcPts val="600"/>
              </a:spcBef>
              <a:buFont typeface="Wingdings" pitchFamily="2" charset="2"/>
              <a:buChar char="v"/>
              <a:tabLst>
                <a:tab pos="520700" algn="l"/>
              </a:tabLst>
            </a:pPr>
            <a:r>
              <a:rPr lang="en-US" sz="2000" dirty="0">
                <a:latin typeface="Arial" pitchFamily="34" charset="0"/>
                <a:cs typeface="Arial" pitchFamily="34" charset="0"/>
              </a:rPr>
              <a:t>It is the </a:t>
            </a:r>
            <a:r>
              <a:rPr lang="en-US" sz="2000" b="1" u="sng" dirty="0">
                <a:solidFill>
                  <a:srgbClr val="006666"/>
                </a:solidFill>
                <a:latin typeface="Arial" pitchFamily="34" charset="0"/>
                <a:cs typeface="Arial" pitchFamily="34" charset="0"/>
              </a:rPr>
              <a:t>15</a:t>
            </a:r>
            <a:r>
              <a:rPr lang="en-US" sz="2000" b="1" u="sng" baseline="30000" dirty="0">
                <a:solidFill>
                  <a:srgbClr val="006666"/>
                </a:solidFill>
                <a:latin typeface="Arial" pitchFamily="34" charset="0"/>
                <a:cs typeface="Arial" pitchFamily="34" charset="0"/>
              </a:rPr>
              <a:t>th</a:t>
            </a:r>
            <a:r>
              <a:rPr lang="en-US" sz="2000" dirty="0">
                <a:latin typeface="Arial" pitchFamily="34" charset="0"/>
                <a:cs typeface="Arial" pitchFamily="34" charset="0"/>
              </a:rPr>
              <a:t> most abundant element in </a:t>
            </a:r>
            <a:r>
              <a:rPr lang="en-US" sz="2000" b="1" u="sng" dirty="0">
                <a:solidFill>
                  <a:srgbClr val="005828"/>
                </a:solidFill>
                <a:latin typeface="Arial" pitchFamily="34" charset="0"/>
                <a:cs typeface="Arial" pitchFamily="34" charset="0"/>
              </a:rPr>
              <a:t>earth’s crust</a:t>
            </a:r>
          </a:p>
          <a:p>
            <a:pPr marL="546100" indent="-546100">
              <a:spcBef>
                <a:spcPts val="600"/>
              </a:spcBef>
              <a:buFont typeface="Wingdings" pitchFamily="2" charset="2"/>
              <a:buChar char="v"/>
              <a:tabLst>
                <a:tab pos="520700" algn="l"/>
              </a:tabLst>
            </a:pPr>
            <a:r>
              <a:rPr lang="en-US" sz="2000" dirty="0">
                <a:latin typeface="Arial" pitchFamily="34" charset="0"/>
                <a:cs typeface="Arial" pitchFamily="34" charset="0"/>
              </a:rPr>
              <a:t>	O &gt; Si &gt; Al &gt; Fe&gt; Ca &gt; Na &gt; K &gt; Mg &gt; Ti &gt; H</a:t>
            </a:r>
          </a:p>
          <a:p>
            <a:pPr marL="546100" indent="-546100">
              <a:spcBef>
                <a:spcPts val="600"/>
              </a:spcBef>
              <a:buFont typeface="Wingdings" pitchFamily="2" charset="2"/>
              <a:buChar char="v"/>
              <a:tabLst>
                <a:tab pos="520700" algn="l"/>
              </a:tabLst>
            </a:pPr>
            <a:r>
              <a:rPr lang="en-US" sz="2000" dirty="0">
                <a:latin typeface="Arial" pitchFamily="34" charset="0"/>
                <a:cs typeface="Arial" pitchFamily="34" charset="0"/>
              </a:rPr>
              <a:t>It is </a:t>
            </a:r>
            <a:r>
              <a:rPr lang="en-US" sz="2000" b="1" u="sng" dirty="0">
                <a:solidFill>
                  <a:srgbClr val="006666"/>
                </a:solidFill>
                <a:latin typeface="Arial" pitchFamily="34" charset="0"/>
                <a:cs typeface="Arial" pitchFamily="34" charset="0"/>
              </a:rPr>
              <a:t>2</a:t>
            </a:r>
            <a:r>
              <a:rPr lang="en-US" sz="2000" b="1" u="sng" baseline="30000" dirty="0">
                <a:solidFill>
                  <a:srgbClr val="006666"/>
                </a:solidFill>
                <a:latin typeface="Arial" pitchFamily="34" charset="0"/>
                <a:cs typeface="Arial" pitchFamily="34" charset="0"/>
              </a:rPr>
              <a:t>nd</a:t>
            </a:r>
            <a:r>
              <a:rPr lang="en-US" sz="2000" dirty="0">
                <a:latin typeface="Arial" pitchFamily="34" charset="0"/>
                <a:cs typeface="Arial" pitchFamily="34" charset="0"/>
              </a:rPr>
              <a:t> abundant element in the </a:t>
            </a:r>
            <a:r>
              <a:rPr lang="en-US" sz="2000" b="1" u="sng" dirty="0">
                <a:solidFill>
                  <a:srgbClr val="005828"/>
                </a:solidFill>
                <a:latin typeface="Arial" pitchFamily="34" charset="0"/>
                <a:cs typeface="Arial" pitchFamily="34" charset="0"/>
              </a:rPr>
              <a:t>human body</a:t>
            </a:r>
          </a:p>
          <a:p>
            <a:pPr marL="546100" indent="-546100">
              <a:spcBef>
                <a:spcPts val="600"/>
              </a:spcBef>
              <a:buFont typeface="Wingdings" pitchFamily="2" charset="2"/>
              <a:buChar char="v"/>
              <a:tabLst>
                <a:tab pos="520700" algn="l"/>
              </a:tabLst>
            </a:pPr>
            <a:r>
              <a:rPr lang="en-US" sz="2000" dirty="0">
                <a:latin typeface="Arial" pitchFamily="34" charset="0"/>
                <a:cs typeface="Arial" pitchFamily="34" charset="0"/>
              </a:rPr>
              <a:t>	     O	 </a:t>
            </a:r>
            <a:r>
              <a:rPr lang="en-US" sz="2000" b="1" dirty="0">
                <a:solidFill>
                  <a:srgbClr val="006666"/>
                </a:solidFill>
                <a:latin typeface="Arial" pitchFamily="34" charset="0"/>
                <a:cs typeface="Arial" pitchFamily="34" charset="0"/>
              </a:rPr>
              <a:t>C</a:t>
            </a:r>
            <a:r>
              <a:rPr lang="en-US" sz="2000" dirty="0">
                <a:latin typeface="Arial" pitchFamily="34" charset="0"/>
                <a:cs typeface="Arial" pitchFamily="34" charset="0"/>
              </a:rPr>
              <a:t>	 H	 N	Ca	   P	  K</a:t>
            </a:r>
          </a:p>
          <a:p>
            <a:pPr marL="546100" indent="-546100">
              <a:spcBef>
                <a:spcPts val="600"/>
              </a:spcBef>
              <a:buFont typeface="Wingdings" pitchFamily="2" charset="2"/>
              <a:buChar char="v"/>
              <a:tabLst>
                <a:tab pos="520700" algn="l"/>
              </a:tabLst>
            </a:pPr>
            <a:r>
              <a:rPr lang="en-US" sz="2000" dirty="0">
                <a:latin typeface="Arial" pitchFamily="34" charset="0"/>
                <a:cs typeface="Arial" pitchFamily="34" charset="0"/>
              </a:rPr>
              <a:t>	    65%	18%	10%	3%	1.5%	1.2%	0.2%</a:t>
            </a:r>
          </a:p>
          <a:p>
            <a:pPr marL="573088" lvl="0" indent="-573088" algn="just" eaLnBrk="0" fontAlgn="base" hangingPunct="0">
              <a:spcBef>
                <a:spcPts val="600"/>
              </a:spcBef>
              <a:buFont typeface="Wingdings" pitchFamily="2" charset="2"/>
              <a:buChar char="v"/>
              <a:tabLst>
                <a:tab pos="573088" algn="l"/>
              </a:tabLst>
            </a:pPr>
            <a:r>
              <a:rPr lang="en-US" sz="2000" dirty="0">
                <a:latin typeface="Arial" pitchFamily="34" charset="0"/>
                <a:ea typeface="Times New Roman" pitchFamily="18" charset="0"/>
                <a:cs typeface="Arial" pitchFamily="34" charset="0"/>
              </a:rPr>
              <a:t>Carbon is found in the atmosphere </a:t>
            </a:r>
            <a:r>
              <a:rPr lang="en-US" sz="2000" b="1" u="sng" dirty="0">
                <a:solidFill>
                  <a:srgbClr val="005828"/>
                </a:solidFill>
                <a:latin typeface="Arial" pitchFamily="34" charset="0"/>
                <a:ea typeface="Times New Roman" pitchFamily="18" charset="0"/>
                <a:cs typeface="Arial" pitchFamily="34" charset="0"/>
              </a:rPr>
              <a:t>(0.03%)</a:t>
            </a:r>
            <a:r>
              <a:rPr lang="en-US" sz="2000" dirty="0">
                <a:latin typeface="Arial" pitchFamily="34" charset="0"/>
                <a:ea typeface="Times New Roman" pitchFamily="18" charset="0"/>
                <a:cs typeface="Arial" pitchFamily="34" charset="0"/>
              </a:rPr>
              <a:t> as</a:t>
            </a:r>
            <a:r>
              <a:rPr lang="en-US" sz="2000" dirty="0">
                <a:solidFill>
                  <a:srgbClr val="005828"/>
                </a:solidFill>
                <a:latin typeface="Arial" pitchFamily="34" charset="0"/>
                <a:ea typeface="Times New Roman" pitchFamily="18" charset="0"/>
                <a:cs typeface="Arial" pitchFamily="34" charset="0"/>
              </a:rPr>
              <a:t> </a:t>
            </a:r>
            <a:r>
              <a:rPr lang="en-US" sz="2000" b="1" u="sng" dirty="0">
                <a:solidFill>
                  <a:srgbClr val="005828"/>
                </a:solidFill>
                <a:latin typeface="Arial" pitchFamily="34" charset="0"/>
                <a:ea typeface="Times New Roman" pitchFamily="18" charset="0"/>
                <a:cs typeface="Arial" pitchFamily="34" charset="0"/>
              </a:rPr>
              <a:t>Carbon dioxide</a:t>
            </a:r>
            <a:r>
              <a:rPr lang="en-US" sz="2000" dirty="0">
                <a:solidFill>
                  <a:srgbClr val="005828"/>
                </a:solidFill>
                <a:latin typeface="Arial" pitchFamily="34" charset="0"/>
                <a:ea typeface="Times New Roman" pitchFamily="18" charset="0"/>
                <a:cs typeface="Arial" pitchFamily="34" charset="0"/>
              </a:rPr>
              <a:t>.</a:t>
            </a:r>
          </a:p>
          <a:p>
            <a:pPr marL="573088" lvl="0" indent="-573088" algn="just" eaLnBrk="0" fontAlgn="base" hangingPunct="0">
              <a:spcBef>
                <a:spcPts val="600"/>
              </a:spcBef>
              <a:buFont typeface="Wingdings" pitchFamily="2" charset="2"/>
              <a:buChar char="v"/>
              <a:tabLst>
                <a:tab pos="573088" algn="l"/>
              </a:tabLst>
            </a:pPr>
            <a:r>
              <a:rPr lang="en-US" sz="2000" dirty="0">
                <a:latin typeface="Arial" pitchFamily="34" charset="0"/>
                <a:ea typeface="Times New Roman" pitchFamily="18" charset="0"/>
                <a:cs typeface="Arial" pitchFamily="34" charset="0"/>
              </a:rPr>
              <a:t>Inside the </a:t>
            </a:r>
            <a:r>
              <a:rPr lang="en-US" sz="2000" b="1" u="sng" dirty="0">
                <a:solidFill>
                  <a:srgbClr val="005828"/>
                </a:solidFill>
                <a:latin typeface="Arial" pitchFamily="34" charset="0"/>
                <a:ea typeface="Times New Roman" pitchFamily="18" charset="0"/>
                <a:cs typeface="Arial" pitchFamily="34" charset="0"/>
              </a:rPr>
              <a:t>earth’s crust</a:t>
            </a:r>
            <a:r>
              <a:rPr lang="en-US" sz="2000" dirty="0">
                <a:solidFill>
                  <a:srgbClr val="005828"/>
                </a:solidFill>
                <a:latin typeface="Arial" pitchFamily="34" charset="0"/>
                <a:ea typeface="Times New Roman" pitchFamily="18" charset="0"/>
                <a:cs typeface="Arial" pitchFamily="34" charset="0"/>
              </a:rPr>
              <a:t> </a:t>
            </a:r>
            <a:r>
              <a:rPr lang="en-US" sz="2000" b="1" u="sng" dirty="0">
                <a:solidFill>
                  <a:srgbClr val="005828"/>
                </a:solidFill>
                <a:latin typeface="Arial" pitchFamily="34" charset="0"/>
                <a:ea typeface="Times New Roman" pitchFamily="18" charset="0"/>
                <a:cs typeface="Arial" pitchFamily="34" charset="0"/>
              </a:rPr>
              <a:t>(0.02%) </a:t>
            </a:r>
            <a:r>
              <a:rPr lang="en-US" sz="2000" dirty="0">
                <a:solidFill>
                  <a:srgbClr val="005828"/>
                </a:solidFill>
                <a:latin typeface="Arial" pitchFamily="34" charset="0"/>
                <a:ea typeface="Times New Roman" pitchFamily="18" charset="0"/>
                <a:cs typeface="Arial" pitchFamily="34" charset="0"/>
              </a:rPr>
              <a:t>as </a:t>
            </a:r>
            <a:r>
              <a:rPr lang="en-US" sz="2000" b="1" u="sng" dirty="0">
                <a:solidFill>
                  <a:srgbClr val="005828"/>
                </a:solidFill>
                <a:latin typeface="Arial" pitchFamily="34" charset="0"/>
                <a:ea typeface="Times New Roman" pitchFamily="18" charset="0"/>
                <a:cs typeface="Arial" pitchFamily="34" charset="0"/>
              </a:rPr>
              <a:t>Minerals</a:t>
            </a:r>
            <a:r>
              <a:rPr lang="en-US" sz="2000" dirty="0">
                <a:solidFill>
                  <a:srgbClr val="005828"/>
                </a:solidFill>
                <a:latin typeface="Arial" pitchFamily="34" charset="0"/>
                <a:ea typeface="Times New Roman" pitchFamily="18" charset="0"/>
                <a:cs typeface="Arial" pitchFamily="34" charset="0"/>
              </a:rPr>
              <a:t> (like </a:t>
            </a:r>
            <a:r>
              <a:rPr lang="en-US" sz="2000" b="1" u="sng" dirty="0">
                <a:solidFill>
                  <a:srgbClr val="005828"/>
                </a:solidFill>
                <a:latin typeface="Arial" pitchFamily="34" charset="0"/>
                <a:ea typeface="Times New Roman" pitchFamily="18" charset="0"/>
                <a:cs typeface="Arial" pitchFamily="34" charset="0"/>
              </a:rPr>
              <a:t>carbonates</a:t>
            </a:r>
            <a:r>
              <a:rPr lang="en-US" sz="2000" dirty="0">
                <a:solidFill>
                  <a:srgbClr val="005828"/>
                </a:solidFill>
                <a:latin typeface="Arial" pitchFamily="34" charset="0"/>
                <a:ea typeface="Times New Roman" pitchFamily="18" charset="0"/>
                <a:cs typeface="Arial" pitchFamily="34" charset="0"/>
              </a:rPr>
              <a:t>, </a:t>
            </a:r>
            <a:r>
              <a:rPr lang="en-US" sz="2000" b="1" u="sng" dirty="0">
                <a:solidFill>
                  <a:srgbClr val="005828"/>
                </a:solidFill>
                <a:latin typeface="Arial" pitchFamily="34" charset="0"/>
                <a:ea typeface="Times New Roman" pitchFamily="18" charset="0"/>
                <a:cs typeface="Arial" pitchFamily="34" charset="0"/>
              </a:rPr>
              <a:t>coal</a:t>
            </a:r>
            <a:r>
              <a:rPr lang="en-US" sz="2000" dirty="0">
                <a:solidFill>
                  <a:srgbClr val="005828"/>
                </a:solidFill>
                <a:latin typeface="Arial" pitchFamily="34" charset="0"/>
                <a:ea typeface="Times New Roman" pitchFamily="18" charset="0"/>
                <a:cs typeface="Arial" pitchFamily="34" charset="0"/>
              </a:rPr>
              <a:t> </a:t>
            </a:r>
            <a:r>
              <a:rPr lang="en-US" sz="2000" b="1" u="sng" dirty="0">
                <a:solidFill>
                  <a:srgbClr val="005828"/>
                </a:solidFill>
                <a:latin typeface="Arial" pitchFamily="34" charset="0"/>
                <a:ea typeface="Times New Roman" pitchFamily="18" charset="0"/>
                <a:cs typeface="Arial" pitchFamily="34" charset="0"/>
              </a:rPr>
              <a:t>&amp;</a:t>
            </a:r>
            <a:r>
              <a:rPr lang="en-US" sz="2000" dirty="0">
                <a:solidFill>
                  <a:srgbClr val="005828"/>
                </a:solidFill>
                <a:latin typeface="Arial" pitchFamily="34" charset="0"/>
                <a:ea typeface="Times New Roman" pitchFamily="18" charset="0"/>
                <a:cs typeface="Arial" pitchFamily="34" charset="0"/>
              </a:rPr>
              <a:t> </a:t>
            </a:r>
            <a:r>
              <a:rPr lang="en-US" sz="2000" b="1" u="sng" dirty="0">
                <a:solidFill>
                  <a:srgbClr val="005828"/>
                </a:solidFill>
                <a:latin typeface="Arial" pitchFamily="34" charset="0"/>
                <a:ea typeface="Times New Roman" pitchFamily="18" charset="0"/>
                <a:cs typeface="Arial" pitchFamily="34" charset="0"/>
              </a:rPr>
              <a:t>petroleum</a:t>
            </a:r>
            <a:r>
              <a:rPr lang="en-US" sz="2000" dirty="0">
                <a:solidFill>
                  <a:srgbClr val="005828"/>
                </a:solidFill>
                <a:latin typeface="Arial" pitchFamily="34" charset="0"/>
                <a:ea typeface="Times New Roman" pitchFamily="18" charset="0"/>
                <a:cs typeface="Arial" pitchFamily="34" charset="0"/>
              </a:rPr>
              <a:t>)</a:t>
            </a:r>
          </a:p>
          <a:p>
            <a:pPr marL="573088" lvl="0" indent="-573088" algn="just" eaLnBrk="0" fontAlgn="base" hangingPunct="0">
              <a:spcBef>
                <a:spcPts val="600"/>
              </a:spcBef>
              <a:buFont typeface="Wingdings" pitchFamily="2" charset="2"/>
              <a:buChar char="v"/>
              <a:tabLst>
                <a:tab pos="573088" algn="l"/>
              </a:tabLst>
            </a:pPr>
            <a:r>
              <a:rPr lang="en-US" sz="2000" dirty="0">
                <a:latin typeface="Arial" pitchFamily="34" charset="0"/>
                <a:ea typeface="Times New Roman" pitchFamily="18" charset="0"/>
                <a:cs typeface="Arial" pitchFamily="34" charset="0"/>
              </a:rPr>
              <a:t>In all</a:t>
            </a:r>
            <a:r>
              <a:rPr lang="en-US" sz="2000" dirty="0">
                <a:solidFill>
                  <a:srgbClr val="005828"/>
                </a:solidFill>
                <a:latin typeface="Arial" pitchFamily="34" charset="0"/>
                <a:ea typeface="Times New Roman" pitchFamily="18" charset="0"/>
                <a:cs typeface="Arial" pitchFamily="34" charset="0"/>
              </a:rPr>
              <a:t> </a:t>
            </a:r>
            <a:r>
              <a:rPr lang="en-US" sz="2000" b="1" u="sng" dirty="0">
                <a:solidFill>
                  <a:srgbClr val="005828"/>
                </a:solidFill>
                <a:latin typeface="Arial" pitchFamily="34" charset="0"/>
                <a:ea typeface="Times New Roman" pitchFamily="18" charset="0"/>
                <a:cs typeface="Arial" pitchFamily="34" charset="0"/>
              </a:rPr>
              <a:t>living organisms</a:t>
            </a:r>
            <a:r>
              <a:rPr lang="en-US" sz="2000" dirty="0">
                <a:solidFill>
                  <a:srgbClr val="005828"/>
                </a:solidFill>
                <a:latin typeface="Arial" pitchFamily="34" charset="0"/>
                <a:ea typeface="Times New Roman" pitchFamily="18" charset="0"/>
                <a:cs typeface="Arial" pitchFamily="34" charset="0"/>
              </a:rPr>
              <a:t> as </a:t>
            </a:r>
            <a:r>
              <a:rPr lang="en-US" sz="2000" b="1" u="sng" dirty="0">
                <a:solidFill>
                  <a:srgbClr val="005828"/>
                </a:solidFill>
                <a:latin typeface="Arial" pitchFamily="34" charset="0"/>
                <a:ea typeface="Times New Roman" pitchFamily="18" charset="0"/>
                <a:cs typeface="Arial" pitchFamily="34" charset="0"/>
              </a:rPr>
              <a:t>organic compounds</a:t>
            </a:r>
          </a:p>
          <a:p>
            <a:pPr marL="573088" lvl="0" indent="-573088" algn="just" eaLnBrk="0" fontAlgn="base" hangingPunct="0">
              <a:spcBef>
                <a:spcPts val="600"/>
              </a:spcBef>
              <a:buFont typeface="Wingdings" pitchFamily="2" charset="2"/>
              <a:buChar char="v"/>
              <a:tabLst>
                <a:tab pos="573088" algn="l"/>
              </a:tabLst>
            </a:pPr>
            <a:r>
              <a:rPr lang="en-US" sz="2000" dirty="0">
                <a:latin typeface="Arial" pitchFamily="34" charset="0"/>
                <a:ea typeface="Times New Roman" pitchFamily="18" charset="0"/>
                <a:cs typeface="Arial" pitchFamily="34" charset="0"/>
              </a:rPr>
              <a:t>Carbon is found in the</a:t>
            </a:r>
            <a:r>
              <a:rPr lang="en-US" sz="2000" dirty="0">
                <a:solidFill>
                  <a:srgbClr val="005828"/>
                </a:solidFill>
                <a:latin typeface="Arial" pitchFamily="34" charset="0"/>
                <a:ea typeface="Times New Roman" pitchFamily="18" charset="0"/>
                <a:cs typeface="Arial" pitchFamily="34" charset="0"/>
              </a:rPr>
              <a:t> </a:t>
            </a:r>
            <a:r>
              <a:rPr lang="en-US" sz="2000" b="1" u="sng" dirty="0">
                <a:solidFill>
                  <a:srgbClr val="005828"/>
                </a:solidFill>
                <a:latin typeface="Arial" pitchFamily="34" charset="0"/>
                <a:ea typeface="Times New Roman" pitchFamily="18" charset="0"/>
                <a:cs typeface="Arial" pitchFamily="34" charset="0"/>
              </a:rPr>
              <a:t>free state</a:t>
            </a:r>
            <a:r>
              <a:rPr lang="en-US" sz="2000" dirty="0">
                <a:solidFill>
                  <a:srgbClr val="005828"/>
                </a:solidFill>
                <a:latin typeface="Arial" pitchFamily="34" charset="0"/>
                <a:ea typeface="Times New Roman" pitchFamily="18" charset="0"/>
                <a:cs typeface="Arial" pitchFamily="34" charset="0"/>
              </a:rPr>
              <a:t> as </a:t>
            </a:r>
            <a:r>
              <a:rPr lang="en-US" sz="2000" b="1" u="sng" dirty="0">
                <a:solidFill>
                  <a:srgbClr val="005828"/>
                </a:solidFill>
                <a:latin typeface="Arial" pitchFamily="34" charset="0"/>
                <a:ea typeface="Times New Roman" pitchFamily="18" charset="0"/>
                <a:cs typeface="Arial" pitchFamily="34" charset="0"/>
              </a:rPr>
              <a:t>diamond</a:t>
            </a:r>
            <a:r>
              <a:rPr lang="en-US" sz="2000" dirty="0">
                <a:solidFill>
                  <a:srgbClr val="005828"/>
                </a:solidFill>
                <a:latin typeface="Arial" pitchFamily="34" charset="0"/>
                <a:ea typeface="Times New Roman" pitchFamily="18" charset="0"/>
                <a:cs typeface="Arial" pitchFamily="34" charset="0"/>
              </a:rPr>
              <a:t>, </a:t>
            </a:r>
            <a:r>
              <a:rPr lang="en-US" sz="2000" b="1" u="sng" dirty="0">
                <a:solidFill>
                  <a:srgbClr val="005828"/>
                </a:solidFill>
                <a:latin typeface="Arial" pitchFamily="34" charset="0"/>
                <a:ea typeface="Times New Roman" pitchFamily="18" charset="0"/>
                <a:cs typeface="Arial" pitchFamily="34" charset="0"/>
              </a:rPr>
              <a:t>graphite </a:t>
            </a:r>
            <a:r>
              <a:rPr lang="en-US" sz="2000" dirty="0">
                <a:solidFill>
                  <a:srgbClr val="005828"/>
                </a:solidFill>
                <a:latin typeface="Arial" pitchFamily="34" charset="0"/>
                <a:ea typeface="Times New Roman" pitchFamily="18" charset="0"/>
                <a:cs typeface="Arial" pitchFamily="34" charset="0"/>
              </a:rPr>
              <a:t>&amp; </a:t>
            </a:r>
            <a:r>
              <a:rPr lang="en-US" sz="2000" b="1" u="sng" dirty="0">
                <a:solidFill>
                  <a:srgbClr val="005828"/>
                </a:solidFill>
                <a:latin typeface="Arial" pitchFamily="34" charset="0"/>
                <a:ea typeface="Times New Roman" pitchFamily="18" charset="0"/>
                <a:cs typeface="Arial" pitchFamily="34" charset="0"/>
              </a:rPr>
              <a:t>fullerenes</a:t>
            </a:r>
            <a:r>
              <a:rPr lang="en-US" sz="2000" dirty="0">
                <a:solidFill>
                  <a:srgbClr val="005828"/>
                </a:solidFill>
                <a:latin typeface="Arial" pitchFamily="34" charset="0"/>
                <a:ea typeface="Times New Roman" pitchFamily="18" charset="0"/>
                <a:cs typeface="Arial" pitchFamily="34" charset="0"/>
              </a:rPr>
              <a:t>.</a:t>
            </a:r>
          </a:p>
          <a:p>
            <a:pPr marL="573088" lvl="0" indent="-573088" algn="just" eaLnBrk="0" fontAlgn="base" hangingPunct="0">
              <a:spcBef>
                <a:spcPct val="0"/>
              </a:spcBef>
              <a:spcAft>
                <a:spcPct val="0"/>
              </a:spcAft>
              <a:buFont typeface="Wingdings" pitchFamily="2" charset="2"/>
              <a:buChar char="v"/>
              <a:tabLst>
                <a:tab pos="573088" algn="l"/>
              </a:tabLst>
            </a:pPr>
            <a:endParaRPr lang="en-US" sz="2000" dirty="0">
              <a:latin typeface="Arial" pitchFamily="34" charset="0"/>
              <a:ea typeface="Times New Roman" pitchFamily="18" charset="0"/>
              <a:cs typeface="Arial" pitchFamily="34" charset="0"/>
            </a:endParaRPr>
          </a:p>
          <a:p>
            <a:pPr marL="546100" indent="-546100">
              <a:buFont typeface="Wingdings" pitchFamily="2" charset="2"/>
              <a:buChar char="v"/>
              <a:tabLst>
                <a:tab pos="520700" algn="l"/>
              </a:tabLst>
            </a:pPr>
            <a:endParaRPr lang="en-US" sz="2000" dirty="0">
              <a:latin typeface="Arial" pitchFamily="34" charset="0"/>
              <a:cs typeface="Arial" pitchFamily="34" charset="0"/>
            </a:endParaRPr>
          </a:p>
          <a:p>
            <a:pPr marL="573088" lvl="0" indent="-573088" algn="just" eaLnBrk="0" fontAlgn="base" hangingPunct="0">
              <a:spcBef>
                <a:spcPct val="0"/>
              </a:spcBef>
              <a:spcAft>
                <a:spcPct val="0"/>
              </a:spcAft>
              <a:tabLst>
                <a:tab pos="573088" algn="l"/>
              </a:tabLst>
            </a:pPr>
            <a:endParaRPr lang="en-US" sz="2000" dirty="0">
              <a:latin typeface="Arial" pitchFamily="34" charset="0"/>
              <a:ea typeface="Times New Roman" pitchFamily="18" charset="0"/>
              <a:cs typeface="Arial" pitchFamily="34" charset="0"/>
            </a:endParaRPr>
          </a:p>
          <a:p>
            <a:pPr marL="573088" lvl="0" indent="-573088" algn="just" eaLnBrk="0" fontAlgn="base" hangingPunct="0">
              <a:spcBef>
                <a:spcPct val="0"/>
              </a:spcBef>
              <a:spcAft>
                <a:spcPct val="0"/>
              </a:spcAft>
              <a:buFont typeface="Wingdings"/>
              <a:buChar char="m"/>
              <a:tabLst>
                <a:tab pos="573088" algn="l"/>
              </a:tabLst>
            </a:pPr>
            <a:endParaRPr lang="en-US" sz="2000" dirty="0">
              <a:latin typeface="Arial" pitchFamily="34" charset="0"/>
              <a:ea typeface="Times New Roman" pitchFamily="18" charset="0"/>
              <a:cs typeface="Arial" pitchFamily="34" charset="0"/>
            </a:endParaRPr>
          </a:p>
          <a:p>
            <a:pPr marL="0" marR="0" lvl="0" indent="457200" algn="just" defTabSz="914400" rtl="0" eaLnBrk="0" fontAlgn="base" latinLnBrk="0" hangingPunct="0">
              <a:lnSpc>
                <a:spcPct val="100000"/>
              </a:lnSpc>
              <a:spcBef>
                <a:spcPct val="0"/>
              </a:spcBef>
              <a:spcAft>
                <a:spcPct val="0"/>
              </a:spcAft>
              <a:buClrTx/>
              <a:buSzTx/>
              <a:buFontTx/>
              <a:buNone/>
              <a:tabLst/>
            </a:pPr>
            <a:endParaRPr lang="en-US" sz="2000" dirty="0">
              <a:latin typeface="Arial" pitchFamily="34" charset="0"/>
              <a:ea typeface="Times New Roman" pitchFamily="18" charset="0"/>
              <a:cs typeface="Arial" pitchFamily="34" charset="0"/>
            </a:endParaRPr>
          </a:p>
          <a:p>
            <a:pPr marL="0" marR="0" lvl="0" indent="457200" algn="just" defTabSz="914400" rtl="0" eaLnBrk="0" fontAlgn="base" latinLnBrk="0" hangingPunct="0">
              <a:lnSpc>
                <a:spcPct val="100000"/>
              </a:lnSpc>
              <a:spcBef>
                <a:spcPct val="0"/>
              </a:spcBef>
              <a:spcAft>
                <a:spcPct val="0"/>
              </a:spcAft>
              <a:buClrTx/>
              <a:buSzTx/>
              <a:buFontTx/>
              <a:buNone/>
              <a:tabLst/>
            </a:pPr>
            <a:endParaRPr lang="en-US" sz="2000" dirty="0">
              <a:latin typeface="Arial" pitchFamily="34" charset="0"/>
              <a:ea typeface="Times New Roman" pitchFamily="18" charset="0"/>
              <a:cs typeface="Arial" pitchFamily="34" charset="0"/>
            </a:endParaRPr>
          </a:p>
          <a:p>
            <a:pPr marL="0" marR="0" lvl="0" indent="457200" algn="just" defTabSz="914400" rtl="0" eaLnBrk="0" fontAlgn="base" latinLnBrk="0" hangingPunct="0">
              <a:lnSpc>
                <a:spcPct val="100000"/>
              </a:lnSpc>
              <a:spcBef>
                <a:spcPct val="0"/>
              </a:spcBef>
              <a:spcAft>
                <a:spcPct val="0"/>
              </a:spcAft>
              <a:buClrTx/>
              <a:buSzTx/>
              <a:buFontTx/>
              <a:buNone/>
              <a:tabLst/>
            </a:pPr>
            <a:endParaRPr lang="en-US" sz="2000" dirty="0">
              <a:latin typeface="Arial" pitchFamily="34" charset="0"/>
              <a:ea typeface="Times New Roman" pitchFamily="18" charset="0"/>
              <a:cs typeface="Arial" pitchFamily="34" charset="0"/>
            </a:endParaRPr>
          </a:p>
          <a:p>
            <a:pPr marL="0" marR="0" lvl="0" indent="457200" algn="just" defTabSz="914400" rtl="0" eaLnBrk="0" fontAlgn="base" latinLnBrk="0" hangingPunct="0">
              <a:lnSpc>
                <a:spcPct val="100000"/>
              </a:lnSpc>
              <a:spcBef>
                <a:spcPct val="0"/>
              </a:spcBef>
              <a:spcAft>
                <a:spcPct val="0"/>
              </a:spcAft>
              <a:buClrTx/>
              <a:buSzTx/>
              <a:buFontTx/>
              <a:buNone/>
              <a:tabLst/>
            </a:pPr>
            <a:endParaRPr lang="en-US" sz="2000" dirty="0">
              <a:latin typeface="Arial" pitchFamily="34" charset="0"/>
              <a:ea typeface="Times New Roman" pitchFamily="18" charset="0"/>
              <a:cs typeface="Arial" pitchFamily="34" charset="0"/>
            </a:endParaRPr>
          </a:p>
          <a:p>
            <a:pPr marL="0" marR="0" lvl="0" indent="457200" algn="just" defTabSz="914400" rtl="0" eaLnBrk="0" fontAlgn="base" latinLnBrk="0" hangingPunct="0">
              <a:lnSpc>
                <a:spcPct val="100000"/>
              </a:lnSpc>
              <a:spcBef>
                <a:spcPct val="0"/>
              </a:spcBef>
              <a:spcAft>
                <a:spcPct val="0"/>
              </a:spcAft>
              <a:buClrTx/>
              <a:buSzTx/>
              <a:buFontTx/>
              <a:buNone/>
              <a:tabLst/>
            </a:pPr>
            <a:endParaRPr lang="en-US" sz="2000" dirty="0">
              <a:latin typeface="Arial" pitchFamily="34" charset="0"/>
              <a:ea typeface="Times New Roman" pitchFamily="18" charset="0"/>
              <a:cs typeface="Arial" pitchFamily="34" charset="0"/>
            </a:endParaRPr>
          </a:p>
        </p:txBody>
      </p:sp>
      <p:pic>
        <p:nvPicPr>
          <p:cNvPr id="3" name="Picture 3" descr="F:\ECONTENT CHEMISTRY\layers-of-the-earth-1200x766.jpg"/>
          <p:cNvPicPr>
            <a:picLocks noChangeAspect="1" noChangeArrowheads="1"/>
          </p:cNvPicPr>
          <p:nvPr/>
        </p:nvPicPr>
        <p:blipFill>
          <a:blip r:embed="rId2"/>
          <a:srcRect l="7565"/>
          <a:stretch>
            <a:fillRect/>
          </a:stretch>
        </p:blipFill>
        <p:spPr bwMode="auto">
          <a:xfrm>
            <a:off x="6934199" y="1905000"/>
            <a:ext cx="2209801" cy="1327109"/>
          </a:xfrm>
          <a:prstGeom prst="rect">
            <a:avLst/>
          </a:prstGeom>
          <a:noFill/>
        </p:spPr>
      </p:pic>
      <p:pic>
        <p:nvPicPr>
          <p:cNvPr id="4" name="Picture 4" descr="F:\ECONTENT CHEMISTRY\human-body-infographics-465321784-57ab54755f9b58974a07fa9f.jpg"/>
          <p:cNvPicPr>
            <a:picLocks noChangeAspect="1" noChangeArrowheads="1"/>
          </p:cNvPicPr>
          <p:nvPr/>
        </p:nvPicPr>
        <p:blipFill>
          <a:blip r:embed="rId3" cstate="print"/>
          <a:srcRect/>
          <a:stretch>
            <a:fillRect/>
          </a:stretch>
        </p:blipFill>
        <p:spPr bwMode="auto">
          <a:xfrm>
            <a:off x="7162800" y="3276600"/>
            <a:ext cx="1828800" cy="1600200"/>
          </a:xfrm>
          <a:prstGeom prst="rect">
            <a:avLst/>
          </a:prstGeom>
          <a:noFill/>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9600"/>
          </a:xfrm>
        </p:spPr>
        <p:txBody>
          <a:bodyPr>
            <a:normAutofit fontScale="90000"/>
          </a:bodyPr>
          <a:lstStyle/>
          <a:p>
            <a:r>
              <a:rPr lang="en-US" dirty="0">
                <a:solidFill>
                  <a:srgbClr val="FF0000"/>
                </a:solidFill>
              </a:rPr>
              <a:t>Importance of carbon compounds</a:t>
            </a:r>
            <a:endParaRPr lang="en-IN" dirty="0">
              <a:solidFill>
                <a:srgbClr val="FF0000"/>
              </a:solidFill>
            </a:endParaRPr>
          </a:p>
        </p:txBody>
      </p:sp>
      <p:sp>
        <p:nvSpPr>
          <p:cNvPr id="3" name="Content Placeholder 2"/>
          <p:cNvSpPr>
            <a:spLocks noGrp="1"/>
          </p:cNvSpPr>
          <p:nvPr>
            <p:ph idx="1"/>
          </p:nvPr>
        </p:nvSpPr>
        <p:spPr>
          <a:xfrm>
            <a:off x="0" y="228600"/>
            <a:ext cx="9144000" cy="6629400"/>
          </a:xfrm>
        </p:spPr>
        <p:txBody>
          <a:bodyPr>
            <a:noAutofit/>
          </a:bodyPr>
          <a:lstStyle/>
          <a:p>
            <a:pPr>
              <a:lnSpc>
                <a:spcPct val="200000"/>
              </a:lnSpc>
              <a:buFont typeface="Wingdings"/>
              <a:buChar char="m"/>
            </a:pPr>
            <a:r>
              <a:rPr lang="en-IN" sz="2000" b="1" u="sng" dirty="0">
                <a:solidFill>
                  <a:srgbClr val="005828"/>
                </a:solidFill>
                <a:latin typeface="Arial" pitchFamily="34" charset="0"/>
                <a:cs typeface="Arial" pitchFamily="34" charset="0"/>
              </a:rPr>
              <a:t>Foods</a:t>
            </a:r>
            <a:r>
              <a:rPr lang="en-IN" sz="2000" dirty="0">
                <a:latin typeface="Arial" pitchFamily="34" charset="0"/>
                <a:cs typeface="Arial" pitchFamily="34" charset="0"/>
              </a:rPr>
              <a:t> -  starch, sugar, fats, vitamins, proteins </a:t>
            </a:r>
          </a:p>
          <a:p>
            <a:pPr>
              <a:lnSpc>
                <a:spcPct val="200000"/>
              </a:lnSpc>
              <a:buFont typeface="Wingdings"/>
              <a:buChar char="m"/>
            </a:pPr>
            <a:r>
              <a:rPr lang="en-US" sz="2000" dirty="0">
                <a:latin typeface="Arial" pitchFamily="34" charset="0"/>
                <a:ea typeface="Times New Roman" pitchFamily="18" charset="0"/>
                <a:cs typeface="Arial" pitchFamily="34" charset="0"/>
                <a:sym typeface="Wingdings"/>
              </a:rPr>
              <a:t> </a:t>
            </a:r>
            <a:r>
              <a:rPr lang="en-IN" sz="2000" b="1" u="sng" dirty="0">
                <a:solidFill>
                  <a:srgbClr val="005828"/>
                </a:solidFill>
                <a:latin typeface="Arial" pitchFamily="34" charset="0"/>
                <a:cs typeface="Arial" pitchFamily="34" charset="0"/>
              </a:rPr>
              <a:t>Fuels</a:t>
            </a:r>
            <a:r>
              <a:rPr lang="en-IN" sz="2000" dirty="0">
                <a:latin typeface="Arial" pitchFamily="34" charset="0"/>
                <a:cs typeface="Arial" pitchFamily="34" charset="0"/>
              </a:rPr>
              <a:t> -</a:t>
            </a:r>
            <a:r>
              <a:rPr lang="en-IN" sz="2000" b="1" dirty="0">
                <a:solidFill>
                  <a:srgbClr val="456B56"/>
                </a:solidFill>
                <a:latin typeface="Arial" pitchFamily="34" charset="0"/>
                <a:cs typeface="Arial" pitchFamily="34" charset="0"/>
                <a:sym typeface="Wingdings"/>
              </a:rPr>
              <a:t>  </a:t>
            </a:r>
            <a:r>
              <a:rPr lang="en-IN" sz="2000" dirty="0">
                <a:latin typeface="Arial" pitchFamily="34" charset="0"/>
                <a:cs typeface="Arial" pitchFamily="34" charset="0"/>
              </a:rPr>
              <a:t>wood, coal, alcohol, petrol</a:t>
            </a:r>
          </a:p>
          <a:p>
            <a:pPr>
              <a:lnSpc>
                <a:spcPct val="200000"/>
              </a:lnSpc>
              <a:buFont typeface="Wingdings"/>
              <a:buChar char="m"/>
            </a:pPr>
            <a:r>
              <a:rPr lang="en-IN" sz="2000" b="1" u="sng" dirty="0">
                <a:solidFill>
                  <a:srgbClr val="005828"/>
                </a:solidFill>
                <a:latin typeface="Arial" pitchFamily="34" charset="0"/>
                <a:cs typeface="Arial" pitchFamily="34" charset="0"/>
              </a:rPr>
              <a:t>Poisons</a:t>
            </a:r>
            <a:r>
              <a:rPr lang="en-IN" sz="2000" b="1" dirty="0">
                <a:solidFill>
                  <a:srgbClr val="005828"/>
                </a:solidFill>
                <a:latin typeface="Arial" pitchFamily="34" charset="0"/>
                <a:cs typeface="Arial" pitchFamily="34" charset="0"/>
              </a:rPr>
              <a:t> </a:t>
            </a:r>
            <a:r>
              <a:rPr lang="en-IN" sz="2000" dirty="0">
                <a:latin typeface="Arial" pitchFamily="34" charset="0"/>
                <a:cs typeface="Arial" pitchFamily="34" charset="0"/>
              </a:rPr>
              <a:t>- opium, strychnine</a:t>
            </a:r>
          </a:p>
          <a:p>
            <a:pPr>
              <a:lnSpc>
                <a:spcPct val="200000"/>
              </a:lnSpc>
              <a:buFont typeface="Wingdings"/>
              <a:buChar char="m"/>
            </a:pPr>
            <a:r>
              <a:rPr lang="en-IN" sz="2000" b="1" u="sng" dirty="0">
                <a:solidFill>
                  <a:srgbClr val="005828"/>
                </a:solidFill>
                <a:latin typeface="Arial" pitchFamily="34" charset="0"/>
                <a:cs typeface="Arial" pitchFamily="34" charset="0"/>
              </a:rPr>
              <a:t>Drugs and disinfectants</a:t>
            </a:r>
            <a:r>
              <a:rPr lang="en-IN" sz="2000" dirty="0">
                <a:latin typeface="Arial" pitchFamily="34" charset="0"/>
                <a:cs typeface="Arial" pitchFamily="34" charset="0"/>
              </a:rPr>
              <a:t>  -	penicillin, quinine, aspirin, sulpha drugs</a:t>
            </a:r>
          </a:p>
          <a:p>
            <a:pPr>
              <a:lnSpc>
                <a:spcPct val="200000"/>
              </a:lnSpc>
              <a:buFont typeface="Wingdings"/>
              <a:buChar char="m"/>
            </a:pPr>
            <a:r>
              <a:rPr lang="en-IN" sz="2000" b="1" u="sng" dirty="0">
                <a:solidFill>
                  <a:srgbClr val="005828"/>
                </a:solidFill>
                <a:latin typeface="Arial" pitchFamily="34" charset="0"/>
                <a:cs typeface="Arial" pitchFamily="34" charset="0"/>
              </a:rPr>
              <a:t>Household and commercial articles</a:t>
            </a:r>
            <a:r>
              <a:rPr lang="en-IN" sz="2000" dirty="0">
                <a:latin typeface="Arial" pitchFamily="34" charset="0"/>
                <a:cs typeface="Arial" pitchFamily="34" charset="0"/>
              </a:rPr>
              <a:t>  -paper, soap, cosmetics, oils, paints</a:t>
            </a:r>
          </a:p>
          <a:p>
            <a:pPr>
              <a:lnSpc>
                <a:spcPct val="200000"/>
              </a:lnSpc>
              <a:buFont typeface="Wingdings"/>
              <a:buChar char="m"/>
            </a:pPr>
            <a:r>
              <a:rPr lang="en-IN" sz="2000" b="1" u="sng" dirty="0">
                <a:solidFill>
                  <a:srgbClr val="005828"/>
                </a:solidFill>
                <a:latin typeface="Arial" pitchFamily="34" charset="0"/>
                <a:cs typeface="Arial" pitchFamily="34" charset="0"/>
              </a:rPr>
              <a:t>Textile fabrics</a:t>
            </a:r>
            <a:r>
              <a:rPr lang="en-IN" sz="2000" dirty="0">
                <a:latin typeface="Arial" pitchFamily="34" charset="0"/>
                <a:cs typeface="Arial" pitchFamily="34" charset="0"/>
              </a:rPr>
              <a:t>  - cotton, wool, silk, linen, rayon, nylon</a:t>
            </a:r>
          </a:p>
          <a:p>
            <a:pPr>
              <a:lnSpc>
                <a:spcPct val="200000"/>
              </a:lnSpc>
              <a:buFont typeface="Wingdings"/>
              <a:buChar char="m"/>
            </a:pPr>
            <a:r>
              <a:rPr lang="en-IN" sz="2000" b="1" u="sng" dirty="0">
                <a:solidFill>
                  <a:srgbClr val="005828"/>
                </a:solidFill>
                <a:latin typeface="Arial" pitchFamily="34" charset="0"/>
                <a:cs typeface="Arial" pitchFamily="34" charset="0"/>
              </a:rPr>
              <a:t>Perfumes</a:t>
            </a:r>
            <a:r>
              <a:rPr lang="en-IN" sz="2000" dirty="0">
                <a:latin typeface="Arial" pitchFamily="34" charset="0"/>
                <a:cs typeface="Arial" pitchFamily="34" charset="0"/>
              </a:rPr>
              <a:t> - vanillin, camphor</a:t>
            </a:r>
          </a:p>
          <a:p>
            <a:pPr>
              <a:lnSpc>
                <a:spcPct val="200000"/>
              </a:lnSpc>
              <a:buFont typeface="Wingdings"/>
              <a:buChar char="m"/>
            </a:pPr>
            <a:r>
              <a:rPr lang="en-IN" sz="2000" b="1" u="sng" dirty="0">
                <a:solidFill>
                  <a:srgbClr val="005828"/>
                </a:solidFill>
                <a:latin typeface="Arial" pitchFamily="34" charset="0"/>
                <a:cs typeface="Arial" pitchFamily="34" charset="0"/>
              </a:rPr>
              <a:t>Dyes</a:t>
            </a:r>
            <a:r>
              <a:rPr lang="en-IN" sz="2000" dirty="0">
                <a:latin typeface="Arial" pitchFamily="34" charset="0"/>
                <a:cs typeface="Arial" pitchFamily="34" charset="0"/>
              </a:rPr>
              <a:t> - indigo, </a:t>
            </a:r>
            <a:r>
              <a:rPr lang="en-IN" sz="2000" dirty="0" err="1">
                <a:latin typeface="Arial" pitchFamily="34" charset="0"/>
                <a:cs typeface="Arial" pitchFamily="34" charset="0"/>
              </a:rPr>
              <a:t>congo</a:t>
            </a:r>
            <a:r>
              <a:rPr lang="en-IN" sz="2000" dirty="0">
                <a:latin typeface="Arial" pitchFamily="34" charset="0"/>
                <a:cs typeface="Arial" pitchFamily="34" charset="0"/>
              </a:rPr>
              <a:t> red, malachite green</a:t>
            </a:r>
          </a:p>
          <a:p>
            <a:pPr>
              <a:lnSpc>
                <a:spcPct val="200000"/>
              </a:lnSpc>
              <a:buFont typeface="Wingdings" panose="05000000000000000000" pitchFamily="2" charset="2"/>
              <a:buChar char="m"/>
            </a:pPr>
            <a:r>
              <a:rPr lang="en-IN" sz="2000" b="1" u="sng" dirty="0">
                <a:solidFill>
                  <a:srgbClr val="005828"/>
                </a:solidFill>
                <a:latin typeface="Arial" pitchFamily="34" charset="0"/>
                <a:cs typeface="Arial" pitchFamily="34" charset="0"/>
              </a:rPr>
              <a:t>War gases</a:t>
            </a:r>
            <a:r>
              <a:rPr lang="en-IN" sz="2000" dirty="0">
                <a:latin typeface="Arial" pitchFamily="34" charset="0"/>
                <a:cs typeface="Arial" pitchFamily="34" charset="0"/>
              </a:rPr>
              <a:t> - mustard gas, chloropicrin, lewisite</a:t>
            </a:r>
          </a:p>
          <a:p>
            <a:pPr>
              <a:lnSpc>
                <a:spcPct val="200000"/>
              </a:lnSpc>
              <a:buFont typeface="Wingdings" panose="05000000000000000000" pitchFamily="2" charset="2"/>
              <a:buChar char="m"/>
            </a:pPr>
            <a:r>
              <a:rPr lang="en-IN" sz="2000" b="1" u="sng" dirty="0">
                <a:solidFill>
                  <a:srgbClr val="005828"/>
                </a:solidFill>
                <a:latin typeface="Arial" pitchFamily="34" charset="0"/>
                <a:cs typeface="Arial" pitchFamily="34" charset="0"/>
              </a:rPr>
              <a:t>Explosives</a:t>
            </a:r>
            <a:r>
              <a:rPr lang="en-IN" sz="2000" dirty="0">
                <a:latin typeface="Arial" pitchFamily="34" charset="0"/>
                <a:cs typeface="Arial" pitchFamily="34" charset="0"/>
              </a:rPr>
              <a:t> - </a:t>
            </a:r>
            <a:r>
              <a:rPr lang="en-IN" sz="2000" dirty="0" err="1">
                <a:latin typeface="Arial" pitchFamily="34" charset="0"/>
                <a:cs typeface="Arial" pitchFamily="34" charset="0"/>
              </a:rPr>
              <a:t>nitroglycerine</a:t>
            </a:r>
            <a:r>
              <a:rPr lang="en-IN" sz="2000" dirty="0">
                <a:latin typeface="Arial" pitchFamily="34" charset="0"/>
                <a:cs typeface="Arial" pitchFamily="34" charset="0"/>
              </a:rPr>
              <a:t>, dynamite, picric acid, TNT</a:t>
            </a:r>
          </a:p>
          <a:p>
            <a:pPr>
              <a:buNone/>
            </a:pPr>
            <a:endParaRPr lang="en-IN" sz="2400" dirty="0">
              <a:latin typeface="Arial" pitchFamily="34" charset="0"/>
              <a:cs typeface="Arial" pitchFamily="34" charset="0"/>
            </a:endParaRPr>
          </a:p>
          <a:p>
            <a:endParaRPr lang="en-IN" sz="2400" dirty="0">
              <a:latin typeface="Arial" pitchFamily="34" charset="0"/>
              <a:cs typeface="Arial" pitchFamily="34" charset="0"/>
            </a:endParaRPr>
          </a:p>
          <a:p>
            <a:endParaRPr lang="en-IN" sz="2400" dirty="0">
              <a:latin typeface="Arial" pitchFamily="34" charset="0"/>
              <a:cs typeface="Arial" pitchFamily="34" charset="0"/>
            </a:endParaRPr>
          </a:p>
        </p:txBody>
      </p:sp>
      <p:pic>
        <p:nvPicPr>
          <p:cNvPr id="5" name="Picture 21" descr="F:\ECONTENT CHEMISTRY\IMAGES\images (5).jpeg"/>
          <p:cNvPicPr>
            <a:picLocks noChangeAspect="1" noChangeArrowheads="1"/>
          </p:cNvPicPr>
          <p:nvPr/>
        </p:nvPicPr>
        <p:blipFill>
          <a:blip r:embed="rId2"/>
          <a:srcRect b="8571"/>
          <a:stretch>
            <a:fillRect/>
          </a:stretch>
        </p:blipFill>
        <p:spPr bwMode="auto">
          <a:xfrm>
            <a:off x="7615702" y="477970"/>
            <a:ext cx="1600616" cy="1050661"/>
          </a:xfrm>
          <a:prstGeom prst="rect">
            <a:avLst/>
          </a:prstGeom>
          <a:noFill/>
        </p:spPr>
      </p:pic>
      <p:pic>
        <p:nvPicPr>
          <p:cNvPr id="6" name="Picture 25" descr="F:\ECONTENT CHEMISTRY\IMAGES\images (6).jpeg"/>
          <p:cNvPicPr>
            <a:picLocks noChangeAspect="1" noChangeArrowheads="1"/>
          </p:cNvPicPr>
          <p:nvPr/>
        </p:nvPicPr>
        <p:blipFill rotWithShape="1">
          <a:blip r:embed="rId3"/>
          <a:srcRect l="4255" t="34286" r="4255"/>
          <a:stretch/>
        </p:blipFill>
        <p:spPr bwMode="auto">
          <a:xfrm>
            <a:off x="4491936" y="816063"/>
            <a:ext cx="3008411" cy="1622337"/>
          </a:xfrm>
          <a:prstGeom prst="rect">
            <a:avLst/>
          </a:prstGeom>
          <a:noFill/>
        </p:spPr>
      </p:pic>
      <p:pic>
        <p:nvPicPr>
          <p:cNvPr id="7" name="Picture 22" descr="F:\ECONTENT CHEMISTRY\IMAGES\images (7).jpeg"/>
          <p:cNvPicPr>
            <a:picLocks noChangeAspect="1" noChangeArrowheads="1"/>
          </p:cNvPicPr>
          <p:nvPr/>
        </p:nvPicPr>
        <p:blipFill>
          <a:blip r:embed="rId4"/>
          <a:srcRect l="11885" r="6394"/>
          <a:stretch>
            <a:fillRect/>
          </a:stretch>
        </p:blipFill>
        <p:spPr bwMode="auto">
          <a:xfrm>
            <a:off x="6917636" y="4267200"/>
            <a:ext cx="2226364" cy="1600200"/>
          </a:xfrm>
          <a:prstGeom prst="rect">
            <a:avLst/>
          </a:prstGeom>
          <a:noFill/>
        </p:spPr>
      </p:pic>
      <p:pic>
        <p:nvPicPr>
          <p:cNvPr id="8" name="Picture 27" descr="F:\ECONTENT CHEMISTRY\IMAGES\images (11).jpeg"/>
          <p:cNvPicPr>
            <a:picLocks noChangeAspect="1" noChangeArrowheads="1"/>
          </p:cNvPicPr>
          <p:nvPr/>
        </p:nvPicPr>
        <p:blipFill>
          <a:blip r:embed="rId5"/>
          <a:srcRect l="15957" r="49362" b="7987"/>
          <a:stretch>
            <a:fillRect/>
          </a:stretch>
        </p:blipFill>
        <p:spPr bwMode="auto">
          <a:xfrm>
            <a:off x="6043612" y="4301560"/>
            <a:ext cx="866775" cy="153148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126163"/>
          </a:xfrm>
        </p:spPr>
        <p:txBody>
          <a:bodyPr>
            <a:normAutofit lnSpcReduction="10000"/>
          </a:bodyPr>
          <a:lstStyle/>
          <a:p>
            <a:pPr algn="ctr">
              <a:buNone/>
            </a:pPr>
            <a:r>
              <a:rPr lang="en-US" sz="3600" b="1" dirty="0">
                <a:solidFill>
                  <a:srgbClr val="FF0000"/>
                </a:solidFill>
              </a:rPr>
              <a:t>Organic Chemistry</a:t>
            </a:r>
            <a:endParaRPr lang="en-US" b="1" dirty="0">
              <a:solidFill>
                <a:srgbClr val="FF0000"/>
              </a:solidFill>
              <a:latin typeface="Arial" pitchFamily="34" charset="0"/>
              <a:cs typeface="Arial" pitchFamily="34" charset="0"/>
            </a:endParaRPr>
          </a:p>
          <a:p>
            <a:pPr algn="just">
              <a:buNone/>
            </a:pPr>
            <a:endParaRPr lang="en-US" sz="2400" dirty="0">
              <a:latin typeface="Arial" pitchFamily="34" charset="0"/>
              <a:cs typeface="Arial" pitchFamily="34" charset="0"/>
            </a:endParaRPr>
          </a:p>
          <a:p>
            <a:pPr algn="just">
              <a:buNone/>
            </a:pPr>
            <a:r>
              <a:rPr lang="en-US" sz="2400" b="1" dirty="0">
                <a:solidFill>
                  <a:srgbClr val="005828"/>
                </a:solidFill>
                <a:latin typeface="Arial" pitchFamily="34" charset="0"/>
                <a:ea typeface="Times New Roman" pitchFamily="18" charset="0"/>
                <a:cs typeface="Arial" pitchFamily="34" charset="0"/>
                <a:sym typeface="Wingdings"/>
              </a:rPr>
              <a:t>  </a:t>
            </a:r>
            <a:r>
              <a:rPr lang="en-US" sz="2400" b="1" dirty="0">
                <a:solidFill>
                  <a:srgbClr val="005828"/>
                </a:solidFill>
                <a:latin typeface="Arial" pitchFamily="34" charset="0"/>
                <a:cs typeface="Arial" pitchFamily="34" charset="0"/>
              </a:rPr>
              <a:t>Study of Carbon Compounds</a:t>
            </a:r>
          </a:p>
          <a:p>
            <a:pPr algn="just">
              <a:buFont typeface="Wingdings"/>
              <a:buChar char="m"/>
            </a:pPr>
            <a:r>
              <a:rPr lang="en-US" sz="2400" b="1" dirty="0">
                <a:solidFill>
                  <a:srgbClr val="005828"/>
                </a:solidFill>
                <a:latin typeface="Arial" pitchFamily="34" charset="0"/>
                <a:cs typeface="Arial" pitchFamily="34" charset="0"/>
              </a:rPr>
              <a:t>The word organic means ‘Living origin’</a:t>
            </a:r>
          </a:p>
          <a:p>
            <a:pPr algn="just">
              <a:buNone/>
            </a:pPr>
            <a:endParaRPr lang="en-US" sz="2400" b="1" dirty="0">
              <a:solidFill>
                <a:srgbClr val="005828"/>
              </a:solidFill>
              <a:latin typeface="Arial" pitchFamily="34" charset="0"/>
              <a:cs typeface="Arial" pitchFamily="34" charset="0"/>
            </a:endParaRPr>
          </a:p>
          <a:p>
            <a:pPr algn="just">
              <a:buNone/>
            </a:pPr>
            <a:r>
              <a:rPr lang="en-US" sz="2400" dirty="0">
                <a:latin typeface="Arial" pitchFamily="34" charset="0"/>
                <a:cs typeface="Arial" pitchFamily="34" charset="0"/>
              </a:rPr>
              <a:t>	It was believed that carbon compounds can be prepared by living things only.</a:t>
            </a:r>
          </a:p>
          <a:p>
            <a:pPr algn="just">
              <a:buNone/>
            </a:pPr>
            <a:endParaRPr lang="en-US" sz="2400" dirty="0">
              <a:latin typeface="Arial" pitchFamily="34" charset="0"/>
              <a:cs typeface="Arial" pitchFamily="34" charset="0"/>
            </a:endParaRPr>
          </a:p>
          <a:p>
            <a:pPr algn="just">
              <a:buNone/>
            </a:pPr>
            <a:r>
              <a:rPr lang="en-US" sz="2400" dirty="0">
                <a:latin typeface="Arial" pitchFamily="34" charset="0"/>
                <a:cs typeface="Arial" pitchFamily="34" charset="0"/>
              </a:rPr>
              <a:t>	This theory is known as Vital Force Theory</a:t>
            </a:r>
          </a:p>
          <a:p>
            <a:pPr algn="just">
              <a:buNone/>
            </a:pPr>
            <a:endParaRPr lang="en-US" sz="2400" dirty="0">
              <a:latin typeface="Arial" pitchFamily="34" charset="0"/>
              <a:cs typeface="Arial" pitchFamily="34" charset="0"/>
            </a:endParaRPr>
          </a:p>
          <a:p>
            <a:pPr algn="just">
              <a:buNone/>
            </a:pPr>
            <a:r>
              <a:rPr lang="en-US" sz="2400" dirty="0">
                <a:latin typeface="Arial" pitchFamily="34" charset="0"/>
                <a:cs typeface="Arial" pitchFamily="34" charset="0"/>
              </a:rPr>
              <a:t>	In 1828 Friedrich Wohler blown up this theory by preparing Urea(purely organic) by heating Ammonium Cyanate NH</a:t>
            </a:r>
            <a:r>
              <a:rPr lang="en-US" sz="2400" baseline="-25000" dirty="0">
                <a:latin typeface="Arial" pitchFamily="34" charset="0"/>
                <a:cs typeface="Arial" pitchFamily="34" charset="0"/>
              </a:rPr>
              <a:t>4</a:t>
            </a:r>
            <a:r>
              <a:rPr lang="en-US" sz="2400" dirty="0">
                <a:latin typeface="Arial" pitchFamily="34" charset="0"/>
                <a:cs typeface="Arial" pitchFamily="34" charset="0"/>
              </a:rPr>
              <a:t>CNO (purely inorganic)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3600" b="1" dirty="0">
                <a:solidFill>
                  <a:srgbClr val="FF0000"/>
                </a:solidFill>
                <a:latin typeface="Arial" pitchFamily="34" charset="0"/>
                <a:cs typeface="Arial" pitchFamily="34" charset="0"/>
              </a:rPr>
              <a:t>Why study of Carbon Compounds is a separate branch of Chemistry?</a:t>
            </a:r>
            <a:endParaRPr lang="en-IN" sz="3600" b="1" dirty="0">
              <a:solidFill>
                <a:srgbClr val="FF0000"/>
              </a:solidFill>
              <a:latin typeface="Arial" pitchFamily="34" charset="0"/>
              <a:cs typeface="Arial" pitchFamily="34" charset="0"/>
            </a:endParaRPr>
          </a:p>
        </p:txBody>
      </p:sp>
      <p:sp>
        <p:nvSpPr>
          <p:cNvPr id="5" name="Content Placeholder 4"/>
          <p:cNvSpPr>
            <a:spLocks noGrp="1"/>
          </p:cNvSpPr>
          <p:nvPr>
            <p:ph idx="1"/>
          </p:nvPr>
        </p:nvSpPr>
        <p:spPr>
          <a:xfrm>
            <a:off x="0" y="1600200"/>
            <a:ext cx="9144000" cy="4525963"/>
          </a:xfrm>
        </p:spPr>
        <p:txBody>
          <a:bodyPr>
            <a:normAutofit/>
          </a:bodyPr>
          <a:lstStyle/>
          <a:p>
            <a:pPr algn="just">
              <a:buFont typeface="Wingdings"/>
              <a:buChar char="m"/>
            </a:pPr>
            <a:r>
              <a:rPr lang="en-US" b="1" dirty="0">
                <a:solidFill>
                  <a:srgbClr val="005828"/>
                </a:solidFill>
                <a:latin typeface="Arial" pitchFamily="34" charset="0"/>
                <a:cs typeface="Arial" pitchFamily="34" charset="0"/>
              </a:rPr>
              <a:t>It is due to the vastness in the number of Carbon Compounds</a:t>
            </a:r>
          </a:p>
          <a:p>
            <a:pPr algn="just">
              <a:buNone/>
            </a:pPr>
            <a:endParaRPr lang="en-US" sz="1800" b="1" dirty="0">
              <a:solidFill>
                <a:srgbClr val="005828"/>
              </a:solidFill>
              <a:latin typeface="Arial" pitchFamily="34" charset="0"/>
              <a:cs typeface="Arial" pitchFamily="34" charset="0"/>
            </a:endParaRPr>
          </a:p>
          <a:p>
            <a:pPr marL="0" lvl="1" indent="0" algn="just">
              <a:buNone/>
            </a:pPr>
            <a:r>
              <a:rPr lang="en-US" dirty="0">
                <a:latin typeface="Arial" pitchFamily="34" charset="0"/>
                <a:cs typeface="Arial" pitchFamily="34" charset="0"/>
              </a:rPr>
              <a:t>Carbon with other  elements such as H,N,O,F </a:t>
            </a:r>
            <a:r>
              <a:rPr lang="en-US" dirty="0" err="1">
                <a:latin typeface="Arial" pitchFamily="34" charset="0"/>
                <a:cs typeface="Arial" pitchFamily="34" charset="0"/>
              </a:rPr>
              <a:t>Cl,Br,I,S</a:t>
            </a:r>
            <a:r>
              <a:rPr lang="en-US" dirty="0">
                <a:latin typeface="Arial" pitchFamily="34" charset="0"/>
                <a:cs typeface="Arial" pitchFamily="34" charset="0"/>
              </a:rPr>
              <a:t>… forms more than 5 million compounds</a:t>
            </a:r>
          </a:p>
          <a:p>
            <a:pPr marL="0" lvl="1" indent="0" algn="just">
              <a:buNone/>
            </a:pPr>
            <a:endParaRPr lang="en-US" dirty="0">
              <a:latin typeface="Arial" pitchFamily="34" charset="0"/>
              <a:cs typeface="Arial" pitchFamily="34" charset="0"/>
            </a:endParaRPr>
          </a:p>
          <a:p>
            <a:pPr marL="0" lvl="1" indent="0" algn="just">
              <a:buNone/>
            </a:pPr>
            <a:r>
              <a:rPr lang="en-US" dirty="0">
                <a:latin typeface="Arial" pitchFamily="34" charset="0"/>
                <a:cs typeface="Arial" pitchFamily="34" charset="0"/>
              </a:rPr>
              <a:t>The other elements altogether forms about 70,000 compounds only </a:t>
            </a:r>
            <a:endParaRPr lang="en-IN" dirty="0">
              <a:latin typeface="Arial" pitchFamily="34" charset="0"/>
              <a:cs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Autofit/>
          </a:bodyPr>
          <a:lstStyle/>
          <a:p>
            <a:r>
              <a:rPr lang="en-US" sz="3000" b="1" dirty="0">
                <a:solidFill>
                  <a:srgbClr val="FF0000"/>
                </a:solidFill>
                <a:latin typeface="Arial" pitchFamily="34" charset="0"/>
                <a:cs typeface="Arial" pitchFamily="34" charset="0"/>
              </a:rPr>
              <a:t>Reason for the </a:t>
            </a:r>
            <a:r>
              <a:rPr lang="en-US" sz="3000" b="1" dirty="0" err="1">
                <a:solidFill>
                  <a:srgbClr val="FF0000"/>
                </a:solidFill>
                <a:latin typeface="Arial" pitchFamily="34" charset="0"/>
                <a:cs typeface="Arial" pitchFamily="34" charset="0"/>
              </a:rPr>
              <a:t>wastness</a:t>
            </a:r>
            <a:r>
              <a:rPr lang="en-US" sz="3000" b="1" dirty="0">
                <a:solidFill>
                  <a:srgbClr val="FF0000"/>
                </a:solidFill>
                <a:latin typeface="Arial" pitchFamily="34" charset="0"/>
                <a:cs typeface="Arial" pitchFamily="34" charset="0"/>
              </a:rPr>
              <a:t> in number of carbon compounds</a:t>
            </a:r>
            <a:endParaRPr lang="en-IN" sz="3000" b="1" dirty="0">
              <a:solidFill>
                <a:srgbClr val="FF0000"/>
              </a:solidFill>
              <a:latin typeface="Arial" pitchFamily="34" charset="0"/>
              <a:cs typeface="Arial" pitchFamily="34" charset="0"/>
            </a:endParaRPr>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sz="4400" b="1" dirty="0">
                <a:solidFill>
                  <a:srgbClr val="456B56"/>
                </a:solidFill>
              </a:rPr>
              <a:t>Bonding in carbon compounds</a:t>
            </a:r>
          </a:p>
          <a:p>
            <a:pPr marL="514350" indent="-514350">
              <a:buFont typeface="+mj-lt"/>
              <a:buAutoNum type="arabicPeriod"/>
            </a:pPr>
            <a:endParaRPr lang="en-US" sz="4400" b="1" dirty="0">
              <a:solidFill>
                <a:srgbClr val="456B56"/>
              </a:solidFill>
            </a:endParaRPr>
          </a:p>
          <a:p>
            <a:pPr marL="514350" indent="-514350">
              <a:buFont typeface="+mj-lt"/>
              <a:buAutoNum type="arabicPeriod"/>
            </a:pPr>
            <a:r>
              <a:rPr lang="en-US" sz="4400" b="1" dirty="0">
                <a:solidFill>
                  <a:srgbClr val="456B56"/>
                </a:solidFill>
              </a:rPr>
              <a:t>Catenation</a:t>
            </a:r>
          </a:p>
          <a:p>
            <a:pPr marL="514350" indent="-514350">
              <a:buNone/>
            </a:pPr>
            <a:endParaRPr lang="en-US" sz="4400" b="1" dirty="0">
              <a:solidFill>
                <a:srgbClr val="456B56"/>
              </a:solidFill>
            </a:endParaRPr>
          </a:p>
          <a:p>
            <a:pPr marL="514350" indent="-514350">
              <a:buNone/>
            </a:pPr>
            <a:r>
              <a:rPr lang="en-US" sz="4400" b="1" dirty="0">
                <a:solidFill>
                  <a:srgbClr val="456B56"/>
                </a:solidFill>
              </a:rPr>
              <a:t>3. Isomerism</a:t>
            </a:r>
            <a:endParaRPr lang="en-IN" sz="4400" b="1" dirty="0">
              <a:solidFill>
                <a:srgbClr val="456B5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17638"/>
          </a:xfrm>
        </p:spPr>
        <p:txBody>
          <a:bodyPr>
            <a:normAutofit/>
          </a:bodyPr>
          <a:lstStyle/>
          <a:p>
            <a:r>
              <a:rPr lang="en-US" sz="3000" b="1" dirty="0">
                <a:solidFill>
                  <a:srgbClr val="FF0000"/>
                </a:solidFill>
                <a:latin typeface="Arial" pitchFamily="34" charset="0"/>
                <a:cs typeface="Arial" pitchFamily="34" charset="0"/>
              </a:rPr>
              <a:t>Bonding in carbon compounds-Covalent bonding</a:t>
            </a:r>
            <a:endParaRPr lang="en-IN" sz="3000" b="1" dirty="0">
              <a:solidFill>
                <a:srgbClr val="FF0000"/>
              </a:solidFill>
              <a:latin typeface="Arial" pitchFamily="34" charset="0"/>
              <a:cs typeface="Arial" pitchFamily="34" charset="0"/>
            </a:endParaRPr>
          </a:p>
        </p:txBody>
      </p:sp>
      <p:sp>
        <p:nvSpPr>
          <p:cNvPr id="3" name="Content Placeholder 2"/>
          <p:cNvSpPr>
            <a:spLocks noGrp="1"/>
          </p:cNvSpPr>
          <p:nvPr>
            <p:ph idx="1"/>
          </p:nvPr>
        </p:nvSpPr>
        <p:spPr>
          <a:xfrm>
            <a:off x="0" y="1295400"/>
            <a:ext cx="6096000" cy="990600"/>
          </a:xfrm>
        </p:spPr>
        <p:txBody>
          <a:bodyPr>
            <a:noAutofit/>
          </a:bodyPr>
          <a:lstStyle/>
          <a:p>
            <a:pPr algn="just"/>
            <a:r>
              <a:rPr lang="en-US" sz="2400" dirty="0">
                <a:latin typeface="Arial" pitchFamily="34" charset="0"/>
                <a:cs typeface="Arial" pitchFamily="34" charset="0"/>
              </a:rPr>
              <a:t>The atomic number of carbon is 6, Its electronic arrangement is 2,4 or (K</a:t>
            </a:r>
            <a:r>
              <a:rPr lang="en-US" sz="2400" baseline="-25000" dirty="0">
                <a:latin typeface="Arial" pitchFamily="34" charset="0"/>
                <a:cs typeface="Arial" pitchFamily="34" charset="0"/>
              </a:rPr>
              <a:t>2 </a:t>
            </a:r>
            <a:r>
              <a:rPr lang="en-US" sz="2400" dirty="0">
                <a:latin typeface="Arial" pitchFamily="34" charset="0"/>
                <a:cs typeface="Arial" pitchFamily="34" charset="0"/>
              </a:rPr>
              <a:t>L</a:t>
            </a:r>
            <a:r>
              <a:rPr lang="en-US" sz="2400" baseline="-25000" dirty="0">
                <a:latin typeface="Arial" pitchFamily="34" charset="0"/>
                <a:cs typeface="Arial" pitchFamily="34" charset="0"/>
              </a:rPr>
              <a:t>4</a:t>
            </a:r>
            <a:r>
              <a:rPr lang="en-US" sz="2400" dirty="0">
                <a:latin typeface="Arial" pitchFamily="34" charset="0"/>
                <a:cs typeface="Arial" pitchFamily="34" charset="0"/>
              </a:rPr>
              <a:t>). </a:t>
            </a:r>
          </a:p>
        </p:txBody>
      </p:sp>
      <p:grpSp>
        <p:nvGrpSpPr>
          <p:cNvPr id="14" name="Group 13"/>
          <p:cNvGrpSpPr/>
          <p:nvPr/>
        </p:nvGrpSpPr>
        <p:grpSpPr>
          <a:xfrm>
            <a:off x="5954397" y="762000"/>
            <a:ext cx="2358331" cy="2362200"/>
            <a:chOff x="3200400" y="2229678"/>
            <a:chExt cx="2667000" cy="2551044"/>
          </a:xfrm>
        </p:grpSpPr>
        <p:pic>
          <p:nvPicPr>
            <p:cNvPr id="15" name="Picture 2"/>
            <p:cNvPicPr>
              <a:picLocks noChangeAspect="1" noChangeArrowheads="1"/>
            </p:cNvPicPr>
            <p:nvPr/>
          </p:nvPicPr>
          <p:blipFill>
            <a:blip r:embed="rId2" cstate="print"/>
            <a:srcRect/>
            <a:stretch>
              <a:fillRect/>
            </a:stretch>
          </p:blipFill>
          <p:spPr bwMode="auto">
            <a:xfrm>
              <a:off x="3200400" y="2229678"/>
              <a:ext cx="2667000" cy="2551044"/>
            </a:xfrm>
            <a:prstGeom prst="rect">
              <a:avLst/>
            </a:prstGeom>
            <a:noFill/>
            <a:ln w="9525">
              <a:noFill/>
              <a:miter lim="800000"/>
              <a:headEnd/>
              <a:tailEnd/>
            </a:ln>
          </p:spPr>
        </p:pic>
        <p:sp>
          <p:nvSpPr>
            <p:cNvPr id="16" name="Oval 15"/>
            <p:cNvSpPr/>
            <p:nvPr/>
          </p:nvSpPr>
          <p:spPr>
            <a:xfrm>
              <a:off x="4148136" y="3124200"/>
              <a:ext cx="685800" cy="762000"/>
            </a:xfrm>
            <a:prstGeom prst="ellipse">
              <a:avLst/>
            </a:prstGeom>
            <a:solidFill>
              <a:schemeClr val="accent1">
                <a:alpha val="4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7" name="Content Placeholder 2"/>
          <p:cNvSpPr txBox="1">
            <a:spLocks/>
          </p:cNvSpPr>
          <p:nvPr/>
        </p:nvSpPr>
        <p:spPr>
          <a:xfrm>
            <a:off x="0" y="2743200"/>
            <a:ext cx="9144000" cy="5410200"/>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rPr>
              <a:t>It has 4 valence electrons.</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rPr>
              <a:t>It can attain stability by gaining 4 electrons </a:t>
            </a:r>
            <a:r>
              <a:rPr kumimoji="0" lang="en-US" sz="2400" b="1" i="0" u="none" strike="noStrike" kern="1200" cap="none" spc="0" normalizeH="0" baseline="0" noProof="0" dirty="0">
                <a:ln>
                  <a:noFill/>
                </a:ln>
                <a:solidFill>
                  <a:schemeClr val="tx1"/>
                </a:solidFill>
                <a:effectLst/>
                <a:uLnTx/>
                <a:uFillTx/>
                <a:latin typeface="Arial" pitchFamily="34" charset="0"/>
                <a:ea typeface="+mn-ea"/>
                <a:cs typeface="Arial" pitchFamily="34" charset="0"/>
              </a:rPr>
              <a:t>or</a:t>
            </a:r>
            <a:r>
              <a:rPr kumimoji="0" lang="en-US"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rPr>
              <a:t> loosing 4 electrons or sharing 4 electrons with other atoms.</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0" u="none" strike="noStrike" kern="1200" cap="none" spc="0" normalizeH="0" baseline="0" noProof="0" dirty="0">
                <a:ln>
                  <a:noFill/>
                </a:ln>
                <a:solidFill>
                  <a:srgbClr val="005828"/>
                </a:solidFill>
                <a:effectLst/>
                <a:uLnTx/>
                <a:uFillTx/>
                <a:latin typeface="Arial" pitchFamily="34" charset="0"/>
                <a:ea typeface="+mn-ea"/>
                <a:cs typeface="Arial" pitchFamily="34" charset="0"/>
              </a:rPr>
              <a:t>But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rPr>
              <a:t>It does not gain 4 electrons because it is difficult for the 6 protons to hold 10 electrons.</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rPr>
              <a:t>It does not loose 4 electrons because it need large amount of energy to loose 4 electrons.</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04800"/>
            <a:ext cx="9144000" cy="4724400"/>
          </a:xfrm>
        </p:spPr>
        <p:txBody>
          <a:bodyPr>
            <a:noAutofit/>
          </a:bodyPr>
          <a:lstStyle/>
          <a:p>
            <a:pPr algn="just"/>
            <a:r>
              <a:rPr lang="en-US" sz="2800" b="1" dirty="0">
                <a:solidFill>
                  <a:srgbClr val="005828"/>
                </a:solidFill>
                <a:latin typeface="Arial" pitchFamily="34" charset="0"/>
                <a:cs typeface="Arial" pitchFamily="34" charset="0"/>
              </a:rPr>
              <a:t>Hence</a:t>
            </a:r>
          </a:p>
          <a:p>
            <a:pPr algn="just"/>
            <a:r>
              <a:rPr lang="en-US" sz="2800" dirty="0">
                <a:latin typeface="Arial" pitchFamily="34" charset="0"/>
                <a:cs typeface="Arial" pitchFamily="34" charset="0"/>
              </a:rPr>
              <a:t>It shares 4 electrons with other atoms to attain stability resulting in the formation of covalent bonds.</a:t>
            </a:r>
          </a:p>
          <a:p>
            <a:pPr algn="just"/>
            <a:r>
              <a:rPr lang="en-US" sz="2800" dirty="0">
                <a:latin typeface="Arial" pitchFamily="34" charset="0"/>
                <a:cs typeface="Arial" pitchFamily="34" charset="0"/>
              </a:rPr>
              <a:t>Since carbon atoms needs 4 electrons to attain stability, its valence is  </a:t>
            </a:r>
            <a:r>
              <a:rPr lang="en-US" sz="2800" b="1" dirty="0">
                <a:solidFill>
                  <a:srgbClr val="005828"/>
                </a:solidFill>
                <a:latin typeface="Arial" pitchFamily="34" charset="0"/>
                <a:cs typeface="Arial" pitchFamily="34" charset="0"/>
              </a:rPr>
              <a:t>4 and it is tetravalent.</a:t>
            </a:r>
          </a:p>
          <a:p>
            <a:pPr algn="just">
              <a:buNone/>
            </a:pPr>
            <a:endParaRPr lang="en-US" sz="2800" dirty="0">
              <a:latin typeface="Arial" pitchFamily="34" charset="0"/>
              <a:cs typeface="Arial" pitchFamily="34" charset="0"/>
            </a:endParaRPr>
          </a:p>
          <a:p>
            <a:pPr algn="just"/>
            <a:endParaRPr lang="en-US" sz="2000" dirty="0">
              <a:latin typeface="Arial" pitchFamily="34" charset="0"/>
              <a:cs typeface="Arial" pitchFamily="34" charset="0"/>
            </a:endParaRPr>
          </a:p>
          <a:p>
            <a:pPr algn="just"/>
            <a:endParaRPr lang="en-US" sz="2000" dirty="0">
              <a:latin typeface="Arial" pitchFamily="34" charset="0"/>
              <a:cs typeface="Arial" pitchFamily="34" charset="0"/>
            </a:endParaRPr>
          </a:p>
          <a:p>
            <a:pPr algn="just"/>
            <a:endParaRPr lang="en-US" sz="2000" dirty="0">
              <a:latin typeface="Arial" pitchFamily="34" charset="0"/>
              <a:cs typeface="Arial" pitchFamily="34" charset="0"/>
            </a:endParaRPr>
          </a:p>
        </p:txBody>
      </p:sp>
      <p:pic>
        <p:nvPicPr>
          <p:cNvPr id="12" name="Picture 11"/>
          <p:cNvPicPr/>
          <p:nvPr/>
        </p:nvPicPr>
        <p:blipFill>
          <a:blip r:embed="rId2"/>
          <a:srcRect/>
          <a:stretch>
            <a:fillRect/>
          </a:stretch>
        </p:blipFill>
        <p:spPr bwMode="auto">
          <a:xfrm>
            <a:off x="838200" y="2667000"/>
            <a:ext cx="2514600" cy="2077278"/>
          </a:xfrm>
          <a:prstGeom prst="rect">
            <a:avLst/>
          </a:prstGeom>
          <a:noFill/>
          <a:ln w="9525">
            <a:noFill/>
            <a:miter lim="800000"/>
            <a:headEnd/>
            <a:tailEnd/>
          </a:ln>
          <a:effectLst/>
        </p:spPr>
      </p:pic>
      <p:pic>
        <p:nvPicPr>
          <p:cNvPr id="13" name="Picture 12"/>
          <p:cNvPicPr/>
          <p:nvPr/>
        </p:nvPicPr>
        <p:blipFill>
          <a:blip r:embed="rId3"/>
          <a:srcRect/>
          <a:stretch>
            <a:fillRect/>
          </a:stretch>
        </p:blipFill>
        <p:spPr bwMode="auto">
          <a:xfrm>
            <a:off x="5715000" y="3048000"/>
            <a:ext cx="2405505" cy="1600200"/>
          </a:xfrm>
          <a:prstGeom prst="rect">
            <a:avLst/>
          </a:prstGeom>
          <a:noFill/>
          <a:ln w="9525">
            <a:noFill/>
            <a:miter lim="800000"/>
            <a:headEnd/>
            <a:tailEnd/>
          </a:ln>
        </p:spPr>
      </p:pic>
      <p:pic>
        <p:nvPicPr>
          <p:cNvPr id="14" name="Picture 2"/>
          <p:cNvPicPr>
            <a:picLocks noChangeAspect="1" noChangeArrowheads="1"/>
          </p:cNvPicPr>
          <p:nvPr/>
        </p:nvPicPr>
        <p:blipFill>
          <a:blip r:embed="rId4" cstate="print"/>
          <a:srcRect/>
          <a:stretch>
            <a:fillRect/>
          </a:stretch>
        </p:blipFill>
        <p:spPr bwMode="auto">
          <a:xfrm>
            <a:off x="3276600" y="4449514"/>
            <a:ext cx="2438400" cy="2119314"/>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0"/>
            <a:ext cx="9144000" cy="914400"/>
          </a:xfrm>
        </p:spPr>
        <p:txBody>
          <a:bodyPr>
            <a:normAutofit/>
          </a:bodyPr>
          <a:lstStyle/>
          <a:p>
            <a:r>
              <a:rPr lang="en-US" sz="3000" b="1" dirty="0">
                <a:solidFill>
                  <a:srgbClr val="FF0000"/>
                </a:solidFill>
                <a:latin typeface="Arial" pitchFamily="34" charset="0"/>
                <a:cs typeface="Arial" pitchFamily="34" charset="0"/>
              </a:rPr>
              <a:t>Formation of Covalent Bond</a:t>
            </a:r>
            <a:endParaRPr lang="en-IN" sz="3000" b="1" dirty="0">
              <a:solidFill>
                <a:srgbClr val="FF0000"/>
              </a:solidFill>
              <a:latin typeface="Arial" pitchFamily="34" charset="0"/>
              <a:cs typeface="Arial" pitchFamily="34" charset="0"/>
            </a:endParaRPr>
          </a:p>
        </p:txBody>
      </p:sp>
      <p:sp>
        <p:nvSpPr>
          <p:cNvPr id="3" name="Content Placeholder 2"/>
          <p:cNvSpPr>
            <a:spLocks noGrp="1"/>
          </p:cNvSpPr>
          <p:nvPr>
            <p:ph idx="1"/>
          </p:nvPr>
        </p:nvSpPr>
        <p:spPr>
          <a:xfrm>
            <a:off x="0" y="762000"/>
            <a:ext cx="9144000" cy="6096000"/>
          </a:xfrm>
        </p:spPr>
        <p:txBody>
          <a:bodyPr>
            <a:noAutofit/>
          </a:bodyPr>
          <a:lstStyle/>
          <a:p>
            <a:pPr algn="just"/>
            <a:r>
              <a:rPr lang="en-US" sz="2800" dirty="0">
                <a:latin typeface="Arial" pitchFamily="34" charset="0"/>
                <a:cs typeface="Arial" pitchFamily="34" charset="0"/>
              </a:rPr>
              <a:t>Covalent bond is chemical bond formed by the </a:t>
            </a:r>
            <a:r>
              <a:rPr lang="en-US" sz="2800" b="1" dirty="0">
                <a:solidFill>
                  <a:srgbClr val="005828"/>
                </a:solidFill>
                <a:latin typeface="Arial" pitchFamily="34" charset="0"/>
                <a:cs typeface="Arial" pitchFamily="34" charset="0"/>
              </a:rPr>
              <a:t>sharing of electrons </a:t>
            </a:r>
            <a:r>
              <a:rPr lang="en-US" sz="2800" dirty="0">
                <a:latin typeface="Arial" pitchFamily="34" charset="0"/>
                <a:cs typeface="Arial" pitchFamily="34" charset="0"/>
              </a:rPr>
              <a:t>between atoms. </a:t>
            </a:r>
          </a:p>
          <a:p>
            <a:pPr algn="just">
              <a:buNone/>
            </a:pPr>
            <a:endParaRPr lang="en-US" sz="2800" dirty="0">
              <a:latin typeface="Arial" pitchFamily="34" charset="0"/>
              <a:cs typeface="Arial" pitchFamily="34" charset="0"/>
            </a:endParaRPr>
          </a:p>
          <a:p>
            <a:pPr algn="just"/>
            <a:r>
              <a:rPr lang="en-US" sz="2800" dirty="0">
                <a:latin typeface="Arial" pitchFamily="34" charset="0"/>
                <a:cs typeface="Arial" pitchFamily="34" charset="0"/>
              </a:rPr>
              <a:t>The Sharing of one pair electrons results in the formation of single covalent bond.</a:t>
            </a:r>
          </a:p>
          <a:p>
            <a:pPr algn="just"/>
            <a:endParaRPr lang="en-US" sz="2800" dirty="0">
              <a:latin typeface="Arial" pitchFamily="34" charset="0"/>
              <a:cs typeface="Arial" pitchFamily="34" charset="0"/>
            </a:endParaRPr>
          </a:p>
          <a:p>
            <a:pPr algn="just"/>
            <a:r>
              <a:rPr lang="en-US" sz="2800" dirty="0">
                <a:latin typeface="Arial" pitchFamily="34" charset="0"/>
                <a:cs typeface="Arial" pitchFamily="34" charset="0"/>
              </a:rPr>
              <a:t>Sharing of Two pairs electrons results in the formation of double covalent bond.</a:t>
            </a:r>
          </a:p>
          <a:p>
            <a:pPr algn="just"/>
            <a:endParaRPr lang="en-US" sz="2800" dirty="0">
              <a:latin typeface="Arial" pitchFamily="34" charset="0"/>
              <a:cs typeface="Arial" pitchFamily="34" charset="0"/>
            </a:endParaRPr>
          </a:p>
          <a:p>
            <a:pPr algn="just"/>
            <a:r>
              <a:rPr lang="en-US" sz="2800" dirty="0">
                <a:latin typeface="Arial" pitchFamily="34" charset="0"/>
                <a:cs typeface="Arial" pitchFamily="34" charset="0"/>
              </a:rPr>
              <a:t>And Sharing of Three pairs electrons in the formation of triple covalent bond.</a:t>
            </a:r>
            <a:endParaRPr lang="en-US" sz="2000" dirty="0">
              <a:latin typeface="Arial" pitchFamily="34" charset="0"/>
              <a:cs typeface="Arial" pitchFamily="34" charset="0"/>
            </a:endParaRPr>
          </a:p>
        </p:txBody>
      </p:sp>
      <p:pic>
        <p:nvPicPr>
          <p:cNvPr id="2051" name="Picture 3" descr="F:\ECONTENT CHEMISTRY\CNX_Chem_20_01_hexane_a_img.jpg"/>
          <p:cNvPicPr>
            <a:picLocks noChangeAspect="1" noChangeArrowheads="1"/>
          </p:cNvPicPr>
          <p:nvPr/>
        </p:nvPicPr>
        <p:blipFill>
          <a:blip r:embed="rId2"/>
          <a:srcRect l="15556" r="11111"/>
          <a:stretch>
            <a:fillRect/>
          </a:stretch>
        </p:blipFill>
        <p:spPr bwMode="auto">
          <a:xfrm>
            <a:off x="5943600" y="2799207"/>
            <a:ext cx="2971800" cy="728090"/>
          </a:xfrm>
          <a:prstGeom prst="rect">
            <a:avLst/>
          </a:prstGeom>
          <a:noFill/>
        </p:spPr>
      </p:pic>
      <p:pic>
        <p:nvPicPr>
          <p:cNvPr id="2053" name="Picture 5" descr="F:\ECONTENT CHEMISTRY\download.png"/>
          <p:cNvPicPr>
            <a:picLocks noChangeAspect="1" noChangeArrowheads="1"/>
          </p:cNvPicPr>
          <p:nvPr/>
        </p:nvPicPr>
        <p:blipFill>
          <a:blip r:embed="rId3"/>
          <a:srcRect l="18790" r="20734"/>
          <a:stretch>
            <a:fillRect/>
          </a:stretch>
        </p:blipFill>
        <p:spPr bwMode="auto">
          <a:xfrm>
            <a:off x="6172200" y="4198620"/>
            <a:ext cx="2438400" cy="830580"/>
          </a:xfrm>
          <a:prstGeom prst="rect">
            <a:avLst/>
          </a:prstGeom>
          <a:noFill/>
        </p:spPr>
      </p:pic>
      <p:pic>
        <p:nvPicPr>
          <p:cNvPr id="2055" name="Picture 7" descr="F:\ECONTENT CHEMISTRY\download (1).png"/>
          <p:cNvPicPr>
            <a:picLocks noChangeAspect="1" noChangeArrowheads="1"/>
          </p:cNvPicPr>
          <p:nvPr/>
        </p:nvPicPr>
        <p:blipFill>
          <a:blip r:embed="rId4"/>
          <a:srcRect l="21333" r="18222"/>
          <a:stretch>
            <a:fillRect/>
          </a:stretch>
        </p:blipFill>
        <p:spPr bwMode="auto">
          <a:xfrm>
            <a:off x="6324600" y="5562600"/>
            <a:ext cx="2590800" cy="10668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0"/>
            <a:ext cx="9144000" cy="914400"/>
          </a:xfrm>
        </p:spPr>
        <p:txBody>
          <a:bodyPr>
            <a:normAutofit/>
          </a:bodyPr>
          <a:lstStyle/>
          <a:p>
            <a:r>
              <a:rPr lang="en-US" sz="3000" b="1" dirty="0">
                <a:solidFill>
                  <a:srgbClr val="FF0000"/>
                </a:solidFill>
                <a:latin typeface="Arial" pitchFamily="34" charset="0"/>
                <a:cs typeface="Arial" pitchFamily="34" charset="0"/>
              </a:rPr>
              <a:t>Formation of Single Bond</a:t>
            </a:r>
            <a:endParaRPr lang="en-IN" sz="3000" b="1" dirty="0">
              <a:solidFill>
                <a:srgbClr val="FF0000"/>
              </a:solidFill>
              <a:latin typeface="Arial" pitchFamily="34" charset="0"/>
              <a:cs typeface="Arial" pitchFamily="34" charset="0"/>
            </a:endParaRPr>
          </a:p>
        </p:txBody>
      </p:sp>
      <p:sp>
        <p:nvSpPr>
          <p:cNvPr id="3" name="Content Placeholder 2"/>
          <p:cNvSpPr>
            <a:spLocks noGrp="1"/>
          </p:cNvSpPr>
          <p:nvPr>
            <p:ph idx="1"/>
          </p:nvPr>
        </p:nvSpPr>
        <p:spPr>
          <a:xfrm>
            <a:off x="0" y="762000"/>
            <a:ext cx="9144000" cy="2819400"/>
          </a:xfrm>
        </p:spPr>
        <p:txBody>
          <a:bodyPr>
            <a:noAutofit/>
          </a:bodyPr>
          <a:lstStyle/>
          <a:p>
            <a:pPr algn="just"/>
            <a:r>
              <a:rPr lang="en-US" sz="2400" dirty="0">
                <a:latin typeface="Arial" pitchFamily="34" charset="0"/>
                <a:cs typeface="Arial" pitchFamily="34" charset="0"/>
              </a:rPr>
              <a:t>Ex : Formation of single covalent bond in Hydrogen molecule  H</a:t>
            </a:r>
            <a:r>
              <a:rPr lang="en-US" sz="2400" baseline="-25000" dirty="0">
                <a:latin typeface="Arial" pitchFamily="34" charset="0"/>
                <a:cs typeface="Arial" pitchFamily="34" charset="0"/>
              </a:rPr>
              <a:t>2</a:t>
            </a:r>
          </a:p>
          <a:p>
            <a:pPr algn="just">
              <a:buNone/>
            </a:pPr>
            <a:r>
              <a:rPr lang="en-US" sz="2400" dirty="0">
                <a:latin typeface="Arial" pitchFamily="34" charset="0"/>
                <a:cs typeface="Arial" pitchFamily="34" charset="0"/>
              </a:rPr>
              <a:t>	The atomic number of Hydrogen is 1, its electronic arrangement is 1, it has 1 valence electron it need one electron more to attain stability. So 2 hydrogen atoms share 1 pair electrons resulting in the formation of single covalent bond in hydrogen molecule H</a:t>
            </a:r>
            <a:r>
              <a:rPr lang="en-US" sz="2400" baseline="-25000" dirty="0">
                <a:latin typeface="Arial" pitchFamily="34" charset="0"/>
                <a:cs typeface="Arial" pitchFamily="34" charset="0"/>
              </a:rPr>
              <a:t>2</a:t>
            </a:r>
            <a:r>
              <a:rPr lang="en-US" sz="2400" dirty="0">
                <a:latin typeface="Arial" pitchFamily="34" charset="0"/>
                <a:cs typeface="Arial" pitchFamily="34" charset="0"/>
              </a:rPr>
              <a:t>.</a:t>
            </a:r>
          </a:p>
        </p:txBody>
      </p:sp>
      <p:grpSp>
        <p:nvGrpSpPr>
          <p:cNvPr id="18" name="Group 17"/>
          <p:cNvGrpSpPr/>
          <p:nvPr/>
        </p:nvGrpSpPr>
        <p:grpSpPr>
          <a:xfrm>
            <a:off x="838200" y="4572000"/>
            <a:ext cx="7629525" cy="1133475"/>
            <a:chOff x="457200" y="4343400"/>
            <a:chExt cx="7629525" cy="1133475"/>
          </a:xfrm>
        </p:grpSpPr>
        <p:grpSp>
          <p:nvGrpSpPr>
            <p:cNvPr id="7" name="Group 6"/>
            <p:cNvGrpSpPr/>
            <p:nvPr/>
          </p:nvGrpSpPr>
          <p:grpSpPr>
            <a:xfrm>
              <a:off x="2971800" y="4343400"/>
              <a:ext cx="5114925" cy="1133475"/>
              <a:chOff x="1295400" y="4114800"/>
              <a:chExt cx="5114925" cy="1133475"/>
            </a:xfrm>
          </p:grpSpPr>
          <p:pic>
            <p:nvPicPr>
              <p:cNvPr id="4" name="Picture 2"/>
              <p:cNvPicPr>
                <a:picLocks noChangeAspect="1" noChangeArrowheads="1"/>
              </p:cNvPicPr>
              <p:nvPr/>
            </p:nvPicPr>
            <p:blipFill>
              <a:blip r:embed="rId2" cstate="print"/>
              <a:srcRect r="28163"/>
              <a:stretch>
                <a:fillRect/>
              </a:stretch>
            </p:blipFill>
            <p:spPr bwMode="auto">
              <a:xfrm>
                <a:off x="1295400" y="4114800"/>
                <a:ext cx="1676400" cy="1133475"/>
              </a:xfrm>
              <a:prstGeom prst="rect">
                <a:avLst/>
              </a:prstGeom>
              <a:noFill/>
              <a:ln w="9525">
                <a:noFill/>
                <a:miter lim="800000"/>
                <a:headEnd/>
                <a:tailEnd/>
              </a:ln>
            </p:spPr>
          </p:pic>
          <p:pic>
            <p:nvPicPr>
              <p:cNvPr id="5122" name="Picture 2"/>
              <p:cNvPicPr>
                <a:picLocks noChangeAspect="1" noChangeArrowheads="1"/>
              </p:cNvPicPr>
              <p:nvPr/>
            </p:nvPicPr>
            <p:blipFill>
              <a:blip r:embed="rId3"/>
              <a:srcRect/>
              <a:stretch>
                <a:fillRect/>
              </a:stretch>
            </p:blipFill>
            <p:spPr bwMode="auto">
              <a:xfrm>
                <a:off x="3048000" y="4343400"/>
                <a:ext cx="3362325" cy="628650"/>
              </a:xfrm>
              <a:prstGeom prst="rect">
                <a:avLst/>
              </a:prstGeom>
              <a:noFill/>
              <a:ln w="9525">
                <a:noFill/>
                <a:miter lim="800000"/>
                <a:headEnd/>
                <a:tailEnd/>
              </a:ln>
              <a:effectLst/>
            </p:spPr>
          </p:pic>
        </p:grpSp>
        <p:grpSp>
          <p:nvGrpSpPr>
            <p:cNvPr id="17" name="Group 16"/>
            <p:cNvGrpSpPr/>
            <p:nvPr/>
          </p:nvGrpSpPr>
          <p:grpSpPr>
            <a:xfrm>
              <a:off x="457200" y="4419600"/>
              <a:ext cx="2667000" cy="838200"/>
              <a:chOff x="609600" y="4419600"/>
              <a:chExt cx="2667000" cy="838200"/>
            </a:xfrm>
          </p:grpSpPr>
          <p:sp>
            <p:nvSpPr>
              <p:cNvPr id="8" name="Oval 7"/>
              <p:cNvSpPr/>
              <p:nvPr/>
            </p:nvSpPr>
            <p:spPr>
              <a:xfrm>
                <a:off x="609600" y="4419600"/>
                <a:ext cx="838200" cy="838200"/>
              </a:xfrm>
              <a:prstGeom prst="ellipse">
                <a:avLst/>
              </a:prstGeom>
              <a:noFill/>
              <a:ln w="2540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905000" y="4419600"/>
                <a:ext cx="838200" cy="838200"/>
              </a:xfrm>
              <a:prstGeom prst="ellipse">
                <a:avLst/>
              </a:prstGeom>
              <a:noFill/>
              <a:ln w="2540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609600" y="4572000"/>
                <a:ext cx="2667000" cy="584775"/>
              </a:xfrm>
              <a:prstGeom prst="rect">
                <a:avLst/>
              </a:prstGeom>
              <a:noFill/>
            </p:spPr>
            <p:txBody>
              <a:bodyPr wrap="square" rtlCol="0">
                <a:spAutoFit/>
              </a:bodyPr>
              <a:lstStyle/>
              <a:p>
                <a:r>
                  <a:rPr lang="en-US" sz="3200" dirty="0"/>
                  <a:t> H </a:t>
                </a:r>
                <a:r>
                  <a:rPr lang="en-US" sz="2800" baseline="30000" dirty="0"/>
                  <a:t>x 	</a:t>
                </a:r>
                <a:r>
                  <a:rPr lang="en-US" sz="2800" dirty="0"/>
                  <a:t>+ </a:t>
                </a:r>
                <a:r>
                  <a:rPr lang="en-US" sz="2400" baseline="30000" dirty="0"/>
                  <a:t>      x </a:t>
                </a:r>
                <a:r>
                  <a:rPr lang="en-US" sz="2800" dirty="0"/>
                  <a:t>H    </a:t>
                </a:r>
                <a:r>
                  <a:rPr lang="en-US" sz="2800" dirty="0">
                    <a:sym typeface="Wingdings" pitchFamily="2" charset="2"/>
                  </a:rPr>
                  <a:t></a:t>
                </a:r>
                <a:endParaRPr lang="en-US" baseline="30000" dirty="0"/>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0"/>
            <a:ext cx="9144000" cy="914400"/>
          </a:xfrm>
        </p:spPr>
        <p:txBody>
          <a:bodyPr>
            <a:normAutofit/>
          </a:bodyPr>
          <a:lstStyle/>
          <a:p>
            <a:r>
              <a:rPr lang="en-US" sz="3000" b="1" dirty="0">
                <a:solidFill>
                  <a:srgbClr val="FF0000"/>
                </a:solidFill>
                <a:latin typeface="Arial" pitchFamily="34" charset="0"/>
                <a:cs typeface="Arial" pitchFamily="34" charset="0"/>
              </a:rPr>
              <a:t>Formation of Double Covalent Bond</a:t>
            </a:r>
            <a:endParaRPr lang="en-IN" sz="3000" b="1" dirty="0">
              <a:solidFill>
                <a:srgbClr val="FF0000"/>
              </a:solidFill>
              <a:latin typeface="Arial" pitchFamily="34" charset="0"/>
              <a:cs typeface="Arial" pitchFamily="34" charset="0"/>
            </a:endParaRPr>
          </a:p>
        </p:txBody>
      </p:sp>
      <p:sp>
        <p:nvSpPr>
          <p:cNvPr id="3" name="Content Placeholder 2"/>
          <p:cNvSpPr>
            <a:spLocks noGrp="1"/>
          </p:cNvSpPr>
          <p:nvPr>
            <p:ph idx="1"/>
          </p:nvPr>
        </p:nvSpPr>
        <p:spPr>
          <a:xfrm>
            <a:off x="304800" y="762000"/>
            <a:ext cx="8610600" cy="4495800"/>
          </a:xfrm>
        </p:spPr>
        <p:txBody>
          <a:bodyPr>
            <a:noAutofit/>
          </a:bodyPr>
          <a:lstStyle/>
          <a:p>
            <a:pPr algn="just"/>
            <a:r>
              <a:rPr lang="en-US" sz="2800" dirty="0">
                <a:latin typeface="Arial" pitchFamily="34" charset="0"/>
                <a:cs typeface="Arial" pitchFamily="34" charset="0"/>
              </a:rPr>
              <a:t>Ex : Formation of double covalent bond in oxygen molecule O</a:t>
            </a:r>
            <a:r>
              <a:rPr lang="en-US" sz="2800" baseline="-25000" dirty="0">
                <a:latin typeface="Arial" pitchFamily="34" charset="0"/>
                <a:cs typeface="Arial" pitchFamily="34" charset="0"/>
              </a:rPr>
              <a:t>2</a:t>
            </a:r>
          </a:p>
          <a:p>
            <a:pPr algn="just">
              <a:buNone/>
            </a:pPr>
            <a:r>
              <a:rPr lang="en-US" sz="2800" dirty="0">
                <a:latin typeface="Arial" pitchFamily="34" charset="0"/>
                <a:cs typeface="Arial" pitchFamily="34" charset="0"/>
              </a:rPr>
              <a:t>	The atomic number of Oxygen is 8, its electronic arrangement is 2,6, it has 6 valence electron it needs two electrons more to attain stability. So 2 oxygen atoms share 2 pairs electrons resulting in the formation of double covalent bond in oxygen molecule O</a:t>
            </a:r>
            <a:r>
              <a:rPr lang="en-US" sz="2800" baseline="-25000" dirty="0">
                <a:latin typeface="Arial" pitchFamily="34" charset="0"/>
                <a:cs typeface="Arial" pitchFamily="34" charset="0"/>
              </a:rPr>
              <a:t>2</a:t>
            </a:r>
            <a:r>
              <a:rPr lang="en-US" sz="2800" dirty="0">
                <a:latin typeface="Arial" pitchFamily="34" charset="0"/>
                <a:cs typeface="Arial" pitchFamily="34" charset="0"/>
              </a:rPr>
              <a:t>.</a:t>
            </a:r>
          </a:p>
        </p:txBody>
      </p:sp>
      <p:pic>
        <p:nvPicPr>
          <p:cNvPr id="3074" name="Picture 2"/>
          <p:cNvPicPr>
            <a:picLocks noChangeAspect="1" noChangeArrowheads="1"/>
          </p:cNvPicPr>
          <p:nvPr/>
        </p:nvPicPr>
        <p:blipFill>
          <a:blip r:embed="rId2"/>
          <a:srcRect/>
          <a:stretch>
            <a:fillRect/>
          </a:stretch>
        </p:blipFill>
        <p:spPr bwMode="auto">
          <a:xfrm>
            <a:off x="0" y="4800600"/>
            <a:ext cx="9144000" cy="1426089"/>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0"/>
            <a:ext cx="9144000" cy="914400"/>
          </a:xfrm>
        </p:spPr>
        <p:txBody>
          <a:bodyPr>
            <a:normAutofit/>
          </a:bodyPr>
          <a:lstStyle/>
          <a:p>
            <a:r>
              <a:rPr lang="en-US" sz="3000" b="1" dirty="0">
                <a:solidFill>
                  <a:srgbClr val="FF0000"/>
                </a:solidFill>
                <a:latin typeface="Arial" pitchFamily="34" charset="0"/>
                <a:cs typeface="Arial" pitchFamily="34" charset="0"/>
              </a:rPr>
              <a:t>Formation of Triple Covalent Bond</a:t>
            </a:r>
            <a:endParaRPr lang="en-IN" sz="3000" b="1" dirty="0">
              <a:solidFill>
                <a:srgbClr val="FF0000"/>
              </a:solidFill>
              <a:latin typeface="Arial" pitchFamily="34" charset="0"/>
              <a:cs typeface="Arial" pitchFamily="34" charset="0"/>
            </a:endParaRPr>
          </a:p>
        </p:txBody>
      </p:sp>
      <p:sp>
        <p:nvSpPr>
          <p:cNvPr id="3" name="Content Placeholder 2"/>
          <p:cNvSpPr>
            <a:spLocks noGrp="1"/>
          </p:cNvSpPr>
          <p:nvPr>
            <p:ph idx="1"/>
          </p:nvPr>
        </p:nvSpPr>
        <p:spPr>
          <a:xfrm>
            <a:off x="304800" y="762000"/>
            <a:ext cx="8610600" cy="4191000"/>
          </a:xfrm>
        </p:spPr>
        <p:txBody>
          <a:bodyPr>
            <a:noAutofit/>
          </a:bodyPr>
          <a:lstStyle/>
          <a:p>
            <a:pPr algn="just"/>
            <a:r>
              <a:rPr lang="en-US" sz="2800" dirty="0">
                <a:latin typeface="Arial" pitchFamily="34" charset="0"/>
                <a:cs typeface="Arial" pitchFamily="34" charset="0"/>
              </a:rPr>
              <a:t>Ex : Formation of triple covalent bond in Nitrogen molecule N</a:t>
            </a:r>
            <a:r>
              <a:rPr lang="en-US" sz="2800" baseline="-25000" dirty="0">
                <a:latin typeface="Arial" pitchFamily="34" charset="0"/>
                <a:cs typeface="Arial" pitchFamily="34" charset="0"/>
              </a:rPr>
              <a:t>2</a:t>
            </a:r>
          </a:p>
          <a:p>
            <a:pPr algn="just">
              <a:buNone/>
            </a:pPr>
            <a:r>
              <a:rPr lang="en-US" sz="2800" dirty="0">
                <a:latin typeface="Arial" pitchFamily="34" charset="0"/>
                <a:cs typeface="Arial" pitchFamily="34" charset="0"/>
              </a:rPr>
              <a:t>	The atomic number of Nitrogen is 7, its electronic arrangement is 2,5, it has 5 valence electron it needs three electrons more to attain stability. So 2 nitrogen atoms share 3 pairs of electrons resulting in the formation of triple covalent bond in nitrogen molecule N</a:t>
            </a:r>
            <a:r>
              <a:rPr lang="en-US" sz="2800" baseline="-25000" dirty="0">
                <a:latin typeface="Arial" pitchFamily="34" charset="0"/>
                <a:cs typeface="Arial" pitchFamily="34" charset="0"/>
              </a:rPr>
              <a:t>2</a:t>
            </a:r>
            <a:r>
              <a:rPr lang="en-US" sz="2800" dirty="0">
                <a:latin typeface="Arial" pitchFamily="34" charset="0"/>
                <a:cs typeface="Arial" pitchFamily="34" charset="0"/>
              </a:rPr>
              <a:t>.</a:t>
            </a:r>
          </a:p>
        </p:txBody>
      </p:sp>
      <p:pic>
        <p:nvPicPr>
          <p:cNvPr id="4098" name="Picture 2"/>
          <p:cNvPicPr>
            <a:picLocks noChangeAspect="1" noChangeArrowheads="1"/>
          </p:cNvPicPr>
          <p:nvPr/>
        </p:nvPicPr>
        <p:blipFill>
          <a:blip r:embed="rId2"/>
          <a:srcRect/>
          <a:stretch>
            <a:fillRect/>
          </a:stretch>
        </p:blipFill>
        <p:spPr bwMode="auto">
          <a:xfrm>
            <a:off x="457200" y="4800600"/>
            <a:ext cx="8134350" cy="13335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latin typeface="Arial" pitchFamily="34" charset="0"/>
                <a:cs typeface="Arial" pitchFamily="34" charset="0"/>
              </a:rPr>
              <a:t>Carbon atom can form multiple </a:t>
            </a:r>
            <a:br>
              <a:rPr lang="en-US" sz="3200" b="1" dirty="0">
                <a:solidFill>
                  <a:srgbClr val="FF0000"/>
                </a:solidFill>
                <a:latin typeface="Arial" pitchFamily="34" charset="0"/>
                <a:cs typeface="Arial" pitchFamily="34" charset="0"/>
              </a:rPr>
            </a:br>
            <a:r>
              <a:rPr lang="en-US" sz="3200" b="1" dirty="0">
                <a:solidFill>
                  <a:srgbClr val="FF0000"/>
                </a:solidFill>
                <a:latin typeface="Arial" pitchFamily="34" charset="0"/>
                <a:cs typeface="Arial" pitchFamily="34" charset="0"/>
              </a:rPr>
              <a:t>covalent bonds </a:t>
            </a:r>
            <a:endParaRPr lang="en-IN" sz="3200" b="1" dirty="0">
              <a:solidFill>
                <a:srgbClr val="FF0000"/>
              </a:solidFill>
              <a:latin typeface="Arial" pitchFamily="34" charset="0"/>
              <a:cs typeface="Arial" pitchFamily="34" charset="0"/>
            </a:endParaRPr>
          </a:p>
        </p:txBody>
      </p:sp>
      <p:sp>
        <p:nvSpPr>
          <p:cNvPr id="3" name="Content Placeholder 2"/>
          <p:cNvSpPr>
            <a:spLocks noGrp="1"/>
          </p:cNvSpPr>
          <p:nvPr>
            <p:ph idx="1"/>
          </p:nvPr>
        </p:nvSpPr>
        <p:spPr/>
        <p:txBody>
          <a:bodyPr anchor="t"/>
          <a:lstStyle/>
          <a:p>
            <a:r>
              <a:rPr lang="en-US" b="1" dirty="0">
                <a:solidFill>
                  <a:srgbClr val="456B56"/>
                </a:solidFill>
                <a:latin typeface="Arial" pitchFamily="34" charset="0"/>
                <a:cs typeface="Arial" pitchFamily="34" charset="0"/>
              </a:rPr>
              <a:t>If sufficient number of other atoms are not there…</a:t>
            </a:r>
          </a:p>
          <a:p>
            <a:pPr lvl="1"/>
            <a:r>
              <a:rPr lang="en-US" dirty="0">
                <a:latin typeface="Arial" pitchFamily="34" charset="0"/>
                <a:cs typeface="Arial" pitchFamily="34" charset="0"/>
              </a:rPr>
              <a:t>In order to satisfy the four valences carbon form double or triple bond between two C atoms</a:t>
            </a:r>
            <a:endParaRPr lang="en-IN" dirty="0">
              <a:latin typeface="Arial" pitchFamily="34" charset="0"/>
              <a:cs typeface="Arial" pitchFamily="34" charset="0"/>
            </a:endParaRPr>
          </a:p>
        </p:txBody>
      </p:sp>
      <p:pic>
        <p:nvPicPr>
          <p:cNvPr id="4098" name="Picture 2"/>
          <p:cNvPicPr>
            <a:picLocks noChangeAspect="1" noChangeArrowheads="1"/>
          </p:cNvPicPr>
          <p:nvPr/>
        </p:nvPicPr>
        <p:blipFill>
          <a:blip r:embed="rId2" cstate="print">
            <a:grayscl/>
          </a:blip>
          <a:srcRect/>
          <a:stretch>
            <a:fillRect/>
          </a:stretch>
        </p:blipFill>
        <p:spPr bwMode="auto">
          <a:xfrm>
            <a:off x="181667" y="4201606"/>
            <a:ext cx="2341766" cy="1665794"/>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grayscl/>
          </a:blip>
          <a:srcRect/>
          <a:stretch>
            <a:fillRect/>
          </a:stretch>
        </p:blipFill>
        <p:spPr bwMode="auto">
          <a:xfrm>
            <a:off x="2971800" y="4191000"/>
            <a:ext cx="2428876" cy="1577730"/>
          </a:xfrm>
          <a:prstGeom prst="rect">
            <a:avLst/>
          </a:prstGeom>
          <a:solidFill>
            <a:schemeClr val="tx1"/>
          </a:solidFill>
          <a:ln w="9525">
            <a:noFill/>
            <a:miter lim="800000"/>
            <a:headEnd/>
            <a:tailEnd/>
          </a:ln>
        </p:spPr>
      </p:pic>
      <p:sp>
        <p:nvSpPr>
          <p:cNvPr id="6" name="TextBox 5"/>
          <p:cNvSpPr txBox="1"/>
          <p:nvPr/>
        </p:nvSpPr>
        <p:spPr>
          <a:xfrm>
            <a:off x="0" y="6096000"/>
            <a:ext cx="2438400" cy="461665"/>
          </a:xfrm>
          <a:prstGeom prst="rect">
            <a:avLst/>
          </a:prstGeom>
          <a:noFill/>
        </p:spPr>
        <p:txBody>
          <a:bodyPr wrap="square" rtlCol="0">
            <a:spAutoFit/>
          </a:bodyPr>
          <a:lstStyle/>
          <a:p>
            <a:pPr algn="ctr"/>
            <a:r>
              <a:rPr lang="en-US" sz="2400" b="1" dirty="0">
                <a:solidFill>
                  <a:srgbClr val="005828"/>
                </a:solidFill>
                <a:latin typeface="Arial" pitchFamily="34" charset="0"/>
                <a:cs typeface="Arial" pitchFamily="34" charset="0"/>
              </a:rPr>
              <a:t>ETHANE</a:t>
            </a:r>
            <a:endParaRPr lang="en-IN" sz="2400" b="1" dirty="0">
              <a:solidFill>
                <a:srgbClr val="005828"/>
              </a:solidFill>
              <a:latin typeface="Arial" pitchFamily="34" charset="0"/>
              <a:cs typeface="Arial" pitchFamily="34" charset="0"/>
            </a:endParaRPr>
          </a:p>
        </p:txBody>
      </p:sp>
      <p:sp>
        <p:nvSpPr>
          <p:cNvPr id="7" name="TextBox 6"/>
          <p:cNvSpPr txBox="1"/>
          <p:nvPr/>
        </p:nvSpPr>
        <p:spPr>
          <a:xfrm>
            <a:off x="3200400" y="6096000"/>
            <a:ext cx="2438400" cy="461665"/>
          </a:xfrm>
          <a:prstGeom prst="rect">
            <a:avLst/>
          </a:prstGeom>
          <a:noFill/>
        </p:spPr>
        <p:txBody>
          <a:bodyPr wrap="square" rtlCol="0">
            <a:spAutoFit/>
          </a:bodyPr>
          <a:lstStyle/>
          <a:p>
            <a:pPr algn="ctr"/>
            <a:r>
              <a:rPr lang="en-US" sz="2400" b="1" dirty="0">
                <a:solidFill>
                  <a:srgbClr val="005828"/>
                </a:solidFill>
                <a:latin typeface="Arial" pitchFamily="34" charset="0"/>
                <a:cs typeface="Arial" pitchFamily="34" charset="0"/>
              </a:rPr>
              <a:t>ETHENE</a:t>
            </a:r>
            <a:endParaRPr lang="en-IN" sz="2400" b="1" dirty="0">
              <a:solidFill>
                <a:srgbClr val="005828"/>
              </a:solidFill>
              <a:latin typeface="Arial" pitchFamily="34" charset="0"/>
              <a:cs typeface="Arial" pitchFamily="34" charset="0"/>
            </a:endParaRPr>
          </a:p>
        </p:txBody>
      </p:sp>
      <p:sp>
        <p:nvSpPr>
          <p:cNvPr id="8" name="TextBox 7"/>
          <p:cNvSpPr txBox="1"/>
          <p:nvPr/>
        </p:nvSpPr>
        <p:spPr>
          <a:xfrm>
            <a:off x="6019800" y="6019800"/>
            <a:ext cx="2438400" cy="461665"/>
          </a:xfrm>
          <a:prstGeom prst="rect">
            <a:avLst/>
          </a:prstGeom>
          <a:noFill/>
        </p:spPr>
        <p:txBody>
          <a:bodyPr wrap="square" rtlCol="0">
            <a:spAutoFit/>
          </a:bodyPr>
          <a:lstStyle/>
          <a:p>
            <a:pPr algn="ctr"/>
            <a:r>
              <a:rPr lang="en-US" sz="2400" b="1" dirty="0">
                <a:solidFill>
                  <a:srgbClr val="005828"/>
                </a:solidFill>
                <a:latin typeface="Arial" pitchFamily="34" charset="0"/>
                <a:cs typeface="Arial" pitchFamily="34" charset="0"/>
              </a:rPr>
              <a:t>ETHYNE</a:t>
            </a:r>
            <a:endParaRPr lang="en-IN" sz="2400" b="1" dirty="0">
              <a:solidFill>
                <a:srgbClr val="005828"/>
              </a:solidFill>
              <a:latin typeface="Arial" pitchFamily="34" charset="0"/>
              <a:cs typeface="Arial" pitchFamily="34" charset="0"/>
            </a:endParaRPr>
          </a:p>
        </p:txBody>
      </p:sp>
      <p:pic>
        <p:nvPicPr>
          <p:cNvPr id="3074" name="Picture 2" descr="F:\ECONTENT CHEMISTRY\20181018-17501758-9100-electron-dot-structure-and-open-structure-of-ethyne.png"/>
          <p:cNvPicPr>
            <a:picLocks noChangeAspect="1" noChangeArrowheads="1"/>
          </p:cNvPicPr>
          <p:nvPr/>
        </p:nvPicPr>
        <p:blipFill>
          <a:blip r:embed="rId4">
            <a:grayscl/>
            <a:lum bright="10000" contrast="30000"/>
          </a:blip>
          <a:srcRect r="1840" b="31183"/>
          <a:stretch>
            <a:fillRect/>
          </a:stretch>
        </p:blipFill>
        <p:spPr bwMode="auto">
          <a:xfrm>
            <a:off x="5791200" y="4267200"/>
            <a:ext cx="3048000" cy="12192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0"/>
            <a:ext cx="9144000" cy="685800"/>
          </a:xfrm>
        </p:spPr>
        <p:txBody>
          <a:bodyPr>
            <a:normAutofit/>
          </a:bodyPr>
          <a:lstStyle/>
          <a:p>
            <a:r>
              <a:rPr lang="en-US" sz="3200" dirty="0">
                <a:solidFill>
                  <a:srgbClr val="FF0000"/>
                </a:solidFill>
                <a:latin typeface="Arial" pitchFamily="34" charset="0"/>
                <a:cs typeface="Arial" pitchFamily="34" charset="0"/>
              </a:rPr>
              <a:t>Catenation</a:t>
            </a:r>
            <a:endParaRPr lang="en-IN" sz="3000" b="1" dirty="0">
              <a:solidFill>
                <a:srgbClr val="FF0000"/>
              </a:solidFill>
              <a:latin typeface="Arial" pitchFamily="34" charset="0"/>
              <a:cs typeface="Arial" pitchFamily="34" charset="0"/>
            </a:endParaRPr>
          </a:p>
        </p:txBody>
      </p:sp>
      <p:sp>
        <p:nvSpPr>
          <p:cNvPr id="3" name="Content Placeholder 2"/>
          <p:cNvSpPr>
            <a:spLocks noGrp="1"/>
          </p:cNvSpPr>
          <p:nvPr>
            <p:ph idx="1"/>
          </p:nvPr>
        </p:nvSpPr>
        <p:spPr>
          <a:xfrm>
            <a:off x="304800" y="533400"/>
            <a:ext cx="8610600" cy="6324600"/>
          </a:xfrm>
        </p:spPr>
        <p:txBody>
          <a:bodyPr>
            <a:noAutofit/>
          </a:bodyPr>
          <a:lstStyle/>
          <a:p>
            <a:pPr algn="just"/>
            <a:r>
              <a:rPr lang="en-US" sz="2800" dirty="0">
                <a:latin typeface="Arial" pitchFamily="34" charset="0"/>
                <a:cs typeface="Arial" pitchFamily="34" charset="0"/>
              </a:rPr>
              <a:t>Carbon atom can form bonds with other carbon atoms to form a long chains, branched chain and closed rings. This property is called Catenation.</a:t>
            </a:r>
          </a:p>
          <a:p>
            <a:pPr algn="just"/>
            <a:endParaRPr lang="en-US" sz="2800" dirty="0">
              <a:latin typeface="Arial" pitchFamily="34" charset="0"/>
              <a:cs typeface="Arial" pitchFamily="34" charset="0"/>
            </a:endParaRPr>
          </a:p>
          <a:p>
            <a:pPr algn="just"/>
            <a:endParaRPr lang="en-US" sz="2800" dirty="0">
              <a:latin typeface="Arial" pitchFamily="34" charset="0"/>
              <a:cs typeface="Arial" pitchFamily="34" charset="0"/>
            </a:endParaRPr>
          </a:p>
          <a:p>
            <a:pPr algn="just"/>
            <a:endParaRPr lang="en-US" dirty="0">
              <a:latin typeface="Arial" pitchFamily="34" charset="0"/>
              <a:cs typeface="Arial" pitchFamily="34" charset="0"/>
            </a:endParaRPr>
          </a:p>
          <a:p>
            <a:pPr algn="just">
              <a:buNone/>
            </a:pPr>
            <a:endParaRPr lang="en-US" sz="1000" dirty="0">
              <a:latin typeface="Arial" pitchFamily="34" charset="0"/>
              <a:cs typeface="Arial" pitchFamily="34" charset="0"/>
            </a:endParaRPr>
          </a:p>
          <a:p>
            <a:pPr algn="just">
              <a:spcBef>
                <a:spcPts val="0"/>
              </a:spcBef>
              <a:buNone/>
            </a:pPr>
            <a:r>
              <a:rPr lang="en-US" sz="1000" dirty="0">
                <a:latin typeface="Arial" pitchFamily="34" charset="0"/>
                <a:cs typeface="Arial" pitchFamily="34" charset="0"/>
              </a:rPr>
              <a:t>	</a:t>
            </a:r>
            <a:r>
              <a:rPr lang="en-US" sz="1600" b="1" dirty="0">
                <a:solidFill>
                  <a:srgbClr val="FF0000"/>
                </a:solidFill>
                <a:latin typeface="Arial" pitchFamily="34" charset="0"/>
                <a:cs typeface="Arial" pitchFamily="34" charset="0"/>
              </a:rPr>
              <a:t>NORMAL BUTANE  (C</a:t>
            </a:r>
            <a:r>
              <a:rPr lang="en-US" sz="1600" b="1" baseline="-25000" dirty="0">
                <a:solidFill>
                  <a:srgbClr val="FF0000"/>
                </a:solidFill>
                <a:latin typeface="Arial" pitchFamily="34" charset="0"/>
                <a:cs typeface="Arial" pitchFamily="34" charset="0"/>
              </a:rPr>
              <a:t>4</a:t>
            </a:r>
            <a:r>
              <a:rPr lang="en-US" sz="1600" b="1" dirty="0">
                <a:solidFill>
                  <a:srgbClr val="FF0000"/>
                </a:solidFill>
                <a:latin typeface="Arial" pitchFamily="34" charset="0"/>
                <a:cs typeface="Arial" pitchFamily="34" charset="0"/>
              </a:rPr>
              <a:t>H</a:t>
            </a:r>
            <a:r>
              <a:rPr lang="en-US" sz="1600" b="1" baseline="-25000" dirty="0">
                <a:solidFill>
                  <a:srgbClr val="FF0000"/>
                </a:solidFill>
                <a:latin typeface="Arial" pitchFamily="34" charset="0"/>
                <a:cs typeface="Arial" pitchFamily="34" charset="0"/>
              </a:rPr>
              <a:t>10</a:t>
            </a:r>
            <a:r>
              <a:rPr lang="en-US" sz="1600" b="1" dirty="0">
                <a:solidFill>
                  <a:srgbClr val="FF0000"/>
                </a:solidFill>
                <a:latin typeface="Arial" pitchFamily="34" charset="0"/>
                <a:cs typeface="Arial" pitchFamily="34" charset="0"/>
              </a:rPr>
              <a:t>)	         ISO BUTANE  (C4H</a:t>
            </a:r>
            <a:r>
              <a:rPr lang="en-US" sz="1600" b="1" baseline="-25000" dirty="0">
                <a:solidFill>
                  <a:srgbClr val="FF0000"/>
                </a:solidFill>
                <a:latin typeface="Arial" pitchFamily="34" charset="0"/>
                <a:cs typeface="Arial" pitchFamily="34" charset="0"/>
              </a:rPr>
              <a:t>10</a:t>
            </a:r>
            <a:r>
              <a:rPr lang="en-US" sz="1600" b="1" dirty="0">
                <a:solidFill>
                  <a:srgbClr val="FF0000"/>
                </a:solidFill>
                <a:latin typeface="Arial" pitchFamily="34" charset="0"/>
                <a:cs typeface="Arial" pitchFamily="34" charset="0"/>
              </a:rPr>
              <a:t>) </a:t>
            </a:r>
            <a:r>
              <a:rPr lang="en-US" sz="1600" b="1" baseline="-25000" dirty="0">
                <a:solidFill>
                  <a:srgbClr val="FF0000"/>
                </a:solidFill>
                <a:latin typeface="Arial" pitchFamily="34" charset="0"/>
                <a:cs typeface="Arial" pitchFamily="34" charset="0"/>
              </a:rPr>
              <a:t>			</a:t>
            </a:r>
            <a:r>
              <a:rPr lang="en-US" sz="1600" b="1" dirty="0">
                <a:solidFill>
                  <a:srgbClr val="FF0000"/>
                </a:solidFill>
                <a:latin typeface="Arial" pitchFamily="34" charset="0"/>
                <a:cs typeface="Arial" pitchFamily="34" charset="0"/>
              </a:rPr>
              <a:t>      </a:t>
            </a:r>
            <a:r>
              <a:rPr lang="en-US" sz="1600" b="1" baseline="-25000" dirty="0">
                <a:solidFill>
                  <a:srgbClr val="FF0000"/>
                </a:solidFill>
                <a:latin typeface="Arial" pitchFamily="34" charset="0"/>
                <a:cs typeface="Arial" pitchFamily="34" charset="0"/>
              </a:rPr>
              <a:t>	</a:t>
            </a:r>
            <a:endParaRPr lang="en-US" sz="1000" b="1" baseline="-25000" dirty="0">
              <a:solidFill>
                <a:srgbClr val="FF0000"/>
              </a:solidFill>
              <a:latin typeface="Arial" pitchFamily="34" charset="0"/>
              <a:cs typeface="Arial" pitchFamily="34" charset="0"/>
            </a:endParaRPr>
          </a:p>
          <a:p>
            <a:pPr algn="just">
              <a:spcBef>
                <a:spcPts val="0"/>
              </a:spcBef>
              <a:buNone/>
            </a:pPr>
            <a:r>
              <a:rPr lang="en-US" sz="2400" dirty="0">
                <a:latin typeface="Arial" pitchFamily="34" charset="0"/>
                <a:cs typeface="Arial" pitchFamily="34" charset="0"/>
              </a:rPr>
              <a:t>		</a:t>
            </a:r>
            <a:r>
              <a:rPr lang="en-US" sz="2000" b="1" dirty="0">
                <a:solidFill>
                  <a:srgbClr val="005828"/>
                </a:solidFill>
                <a:latin typeface="Arial" pitchFamily="34" charset="0"/>
                <a:cs typeface="Arial" pitchFamily="34" charset="0"/>
              </a:rPr>
              <a:t>Long chain		         Branched chain</a:t>
            </a:r>
            <a:endParaRPr lang="en-US" sz="2400" b="1" dirty="0">
              <a:solidFill>
                <a:srgbClr val="005828"/>
              </a:solidFill>
              <a:latin typeface="Arial" pitchFamily="34" charset="0"/>
              <a:cs typeface="Arial" pitchFamily="34" charset="0"/>
            </a:endParaRPr>
          </a:p>
          <a:p>
            <a:pPr algn="just">
              <a:buNone/>
            </a:pPr>
            <a:endParaRPr lang="en-US" sz="2800" dirty="0">
              <a:latin typeface="Arial" pitchFamily="34" charset="0"/>
              <a:cs typeface="Arial" pitchFamily="34" charset="0"/>
            </a:endParaRPr>
          </a:p>
          <a:p>
            <a:pPr algn="just">
              <a:buNone/>
            </a:pPr>
            <a:endParaRPr lang="en-US" sz="2800" dirty="0">
              <a:latin typeface="Arial" pitchFamily="34" charset="0"/>
              <a:cs typeface="Arial" pitchFamily="34" charset="0"/>
            </a:endParaRPr>
          </a:p>
          <a:p>
            <a:pPr algn="just">
              <a:buNone/>
            </a:pPr>
            <a:r>
              <a:rPr lang="en-US" sz="2800" dirty="0">
                <a:latin typeface="Arial" pitchFamily="34" charset="0"/>
                <a:cs typeface="Arial" pitchFamily="34" charset="0"/>
              </a:rPr>
              <a:t>				</a:t>
            </a:r>
            <a:r>
              <a:rPr lang="en-US" sz="2800" b="1" dirty="0">
                <a:solidFill>
                  <a:srgbClr val="FF0000"/>
                </a:solidFill>
                <a:latin typeface="Arial" pitchFamily="34" charset="0"/>
                <a:cs typeface="Arial" pitchFamily="34" charset="0"/>
              </a:rPr>
              <a:t> 		</a:t>
            </a:r>
            <a:r>
              <a:rPr lang="en-US" sz="2000" b="1" dirty="0">
                <a:solidFill>
                  <a:srgbClr val="FF0000"/>
                </a:solidFill>
                <a:latin typeface="Arial" pitchFamily="34" charset="0"/>
                <a:cs typeface="Arial" pitchFamily="34" charset="0"/>
              </a:rPr>
              <a:t>CYCLOHEXANE (C</a:t>
            </a:r>
            <a:r>
              <a:rPr lang="en-US" sz="2000" b="1" baseline="-25000" dirty="0">
                <a:solidFill>
                  <a:srgbClr val="FF0000"/>
                </a:solidFill>
                <a:latin typeface="Arial" pitchFamily="34" charset="0"/>
                <a:cs typeface="Arial" pitchFamily="34" charset="0"/>
              </a:rPr>
              <a:t>6</a:t>
            </a:r>
            <a:r>
              <a:rPr lang="en-US" sz="2000" b="1" dirty="0">
                <a:solidFill>
                  <a:srgbClr val="FF0000"/>
                </a:solidFill>
                <a:latin typeface="Arial" pitchFamily="34" charset="0"/>
                <a:cs typeface="Arial" pitchFamily="34" charset="0"/>
              </a:rPr>
              <a:t>H</a:t>
            </a:r>
            <a:r>
              <a:rPr lang="en-US" sz="2000" b="1" baseline="-25000" dirty="0">
                <a:solidFill>
                  <a:srgbClr val="FF0000"/>
                </a:solidFill>
                <a:latin typeface="Arial" pitchFamily="34" charset="0"/>
                <a:cs typeface="Arial" pitchFamily="34" charset="0"/>
              </a:rPr>
              <a:t>12</a:t>
            </a:r>
            <a:r>
              <a:rPr lang="en-US" sz="2000" b="1" dirty="0">
                <a:solidFill>
                  <a:srgbClr val="FF0000"/>
                </a:solidFill>
                <a:latin typeface="Arial" pitchFamily="34" charset="0"/>
                <a:cs typeface="Arial" pitchFamily="34" charset="0"/>
              </a:rPr>
              <a:t>)</a:t>
            </a:r>
            <a:endParaRPr lang="en-US" sz="2800" dirty="0">
              <a:latin typeface="Arial" pitchFamily="34" charset="0"/>
              <a:cs typeface="Arial" pitchFamily="34" charset="0"/>
            </a:endParaRPr>
          </a:p>
          <a:p>
            <a:pPr algn="just">
              <a:buNone/>
            </a:pPr>
            <a:r>
              <a:rPr lang="en-US" sz="2000" b="1" dirty="0">
                <a:solidFill>
                  <a:srgbClr val="005828"/>
                </a:solidFill>
                <a:latin typeface="Arial" pitchFamily="34" charset="0"/>
                <a:cs typeface="Arial" pitchFamily="34" charset="0"/>
              </a:rPr>
              <a:t>						       Closed ring</a:t>
            </a:r>
            <a:endParaRPr lang="en-US" sz="2000" dirty="0">
              <a:latin typeface="Arial" pitchFamily="34" charset="0"/>
              <a:cs typeface="Arial" pitchFamily="34" charset="0"/>
            </a:endParaRPr>
          </a:p>
          <a:p>
            <a:pPr algn="just"/>
            <a:endParaRPr lang="en-US" sz="2800" dirty="0">
              <a:latin typeface="Arial" pitchFamily="34" charset="0"/>
              <a:cs typeface="Arial" pitchFamily="34" charset="0"/>
            </a:endParaRPr>
          </a:p>
          <a:p>
            <a:pPr algn="just"/>
            <a:endParaRPr lang="en-US" sz="2800" dirty="0">
              <a:latin typeface="Arial" pitchFamily="34" charset="0"/>
              <a:cs typeface="Arial" pitchFamily="34" charset="0"/>
            </a:endParaRPr>
          </a:p>
          <a:p>
            <a:pPr algn="just"/>
            <a:endParaRPr lang="en-US" sz="2800" dirty="0">
              <a:latin typeface="Arial" pitchFamily="34" charset="0"/>
              <a:cs typeface="Arial" pitchFamily="34" charset="0"/>
            </a:endParaRPr>
          </a:p>
          <a:p>
            <a:pPr algn="just"/>
            <a:endParaRPr lang="en-US" sz="2800" dirty="0">
              <a:latin typeface="Arial" pitchFamily="34" charset="0"/>
              <a:cs typeface="Arial" pitchFamily="34" charset="0"/>
            </a:endParaRPr>
          </a:p>
          <a:p>
            <a:pPr algn="just"/>
            <a:endParaRPr lang="en-US" sz="2800" dirty="0">
              <a:latin typeface="Arial" pitchFamily="34" charset="0"/>
              <a:cs typeface="Arial" pitchFamily="34" charset="0"/>
            </a:endParaRPr>
          </a:p>
          <a:p>
            <a:pPr algn="just">
              <a:buNone/>
            </a:pPr>
            <a:r>
              <a:rPr lang="en-US" sz="2800" dirty="0">
                <a:latin typeface="Arial" pitchFamily="34" charset="0"/>
                <a:cs typeface="Arial" pitchFamily="34" charset="0"/>
              </a:rPr>
              <a:t>	</a:t>
            </a:r>
          </a:p>
        </p:txBody>
      </p:sp>
      <p:pic>
        <p:nvPicPr>
          <p:cNvPr id="6146" name="Picture 2"/>
          <p:cNvPicPr>
            <a:picLocks noChangeAspect="1" noChangeArrowheads="1"/>
          </p:cNvPicPr>
          <p:nvPr/>
        </p:nvPicPr>
        <p:blipFill>
          <a:blip r:embed="rId2"/>
          <a:srcRect b="20678"/>
          <a:stretch>
            <a:fillRect/>
          </a:stretch>
        </p:blipFill>
        <p:spPr bwMode="auto">
          <a:xfrm>
            <a:off x="457200" y="1905000"/>
            <a:ext cx="3352800" cy="1676400"/>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r="38822"/>
          <a:stretch>
            <a:fillRect/>
          </a:stretch>
        </p:blipFill>
        <p:spPr bwMode="auto">
          <a:xfrm>
            <a:off x="4572000" y="1828800"/>
            <a:ext cx="2057400" cy="1854574"/>
          </a:xfrm>
          <a:prstGeom prst="rect">
            <a:avLst/>
          </a:prstGeom>
          <a:noFill/>
          <a:ln w="9525">
            <a:noFill/>
            <a:miter lim="800000"/>
            <a:headEnd/>
            <a:tailEnd/>
          </a:ln>
          <a:effectLst/>
        </p:spPr>
      </p:pic>
      <p:pic>
        <p:nvPicPr>
          <p:cNvPr id="6148" name="Picture 4"/>
          <p:cNvPicPr>
            <a:picLocks noChangeAspect="1" noChangeArrowheads="1"/>
          </p:cNvPicPr>
          <p:nvPr/>
        </p:nvPicPr>
        <p:blipFill>
          <a:blip r:embed="rId4"/>
          <a:srcRect/>
          <a:stretch>
            <a:fillRect/>
          </a:stretch>
        </p:blipFill>
        <p:spPr bwMode="auto">
          <a:xfrm>
            <a:off x="2514600" y="4572000"/>
            <a:ext cx="2447924" cy="2131686"/>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0"/>
            <a:ext cx="8610600" cy="6858000"/>
          </a:xfrm>
        </p:spPr>
        <p:txBody>
          <a:bodyPr>
            <a:noAutofit/>
          </a:bodyPr>
          <a:lstStyle/>
          <a:p>
            <a:pPr algn="just"/>
            <a:r>
              <a:rPr lang="en-US" sz="2400" dirty="0">
                <a:latin typeface="Arial" pitchFamily="34" charset="0"/>
                <a:cs typeface="Arial" pitchFamily="34" charset="0"/>
              </a:rPr>
              <a:t>Since </a:t>
            </a:r>
            <a:r>
              <a:rPr lang="en-US" sz="2400" dirty="0" err="1">
                <a:latin typeface="Arial" pitchFamily="34" charset="0"/>
                <a:cs typeface="Arial" pitchFamily="34" charset="0"/>
              </a:rPr>
              <a:t>valency</a:t>
            </a:r>
            <a:r>
              <a:rPr lang="en-US" sz="2400" dirty="0">
                <a:latin typeface="Arial" pitchFamily="34" charset="0"/>
                <a:cs typeface="Arial" pitchFamily="34" charset="0"/>
              </a:rPr>
              <a:t> of carbon is 4, it can form bonds with other carbon atoms or with atoms of other elements like Hydrogen, Oxygen, Nitrogen and Halogens etc.,</a:t>
            </a:r>
          </a:p>
          <a:p>
            <a:pPr algn="just"/>
            <a:endParaRPr lang="en-US" sz="2400" dirty="0">
              <a:latin typeface="Arial" pitchFamily="34" charset="0"/>
              <a:cs typeface="Arial" pitchFamily="34" charset="0"/>
            </a:endParaRPr>
          </a:p>
          <a:p>
            <a:pPr algn="just">
              <a:buNone/>
            </a:pPr>
            <a:endParaRPr lang="en-US" sz="2400" dirty="0">
              <a:latin typeface="Arial" pitchFamily="34" charset="0"/>
              <a:cs typeface="Arial" pitchFamily="34" charset="0"/>
            </a:endParaRPr>
          </a:p>
          <a:p>
            <a:pPr algn="just">
              <a:buNone/>
            </a:pPr>
            <a:endParaRPr lang="en-US" sz="2400" dirty="0">
              <a:latin typeface="Arial" pitchFamily="34" charset="0"/>
              <a:cs typeface="Arial" pitchFamily="34" charset="0"/>
            </a:endParaRPr>
          </a:p>
          <a:p>
            <a:pPr algn="just">
              <a:buNone/>
            </a:pPr>
            <a:endParaRPr lang="en-US" sz="2400" dirty="0">
              <a:latin typeface="Arial" pitchFamily="34" charset="0"/>
              <a:cs typeface="Arial" pitchFamily="34" charset="0"/>
            </a:endParaRPr>
          </a:p>
          <a:p>
            <a:pPr algn="just">
              <a:spcBef>
                <a:spcPts val="0"/>
              </a:spcBef>
              <a:buNone/>
            </a:pPr>
            <a:endParaRPr lang="en-US" sz="1800" dirty="0">
              <a:latin typeface="Arial" pitchFamily="34" charset="0"/>
              <a:cs typeface="Arial" pitchFamily="34" charset="0"/>
            </a:endParaRPr>
          </a:p>
          <a:p>
            <a:pPr algn="just">
              <a:spcBef>
                <a:spcPts val="0"/>
              </a:spcBef>
              <a:buNone/>
            </a:pPr>
            <a:r>
              <a:rPr lang="en-US" sz="1800" dirty="0">
                <a:latin typeface="Arial" pitchFamily="34" charset="0"/>
                <a:cs typeface="Arial" pitchFamily="34" charset="0"/>
              </a:rPr>
              <a:t>  </a:t>
            </a:r>
            <a:r>
              <a:rPr lang="en-US" sz="1600" b="1" dirty="0">
                <a:solidFill>
                  <a:srgbClr val="FF0000"/>
                </a:solidFill>
                <a:latin typeface="Arial" pitchFamily="34" charset="0"/>
                <a:cs typeface="Arial" pitchFamily="34" charset="0"/>
              </a:rPr>
              <a:t>Chloromethane        Di Chloromethane     Tri Chloromethane    Tetra Chloromethane</a:t>
            </a:r>
          </a:p>
          <a:p>
            <a:pPr algn="just">
              <a:spcBef>
                <a:spcPts val="0"/>
              </a:spcBef>
              <a:buNone/>
            </a:pPr>
            <a:r>
              <a:rPr lang="en-US" sz="2400" b="1" dirty="0">
                <a:solidFill>
                  <a:srgbClr val="005828"/>
                </a:solidFill>
                <a:latin typeface="Arial" pitchFamily="34" charset="0"/>
                <a:cs typeface="Arial" pitchFamily="34" charset="0"/>
              </a:rPr>
              <a:t>   	 </a:t>
            </a:r>
            <a:r>
              <a:rPr lang="en-US" sz="1800" b="1" dirty="0">
                <a:solidFill>
                  <a:srgbClr val="005828"/>
                </a:solidFill>
                <a:latin typeface="Arial" pitchFamily="34" charset="0"/>
                <a:cs typeface="Arial" pitchFamily="34" charset="0"/>
              </a:rPr>
              <a:t>CH</a:t>
            </a:r>
            <a:r>
              <a:rPr lang="en-US" sz="1800" b="1" baseline="-25000" dirty="0">
                <a:solidFill>
                  <a:srgbClr val="005828"/>
                </a:solidFill>
                <a:latin typeface="Arial" pitchFamily="34" charset="0"/>
                <a:cs typeface="Arial" pitchFamily="34" charset="0"/>
              </a:rPr>
              <a:t>3</a:t>
            </a:r>
            <a:r>
              <a:rPr lang="en-US" sz="1800" b="1" dirty="0">
                <a:solidFill>
                  <a:srgbClr val="005828"/>
                </a:solidFill>
                <a:latin typeface="Arial" pitchFamily="34" charset="0"/>
                <a:cs typeface="Arial" pitchFamily="34" charset="0"/>
              </a:rPr>
              <a:t>Cl	           CH</a:t>
            </a:r>
            <a:r>
              <a:rPr lang="en-US" sz="1800" b="1" baseline="-25000" dirty="0">
                <a:solidFill>
                  <a:srgbClr val="005828"/>
                </a:solidFill>
                <a:latin typeface="Arial" pitchFamily="34" charset="0"/>
                <a:cs typeface="Arial" pitchFamily="34" charset="0"/>
              </a:rPr>
              <a:t>2</a:t>
            </a:r>
            <a:r>
              <a:rPr lang="en-US" sz="1800" b="1" dirty="0">
                <a:solidFill>
                  <a:srgbClr val="005828"/>
                </a:solidFill>
                <a:latin typeface="Arial" pitchFamily="34" charset="0"/>
                <a:cs typeface="Arial" pitchFamily="34" charset="0"/>
              </a:rPr>
              <a:t>Cl</a:t>
            </a:r>
            <a:r>
              <a:rPr lang="en-US" sz="1800" b="1" baseline="-25000" dirty="0">
                <a:solidFill>
                  <a:srgbClr val="005828"/>
                </a:solidFill>
                <a:latin typeface="Arial" pitchFamily="34" charset="0"/>
                <a:cs typeface="Arial" pitchFamily="34" charset="0"/>
              </a:rPr>
              <a:t>2</a:t>
            </a:r>
            <a:r>
              <a:rPr lang="en-US" sz="1800" b="1" dirty="0">
                <a:solidFill>
                  <a:srgbClr val="005828"/>
                </a:solidFill>
                <a:latin typeface="Arial" pitchFamily="34" charset="0"/>
                <a:cs typeface="Arial" pitchFamily="34" charset="0"/>
              </a:rPr>
              <a:t> 	  </a:t>
            </a:r>
            <a:r>
              <a:rPr lang="en-US" sz="2400" b="1" dirty="0">
                <a:solidFill>
                  <a:srgbClr val="005828"/>
                </a:solidFill>
                <a:latin typeface="Arial" pitchFamily="34" charset="0"/>
                <a:cs typeface="Arial" pitchFamily="34" charset="0"/>
              </a:rPr>
              <a:t>        </a:t>
            </a:r>
            <a:r>
              <a:rPr lang="en-US" sz="1800" b="1" dirty="0">
                <a:solidFill>
                  <a:srgbClr val="005828"/>
                </a:solidFill>
                <a:latin typeface="Arial" pitchFamily="34" charset="0"/>
                <a:cs typeface="Arial" pitchFamily="34" charset="0"/>
              </a:rPr>
              <a:t>CHCl</a:t>
            </a:r>
            <a:r>
              <a:rPr lang="en-US" sz="1800" b="1" baseline="-25000" dirty="0">
                <a:solidFill>
                  <a:srgbClr val="005828"/>
                </a:solidFill>
                <a:latin typeface="Arial" pitchFamily="34" charset="0"/>
                <a:cs typeface="Arial" pitchFamily="34" charset="0"/>
              </a:rPr>
              <a:t>3		</a:t>
            </a:r>
            <a:r>
              <a:rPr lang="en-US" sz="2400" b="1" dirty="0">
                <a:solidFill>
                  <a:srgbClr val="005828"/>
                </a:solidFill>
                <a:latin typeface="Arial" pitchFamily="34" charset="0"/>
                <a:cs typeface="Arial" pitchFamily="34" charset="0"/>
              </a:rPr>
              <a:t>        </a:t>
            </a:r>
            <a:r>
              <a:rPr lang="en-US" sz="1800" b="1" dirty="0">
                <a:solidFill>
                  <a:srgbClr val="005828"/>
                </a:solidFill>
                <a:latin typeface="Arial" pitchFamily="34" charset="0"/>
                <a:cs typeface="Arial" pitchFamily="34" charset="0"/>
              </a:rPr>
              <a:t>CCl</a:t>
            </a:r>
            <a:r>
              <a:rPr lang="en-US" sz="1800" b="1" baseline="-25000" dirty="0">
                <a:solidFill>
                  <a:srgbClr val="005828"/>
                </a:solidFill>
                <a:latin typeface="Arial" pitchFamily="34" charset="0"/>
                <a:cs typeface="Arial" pitchFamily="34" charset="0"/>
              </a:rPr>
              <a:t>4</a:t>
            </a:r>
          </a:p>
          <a:p>
            <a:pPr algn="just">
              <a:spcBef>
                <a:spcPts val="0"/>
              </a:spcBef>
              <a:buNone/>
            </a:pPr>
            <a:endParaRPr lang="en-US" sz="2400" b="1" dirty="0">
              <a:solidFill>
                <a:srgbClr val="005828"/>
              </a:solidFill>
              <a:latin typeface="Arial" pitchFamily="34" charset="0"/>
              <a:cs typeface="Arial" pitchFamily="34" charset="0"/>
            </a:endParaRPr>
          </a:p>
          <a:p>
            <a:pPr algn="just">
              <a:spcBef>
                <a:spcPts val="0"/>
              </a:spcBef>
              <a:buNone/>
            </a:pPr>
            <a:endParaRPr lang="en-US" sz="2400" dirty="0">
              <a:latin typeface="Arial" pitchFamily="34" charset="0"/>
              <a:cs typeface="Arial" pitchFamily="34" charset="0"/>
            </a:endParaRPr>
          </a:p>
          <a:p>
            <a:pPr algn="just">
              <a:spcBef>
                <a:spcPts val="0"/>
              </a:spcBef>
              <a:buNone/>
            </a:pPr>
            <a:endParaRPr lang="en-US" sz="2400" dirty="0">
              <a:latin typeface="Arial" pitchFamily="34" charset="0"/>
              <a:cs typeface="Arial" pitchFamily="34" charset="0"/>
            </a:endParaRPr>
          </a:p>
          <a:p>
            <a:pPr algn="just">
              <a:spcBef>
                <a:spcPts val="0"/>
              </a:spcBef>
              <a:buNone/>
            </a:pPr>
            <a:endParaRPr lang="en-US" sz="2400" dirty="0">
              <a:latin typeface="Arial" pitchFamily="34" charset="0"/>
              <a:cs typeface="Arial" pitchFamily="34" charset="0"/>
            </a:endParaRPr>
          </a:p>
          <a:p>
            <a:pPr algn="just">
              <a:spcBef>
                <a:spcPts val="0"/>
              </a:spcBef>
              <a:buNone/>
            </a:pPr>
            <a:endParaRPr lang="en-US" sz="1600" b="1" baseline="-25000" dirty="0">
              <a:solidFill>
                <a:srgbClr val="FF0000"/>
              </a:solidFill>
              <a:latin typeface="Arial" pitchFamily="34" charset="0"/>
              <a:cs typeface="Arial" pitchFamily="34" charset="0"/>
            </a:endParaRPr>
          </a:p>
          <a:p>
            <a:pPr algn="just">
              <a:spcBef>
                <a:spcPts val="0"/>
              </a:spcBef>
              <a:buNone/>
            </a:pPr>
            <a:endParaRPr lang="en-US" sz="1600" b="1" baseline="30000" dirty="0">
              <a:solidFill>
                <a:srgbClr val="FF0000"/>
              </a:solidFill>
              <a:latin typeface="Arial" pitchFamily="34" charset="0"/>
              <a:cs typeface="Arial" pitchFamily="34" charset="0"/>
            </a:endParaRPr>
          </a:p>
          <a:p>
            <a:pPr algn="just">
              <a:spcBef>
                <a:spcPts val="0"/>
              </a:spcBef>
              <a:buNone/>
            </a:pPr>
            <a:r>
              <a:rPr lang="en-US" sz="1600" b="1" dirty="0">
                <a:solidFill>
                  <a:srgbClr val="FF0000"/>
                </a:solidFill>
                <a:latin typeface="Arial" pitchFamily="34" charset="0"/>
                <a:cs typeface="Arial" pitchFamily="34" charset="0"/>
              </a:rPr>
              <a:t>    Carbon Disulphide	</a:t>
            </a:r>
            <a:r>
              <a:rPr lang="en-US" sz="1400" b="1" dirty="0">
                <a:solidFill>
                  <a:srgbClr val="FF0000"/>
                </a:solidFill>
                <a:latin typeface="Arial" pitchFamily="34" charset="0"/>
                <a:cs typeface="Arial" pitchFamily="34" charset="0"/>
              </a:rPr>
              <a:t>           Carbon Dioxide		 	Urea</a:t>
            </a:r>
          </a:p>
          <a:p>
            <a:pPr algn="just">
              <a:spcBef>
                <a:spcPts val="0"/>
              </a:spcBef>
              <a:buNone/>
            </a:pPr>
            <a:r>
              <a:rPr lang="en-US" sz="1800" b="1" dirty="0">
                <a:solidFill>
                  <a:srgbClr val="006666"/>
                </a:solidFill>
                <a:latin typeface="Arial" pitchFamily="34" charset="0"/>
                <a:cs typeface="Arial" pitchFamily="34" charset="0"/>
              </a:rPr>
              <a:t>	 	CS</a:t>
            </a:r>
            <a:r>
              <a:rPr lang="en-US" sz="1800" b="1" baseline="-25000" dirty="0">
                <a:solidFill>
                  <a:srgbClr val="006666"/>
                </a:solidFill>
                <a:latin typeface="Arial" pitchFamily="34" charset="0"/>
                <a:cs typeface="Arial" pitchFamily="34" charset="0"/>
              </a:rPr>
              <a:t>2 </a:t>
            </a:r>
            <a:r>
              <a:rPr lang="en-US" sz="1800" b="1" dirty="0">
                <a:solidFill>
                  <a:srgbClr val="006666"/>
                </a:solidFill>
                <a:latin typeface="Arial" pitchFamily="34" charset="0"/>
                <a:cs typeface="Arial" pitchFamily="34" charset="0"/>
              </a:rPr>
              <a:t>			CO</a:t>
            </a:r>
            <a:r>
              <a:rPr lang="en-US" sz="1800" b="1" baseline="-25000" dirty="0">
                <a:solidFill>
                  <a:srgbClr val="006666"/>
                </a:solidFill>
                <a:latin typeface="Arial" pitchFamily="34" charset="0"/>
                <a:cs typeface="Arial" pitchFamily="34" charset="0"/>
              </a:rPr>
              <a:t>2</a:t>
            </a:r>
            <a:r>
              <a:rPr lang="en-US" sz="1800" b="1" dirty="0">
                <a:solidFill>
                  <a:srgbClr val="006666"/>
                </a:solidFill>
                <a:latin typeface="Arial" pitchFamily="34" charset="0"/>
                <a:cs typeface="Arial" pitchFamily="34" charset="0"/>
              </a:rPr>
              <a:t> 			           CO(NH</a:t>
            </a:r>
            <a:r>
              <a:rPr lang="en-US" sz="1800" b="1" baseline="-25000" dirty="0">
                <a:solidFill>
                  <a:srgbClr val="006666"/>
                </a:solidFill>
                <a:latin typeface="Arial" pitchFamily="34" charset="0"/>
                <a:cs typeface="Arial" pitchFamily="34" charset="0"/>
              </a:rPr>
              <a:t>2</a:t>
            </a:r>
            <a:r>
              <a:rPr lang="en-US" sz="1800" b="1" dirty="0">
                <a:solidFill>
                  <a:srgbClr val="006666"/>
                </a:solidFill>
                <a:latin typeface="Arial" pitchFamily="34" charset="0"/>
                <a:cs typeface="Arial" pitchFamily="34" charset="0"/>
              </a:rPr>
              <a:t>)</a:t>
            </a:r>
            <a:r>
              <a:rPr lang="en-US" sz="1800" b="1" baseline="-25000" dirty="0">
                <a:solidFill>
                  <a:srgbClr val="006666"/>
                </a:solidFill>
                <a:latin typeface="Arial" pitchFamily="34" charset="0"/>
                <a:cs typeface="Arial" pitchFamily="34" charset="0"/>
              </a:rPr>
              <a:t>2</a:t>
            </a:r>
            <a:endParaRPr lang="en-US" b="1" dirty="0">
              <a:solidFill>
                <a:srgbClr val="006666"/>
              </a:solidFill>
              <a:latin typeface="Arial" pitchFamily="34" charset="0"/>
              <a:cs typeface="Arial" pitchFamily="34" charset="0"/>
            </a:endParaRPr>
          </a:p>
          <a:p>
            <a:pPr algn="just">
              <a:spcBef>
                <a:spcPts val="0"/>
              </a:spcBef>
            </a:pPr>
            <a:endParaRPr lang="en-US" sz="2800" dirty="0">
              <a:latin typeface="Arial" pitchFamily="34" charset="0"/>
              <a:cs typeface="Arial" pitchFamily="34" charset="0"/>
            </a:endParaRPr>
          </a:p>
          <a:p>
            <a:pPr algn="just"/>
            <a:endParaRPr lang="en-US" sz="2800" dirty="0">
              <a:latin typeface="Arial" pitchFamily="34" charset="0"/>
              <a:cs typeface="Arial" pitchFamily="34" charset="0"/>
            </a:endParaRPr>
          </a:p>
          <a:p>
            <a:pPr algn="just"/>
            <a:endParaRPr lang="en-US" sz="2800" dirty="0">
              <a:latin typeface="Arial" pitchFamily="34" charset="0"/>
              <a:cs typeface="Arial" pitchFamily="34" charset="0"/>
            </a:endParaRPr>
          </a:p>
          <a:p>
            <a:pPr algn="just"/>
            <a:endParaRPr lang="en-US" sz="2800" dirty="0">
              <a:latin typeface="Arial" pitchFamily="34" charset="0"/>
              <a:cs typeface="Arial" pitchFamily="34" charset="0"/>
            </a:endParaRPr>
          </a:p>
          <a:p>
            <a:pPr algn="just"/>
            <a:endParaRPr lang="en-US" sz="2800" dirty="0">
              <a:latin typeface="Arial" pitchFamily="34" charset="0"/>
              <a:cs typeface="Arial" pitchFamily="34" charset="0"/>
            </a:endParaRPr>
          </a:p>
          <a:p>
            <a:pPr algn="just"/>
            <a:endParaRPr lang="en-US" sz="2800" dirty="0">
              <a:latin typeface="Arial" pitchFamily="34" charset="0"/>
              <a:cs typeface="Arial" pitchFamily="34" charset="0"/>
            </a:endParaRPr>
          </a:p>
          <a:p>
            <a:pPr algn="just">
              <a:buNone/>
            </a:pPr>
            <a:r>
              <a:rPr lang="en-US" sz="2800" dirty="0">
                <a:latin typeface="Arial" pitchFamily="34" charset="0"/>
                <a:cs typeface="Arial" pitchFamily="34" charset="0"/>
              </a:rPr>
              <a:t>	</a:t>
            </a:r>
          </a:p>
        </p:txBody>
      </p:sp>
      <p:pic>
        <p:nvPicPr>
          <p:cNvPr id="4098" name="Picture 2" descr="F:\ECONTENT CHEMISTRY\download.jpg"/>
          <p:cNvPicPr>
            <a:picLocks noChangeAspect="1" noChangeArrowheads="1"/>
          </p:cNvPicPr>
          <p:nvPr/>
        </p:nvPicPr>
        <p:blipFill>
          <a:blip r:embed="rId2">
            <a:grayscl/>
          </a:blip>
          <a:srcRect b="21951"/>
          <a:stretch>
            <a:fillRect/>
          </a:stretch>
        </p:blipFill>
        <p:spPr bwMode="auto">
          <a:xfrm>
            <a:off x="381000" y="1371600"/>
            <a:ext cx="1952625" cy="1828800"/>
          </a:xfrm>
          <a:prstGeom prst="rect">
            <a:avLst/>
          </a:prstGeom>
          <a:noFill/>
          <a:ln>
            <a:noFill/>
          </a:ln>
        </p:spPr>
      </p:pic>
      <p:pic>
        <p:nvPicPr>
          <p:cNvPr id="4099" name="Picture 3" descr="F:\ECONTENT CHEMISTRY\main-qimg-ebc68dd8609e113f53a02d0c24625955.jpg"/>
          <p:cNvPicPr>
            <a:picLocks noChangeAspect="1" noChangeArrowheads="1"/>
          </p:cNvPicPr>
          <p:nvPr/>
        </p:nvPicPr>
        <p:blipFill>
          <a:blip r:embed="rId3"/>
          <a:srcRect/>
          <a:stretch>
            <a:fillRect/>
          </a:stretch>
        </p:blipFill>
        <p:spPr bwMode="auto">
          <a:xfrm>
            <a:off x="4572000" y="1447800"/>
            <a:ext cx="1352550" cy="1407882"/>
          </a:xfrm>
          <a:prstGeom prst="rect">
            <a:avLst/>
          </a:prstGeom>
          <a:noFill/>
        </p:spPr>
      </p:pic>
      <p:pic>
        <p:nvPicPr>
          <p:cNvPr id="4100" name="Picture 4" descr="F:\ECONTENT CHEMISTRY\75-15-0.png"/>
          <p:cNvPicPr>
            <a:picLocks noChangeAspect="1" noChangeArrowheads="1"/>
          </p:cNvPicPr>
          <p:nvPr/>
        </p:nvPicPr>
        <p:blipFill>
          <a:blip r:embed="rId4"/>
          <a:srcRect t="25642" b="34063"/>
          <a:stretch>
            <a:fillRect/>
          </a:stretch>
        </p:blipFill>
        <p:spPr bwMode="auto">
          <a:xfrm>
            <a:off x="609600" y="4953000"/>
            <a:ext cx="1828800" cy="550565"/>
          </a:xfrm>
          <a:prstGeom prst="rect">
            <a:avLst/>
          </a:prstGeom>
          <a:noFill/>
        </p:spPr>
      </p:pic>
      <p:pic>
        <p:nvPicPr>
          <p:cNvPr id="4102" name="Picture 6" descr="F:\ECONTENT CHEMISTRY\download (2).png"/>
          <p:cNvPicPr>
            <a:picLocks noChangeAspect="1" noChangeArrowheads="1"/>
          </p:cNvPicPr>
          <p:nvPr/>
        </p:nvPicPr>
        <p:blipFill>
          <a:blip r:embed="rId5"/>
          <a:srcRect l="19938" r="25234" b="35202"/>
          <a:stretch>
            <a:fillRect/>
          </a:stretch>
        </p:blipFill>
        <p:spPr bwMode="auto">
          <a:xfrm>
            <a:off x="2590800" y="1219200"/>
            <a:ext cx="1524000" cy="1801090"/>
          </a:xfrm>
          <a:prstGeom prst="rect">
            <a:avLst/>
          </a:prstGeom>
          <a:noFill/>
        </p:spPr>
      </p:pic>
      <p:pic>
        <p:nvPicPr>
          <p:cNvPr id="4103" name="Picture 7" descr="F:\ECONTENT CHEMISTRY\download (3).png"/>
          <p:cNvPicPr>
            <a:picLocks noChangeAspect="1" noChangeArrowheads="1"/>
          </p:cNvPicPr>
          <p:nvPr/>
        </p:nvPicPr>
        <p:blipFill>
          <a:blip r:embed="rId6"/>
          <a:srcRect/>
          <a:stretch>
            <a:fillRect/>
          </a:stretch>
        </p:blipFill>
        <p:spPr bwMode="auto">
          <a:xfrm>
            <a:off x="6858000" y="1447800"/>
            <a:ext cx="1295400" cy="1295400"/>
          </a:xfrm>
          <a:prstGeom prst="rect">
            <a:avLst/>
          </a:prstGeom>
          <a:noFill/>
        </p:spPr>
      </p:pic>
      <p:pic>
        <p:nvPicPr>
          <p:cNvPr id="4104" name="Picture 8" descr="F:\ECONTENT CHEMISTRY\download (4).png"/>
          <p:cNvPicPr>
            <a:picLocks noChangeAspect="1" noChangeArrowheads="1"/>
          </p:cNvPicPr>
          <p:nvPr/>
        </p:nvPicPr>
        <p:blipFill>
          <a:blip r:embed="rId7"/>
          <a:srcRect/>
          <a:stretch>
            <a:fillRect/>
          </a:stretch>
        </p:blipFill>
        <p:spPr bwMode="auto">
          <a:xfrm>
            <a:off x="6705600" y="4343400"/>
            <a:ext cx="2095500" cy="1347107"/>
          </a:xfrm>
          <a:prstGeom prst="rect">
            <a:avLst/>
          </a:prstGeom>
          <a:noFill/>
        </p:spPr>
      </p:pic>
      <p:pic>
        <p:nvPicPr>
          <p:cNvPr id="4105" name="Picture 9" descr="F:\ECONTENT CHEMISTRY\images.png"/>
          <p:cNvPicPr>
            <a:picLocks noChangeAspect="1" noChangeArrowheads="1"/>
          </p:cNvPicPr>
          <p:nvPr/>
        </p:nvPicPr>
        <p:blipFill>
          <a:blip r:embed="rId8"/>
          <a:srcRect l="16260" t="36507" r="17398" b="42632"/>
          <a:stretch>
            <a:fillRect/>
          </a:stretch>
        </p:blipFill>
        <p:spPr bwMode="auto">
          <a:xfrm>
            <a:off x="3124200" y="4724400"/>
            <a:ext cx="2590800" cy="7620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dirty="0">
                <a:solidFill>
                  <a:srgbClr val="FF0000"/>
                </a:solidFill>
                <a:latin typeface="Arial" pitchFamily="34" charset="0"/>
                <a:cs typeface="Arial" pitchFamily="34" charset="0"/>
              </a:rPr>
              <a:t>Isomerism</a:t>
            </a:r>
            <a:endParaRPr lang="en-IN" dirty="0">
              <a:solidFill>
                <a:srgbClr val="FF0000"/>
              </a:solidFill>
              <a:latin typeface="Arial" pitchFamily="34" charset="0"/>
              <a:cs typeface="Arial" pitchFamily="34" charset="0"/>
            </a:endParaRPr>
          </a:p>
        </p:txBody>
      </p:sp>
      <p:sp>
        <p:nvSpPr>
          <p:cNvPr id="3" name="Content Placeholder 2"/>
          <p:cNvSpPr>
            <a:spLocks noGrp="1"/>
          </p:cNvSpPr>
          <p:nvPr>
            <p:ph idx="1"/>
          </p:nvPr>
        </p:nvSpPr>
        <p:spPr>
          <a:xfrm>
            <a:off x="457200" y="685800"/>
            <a:ext cx="8229600" cy="5867400"/>
          </a:xfrm>
        </p:spPr>
        <p:txBody>
          <a:bodyPr>
            <a:normAutofit/>
          </a:bodyPr>
          <a:lstStyle/>
          <a:p>
            <a:pPr algn="just"/>
            <a:r>
              <a:rPr lang="en-US" sz="2400" dirty="0">
                <a:latin typeface="Arial" pitchFamily="34" charset="0"/>
                <a:cs typeface="Arial" pitchFamily="34" charset="0"/>
              </a:rPr>
              <a:t>Compounds having same molecular formula but different structures are known as </a:t>
            </a:r>
            <a:r>
              <a:rPr lang="en-US" sz="2400" b="1" i="1" dirty="0">
                <a:solidFill>
                  <a:srgbClr val="456B56"/>
                </a:solidFill>
                <a:latin typeface="Arial" pitchFamily="34" charset="0"/>
                <a:cs typeface="Arial" pitchFamily="34" charset="0"/>
              </a:rPr>
              <a:t>Isomers</a:t>
            </a:r>
            <a:r>
              <a:rPr lang="en-US" sz="2400" dirty="0">
                <a:latin typeface="Arial" pitchFamily="34" charset="0"/>
                <a:cs typeface="Arial" pitchFamily="34" charset="0"/>
              </a:rPr>
              <a:t> and this phenomenon is called </a:t>
            </a:r>
            <a:r>
              <a:rPr lang="en-US" sz="2400" b="1" i="1" dirty="0">
                <a:solidFill>
                  <a:srgbClr val="456B56"/>
                </a:solidFill>
                <a:latin typeface="Arial" pitchFamily="34" charset="0"/>
                <a:cs typeface="Arial" pitchFamily="34" charset="0"/>
              </a:rPr>
              <a:t>Isomerism</a:t>
            </a:r>
          </a:p>
          <a:p>
            <a:pPr algn="just">
              <a:buNone/>
            </a:pPr>
            <a:r>
              <a:rPr lang="en-US" sz="2000" dirty="0">
                <a:latin typeface="Arial" pitchFamily="34" charset="0"/>
                <a:cs typeface="Arial" pitchFamily="34" charset="0"/>
              </a:rPr>
              <a:t>Ex : Butane – C</a:t>
            </a:r>
            <a:r>
              <a:rPr lang="en-US" sz="2000" baseline="-25000" dirty="0">
                <a:latin typeface="Arial" pitchFamily="34" charset="0"/>
                <a:cs typeface="Arial" pitchFamily="34" charset="0"/>
              </a:rPr>
              <a:t>4</a:t>
            </a:r>
            <a:r>
              <a:rPr lang="en-US" sz="2000" dirty="0">
                <a:latin typeface="Arial" pitchFamily="34" charset="0"/>
                <a:cs typeface="Arial" pitchFamily="34" charset="0"/>
              </a:rPr>
              <a:t>H</a:t>
            </a:r>
            <a:r>
              <a:rPr lang="en-US" sz="2000" baseline="-25000" dirty="0">
                <a:latin typeface="Arial" pitchFamily="34" charset="0"/>
                <a:cs typeface="Arial" pitchFamily="34" charset="0"/>
              </a:rPr>
              <a:t>10</a:t>
            </a:r>
            <a:r>
              <a:rPr lang="en-US" sz="2000" dirty="0">
                <a:latin typeface="Arial" pitchFamily="34" charset="0"/>
                <a:cs typeface="Arial" pitchFamily="34" charset="0"/>
              </a:rPr>
              <a:t> has 2 isomers. They are Normal Butane and </a:t>
            </a:r>
            <a:r>
              <a:rPr lang="en-US" sz="2000" dirty="0" err="1">
                <a:latin typeface="Arial" pitchFamily="34" charset="0"/>
                <a:cs typeface="Arial" pitchFamily="34" charset="0"/>
              </a:rPr>
              <a:t>isobutane</a:t>
            </a:r>
            <a:r>
              <a:rPr lang="en-US" sz="2000" dirty="0">
                <a:latin typeface="Arial" pitchFamily="34" charset="0"/>
                <a:cs typeface="Arial" pitchFamily="34" charset="0"/>
              </a:rPr>
              <a:t>.</a:t>
            </a: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r>
              <a:rPr lang="en-US" sz="2000" dirty="0">
                <a:latin typeface="Arial" pitchFamily="34" charset="0"/>
                <a:cs typeface="Arial" pitchFamily="34" charset="0"/>
              </a:rPr>
              <a:t>				     				</a:t>
            </a:r>
          </a:p>
          <a:p>
            <a:pPr algn="just">
              <a:buNone/>
            </a:pPr>
            <a:r>
              <a:rPr lang="en-US" sz="2400" dirty="0">
                <a:latin typeface="Arial" pitchFamily="34" charset="0"/>
                <a:cs typeface="Arial" pitchFamily="34" charset="0"/>
              </a:rPr>
              <a:t>	</a:t>
            </a:r>
            <a:r>
              <a:rPr lang="en-US" sz="2400" b="1" dirty="0">
                <a:solidFill>
                  <a:srgbClr val="005828"/>
                </a:solidFill>
                <a:latin typeface="Arial" pitchFamily="34" charset="0"/>
                <a:cs typeface="Arial" pitchFamily="34" charset="0"/>
              </a:rPr>
              <a:t>Normal butane C</a:t>
            </a:r>
            <a:r>
              <a:rPr lang="en-US" sz="2400" b="1" baseline="-25000" dirty="0">
                <a:solidFill>
                  <a:srgbClr val="005828"/>
                </a:solidFill>
                <a:latin typeface="Arial" pitchFamily="34" charset="0"/>
                <a:cs typeface="Arial" pitchFamily="34" charset="0"/>
              </a:rPr>
              <a:t>4</a:t>
            </a:r>
            <a:r>
              <a:rPr lang="en-US" sz="2400" b="1" dirty="0">
                <a:solidFill>
                  <a:srgbClr val="005828"/>
                </a:solidFill>
                <a:latin typeface="Arial" pitchFamily="34" charset="0"/>
                <a:cs typeface="Arial" pitchFamily="34" charset="0"/>
              </a:rPr>
              <a:t>H</a:t>
            </a:r>
            <a:r>
              <a:rPr lang="en-US" sz="2400" b="1" baseline="-25000" dirty="0">
                <a:solidFill>
                  <a:srgbClr val="005828"/>
                </a:solidFill>
                <a:latin typeface="Arial" pitchFamily="34" charset="0"/>
                <a:cs typeface="Arial" pitchFamily="34" charset="0"/>
              </a:rPr>
              <a:t>10</a:t>
            </a:r>
            <a:r>
              <a:rPr lang="en-US" sz="2400" b="1" dirty="0">
                <a:solidFill>
                  <a:srgbClr val="005828"/>
                </a:solidFill>
                <a:latin typeface="Arial" pitchFamily="34" charset="0"/>
                <a:cs typeface="Arial" pitchFamily="34" charset="0"/>
              </a:rPr>
              <a:t> 		</a:t>
            </a:r>
            <a:r>
              <a:rPr lang="en-US" sz="2400" b="1" dirty="0" err="1">
                <a:solidFill>
                  <a:srgbClr val="005828"/>
                </a:solidFill>
                <a:latin typeface="Arial" pitchFamily="34" charset="0"/>
                <a:cs typeface="Arial" pitchFamily="34" charset="0"/>
              </a:rPr>
              <a:t>Isobutane</a:t>
            </a:r>
            <a:r>
              <a:rPr lang="en-US" sz="2400" b="1" dirty="0">
                <a:solidFill>
                  <a:srgbClr val="005828"/>
                </a:solidFill>
                <a:latin typeface="Arial" pitchFamily="34" charset="0"/>
                <a:cs typeface="Arial" pitchFamily="34" charset="0"/>
              </a:rPr>
              <a:t>  C</a:t>
            </a:r>
            <a:r>
              <a:rPr lang="en-US" sz="2400" b="1" baseline="-25000" dirty="0">
                <a:solidFill>
                  <a:srgbClr val="005828"/>
                </a:solidFill>
                <a:latin typeface="Arial" pitchFamily="34" charset="0"/>
                <a:cs typeface="Arial" pitchFamily="34" charset="0"/>
              </a:rPr>
              <a:t>4</a:t>
            </a:r>
            <a:r>
              <a:rPr lang="en-US" sz="2400" b="1" dirty="0">
                <a:solidFill>
                  <a:srgbClr val="005828"/>
                </a:solidFill>
                <a:latin typeface="Arial" pitchFamily="34" charset="0"/>
                <a:cs typeface="Arial" pitchFamily="34" charset="0"/>
              </a:rPr>
              <a:t>H</a:t>
            </a:r>
            <a:r>
              <a:rPr lang="en-US" sz="2400" b="1" baseline="-25000" dirty="0">
                <a:solidFill>
                  <a:srgbClr val="005828"/>
                </a:solidFill>
                <a:latin typeface="Arial" pitchFamily="34" charset="0"/>
                <a:cs typeface="Arial" pitchFamily="34" charset="0"/>
              </a:rPr>
              <a:t>10</a:t>
            </a:r>
            <a:r>
              <a:rPr lang="en-US" sz="2400" b="1" dirty="0">
                <a:solidFill>
                  <a:srgbClr val="005828"/>
                </a:solidFill>
                <a:latin typeface="Arial" pitchFamily="34" charset="0"/>
                <a:cs typeface="Arial" pitchFamily="34" charset="0"/>
              </a:rPr>
              <a:t> </a:t>
            </a:r>
            <a:r>
              <a:rPr lang="en-US" sz="2400" dirty="0">
                <a:latin typeface="Arial" pitchFamily="34" charset="0"/>
                <a:cs typeface="Arial" pitchFamily="34" charset="0"/>
              </a:rPr>
              <a:t>   </a:t>
            </a:r>
          </a:p>
          <a:p>
            <a:pPr algn="just">
              <a:buNone/>
            </a:pPr>
            <a:endParaRPr lang="en-US" sz="2000" b="1" i="1" dirty="0">
              <a:solidFill>
                <a:srgbClr val="456B56"/>
              </a:solidFill>
              <a:latin typeface="Arial" pitchFamily="34" charset="0"/>
              <a:cs typeface="Arial" pitchFamily="34" charset="0"/>
            </a:endParaRPr>
          </a:p>
        </p:txBody>
      </p:sp>
      <p:pic>
        <p:nvPicPr>
          <p:cNvPr id="7" name="Picture 2"/>
          <p:cNvPicPr>
            <a:picLocks noChangeAspect="1" noChangeArrowheads="1"/>
          </p:cNvPicPr>
          <p:nvPr/>
        </p:nvPicPr>
        <p:blipFill>
          <a:blip r:embed="rId2"/>
          <a:srcRect l="49495" r="23232"/>
          <a:stretch>
            <a:fillRect/>
          </a:stretch>
        </p:blipFill>
        <p:spPr bwMode="auto">
          <a:xfrm>
            <a:off x="4724400" y="2339445"/>
            <a:ext cx="2660332" cy="2689755"/>
          </a:xfrm>
          <a:prstGeom prst="rect">
            <a:avLst/>
          </a:prstGeom>
          <a:noFill/>
          <a:ln w="9525">
            <a:noFill/>
            <a:miter lim="800000"/>
            <a:headEnd/>
            <a:tailEnd/>
          </a:ln>
          <a:effectLst/>
        </p:spPr>
      </p:pic>
      <p:pic>
        <p:nvPicPr>
          <p:cNvPr id="7170" name="Picture 2"/>
          <p:cNvPicPr>
            <a:picLocks noChangeAspect="1" noChangeArrowheads="1"/>
          </p:cNvPicPr>
          <p:nvPr/>
        </p:nvPicPr>
        <p:blipFill>
          <a:blip r:embed="rId2"/>
          <a:srcRect r="66666" b="37726"/>
          <a:stretch>
            <a:fillRect/>
          </a:stretch>
        </p:blipFill>
        <p:spPr bwMode="auto">
          <a:xfrm>
            <a:off x="914400" y="2438400"/>
            <a:ext cx="3402106" cy="17526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dirty="0">
                <a:solidFill>
                  <a:srgbClr val="FF0000"/>
                </a:solidFill>
                <a:latin typeface="Arial" pitchFamily="34" charset="0"/>
                <a:cs typeface="Arial" pitchFamily="34" charset="0"/>
              </a:rPr>
              <a:t>Isomerism</a:t>
            </a:r>
            <a:endParaRPr lang="en-IN" dirty="0">
              <a:solidFill>
                <a:srgbClr val="FF0000"/>
              </a:solidFill>
              <a:latin typeface="Arial" pitchFamily="34" charset="0"/>
              <a:cs typeface="Arial" pitchFamily="34" charset="0"/>
            </a:endParaRPr>
          </a:p>
        </p:txBody>
      </p:sp>
      <p:sp>
        <p:nvSpPr>
          <p:cNvPr id="3" name="Content Placeholder 2"/>
          <p:cNvSpPr>
            <a:spLocks noGrp="1"/>
          </p:cNvSpPr>
          <p:nvPr>
            <p:ph idx="1"/>
          </p:nvPr>
        </p:nvSpPr>
        <p:spPr>
          <a:xfrm>
            <a:off x="457200" y="685800"/>
            <a:ext cx="8229600" cy="5867400"/>
          </a:xfrm>
        </p:spPr>
        <p:txBody>
          <a:bodyPr>
            <a:normAutofit/>
          </a:bodyPr>
          <a:lstStyle/>
          <a:p>
            <a:pPr algn="just"/>
            <a:r>
              <a:rPr lang="en-US" sz="2400" dirty="0">
                <a:latin typeface="Arial" pitchFamily="34" charset="0"/>
                <a:cs typeface="Arial" pitchFamily="34" charset="0"/>
              </a:rPr>
              <a:t>Compounds having same molecular formula but different structures are known as </a:t>
            </a:r>
            <a:r>
              <a:rPr lang="en-US" sz="2400" b="1" i="1" dirty="0">
                <a:solidFill>
                  <a:srgbClr val="456B56"/>
                </a:solidFill>
                <a:latin typeface="Arial" pitchFamily="34" charset="0"/>
                <a:cs typeface="Arial" pitchFamily="34" charset="0"/>
              </a:rPr>
              <a:t>Isomers</a:t>
            </a:r>
            <a:r>
              <a:rPr lang="en-US" sz="2400" dirty="0">
                <a:latin typeface="Arial" pitchFamily="34" charset="0"/>
                <a:cs typeface="Arial" pitchFamily="34" charset="0"/>
              </a:rPr>
              <a:t> and this phenomenon is called </a:t>
            </a:r>
            <a:r>
              <a:rPr lang="en-US" sz="2400" b="1" i="1" dirty="0">
                <a:solidFill>
                  <a:srgbClr val="456B56"/>
                </a:solidFill>
                <a:latin typeface="Arial" pitchFamily="34" charset="0"/>
                <a:cs typeface="Arial" pitchFamily="34" charset="0"/>
              </a:rPr>
              <a:t>Isomerism</a:t>
            </a:r>
          </a:p>
          <a:p>
            <a:pPr algn="just">
              <a:buNone/>
            </a:pPr>
            <a:r>
              <a:rPr lang="en-US" sz="2000" dirty="0">
                <a:latin typeface="Arial" pitchFamily="34" charset="0"/>
                <a:cs typeface="Arial" pitchFamily="34" charset="0"/>
              </a:rPr>
              <a:t>Ex : </a:t>
            </a:r>
            <a:r>
              <a:rPr lang="en-US" sz="2000" dirty="0" err="1">
                <a:latin typeface="Arial" pitchFamily="34" charset="0"/>
                <a:cs typeface="Arial" pitchFamily="34" charset="0"/>
              </a:rPr>
              <a:t>Butene</a:t>
            </a:r>
            <a:r>
              <a:rPr lang="en-US" sz="2000" dirty="0">
                <a:latin typeface="Arial" pitchFamily="34" charset="0"/>
                <a:cs typeface="Arial" pitchFamily="34" charset="0"/>
              </a:rPr>
              <a:t> – C</a:t>
            </a:r>
            <a:r>
              <a:rPr lang="en-US" sz="2000" baseline="-25000" dirty="0">
                <a:latin typeface="Arial" pitchFamily="34" charset="0"/>
                <a:cs typeface="Arial" pitchFamily="34" charset="0"/>
              </a:rPr>
              <a:t>4</a:t>
            </a:r>
            <a:r>
              <a:rPr lang="en-US" sz="2000" dirty="0">
                <a:latin typeface="Arial" pitchFamily="34" charset="0"/>
                <a:cs typeface="Arial" pitchFamily="34" charset="0"/>
              </a:rPr>
              <a:t>H</a:t>
            </a:r>
            <a:r>
              <a:rPr lang="en-US" sz="2000" baseline="-25000" dirty="0">
                <a:latin typeface="Arial" pitchFamily="34" charset="0"/>
                <a:cs typeface="Arial" pitchFamily="34" charset="0"/>
              </a:rPr>
              <a:t>10</a:t>
            </a:r>
            <a:r>
              <a:rPr lang="en-US" sz="2000" dirty="0">
                <a:latin typeface="Arial" pitchFamily="34" charset="0"/>
                <a:cs typeface="Arial" pitchFamily="34" charset="0"/>
              </a:rPr>
              <a:t> has 2 isomers. They are Normal Butane and </a:t>
            </a:r>
            <a:r>
              <a:rPr lang="en-US" sz="2000" dirty="0" err="1">
                <a:latin typeface="Arial" pitchFamily="34" charset="0"/>
                <a:cs typeface="Arial" pitchFamily="34" charset="0"/>
              </a:rPr>
              <a:t>isobutane</a:t>
            </a:r>
            <a:r>
              <a:rPr lang="en-US" sz="2000" dirty="0">
                <a:latin typeface="Arial" pitchFamily="34" charset="0"/>
                <a:cs typeface="Arial" pitchFamily="34" charset="0"/>
              </a:rPr>
              <a:t>.</a:t>
            </a: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r>
              <a:rPr lang="en-US" sz="2000" dirty="0">
                <a:latin typeface="Arial" pitchFamily="34" charset="0"/>
                <a:cs typeface="Arial" pitchFamily="34" charset="0"/>
              </a:rPr>
              <a:t>				     				</a:t>
            </a:r>
          </a:p>
          <a:p>
            <a:pPr algn="just">
              <a:buNone/>
            </a:pPr>
            <a:r>
              <a:rPr lang="en-US" sz="2400" dirty="0">
                <a:latin typeface="Arial" pitchFamily="34" charset="0"/>
                <a:cs typeface="Arial" pitchFamily="34" charset="0"/>
              </a:rPr>
              <a:t>	</a:t>
            </a:r>
            <a:r>
              <a:rPr lang="en-US" sz="2400" b="1" dirty="0">
                <a:solidFill>
                  <a:srgbClr val="005828"/>
                </a:solidFill>
                <a:latin typeface="Arial" pitchFamily="34" charset="0"/>
                <a:cs typeface="Arial" pitchFamily="34" charset="0"/>
              </a:rPr>
              <a:t>Normal butane C</a:t>
            </a:r>
            <a:r>
              <a:rPr lang="en-US" sz="2400" b="1" baseline="-25000" dirty="0">
                <a:solidFill>
                  <a:srgbClr val="005828"/>
                </a:solidFill>
                <a:latin typeface="Arial" pitchFamily="34" charset="0"/>
                <a:cs typeface="Arial" pitchFamily="34" charset="0"/>
              </a:rPr>
              <a:t>4</a:t>
            </a:r>
            <a:r>
              <a:rPr lang="en-US" sz="2400" b="1" dirty="0">
                <a:solidFill>
                  <a:srgbClr val="005828"/>
                </a:solidFill>
                <a:latin typeface="Arial" pitchFamily="34" charset="0"/>
                <a:cs typeface="Arial" pitchFamily="34" charset="0"/>
              </a:rPr>
              <a:t>H</a:t>
            </a:r>
            <a:r>
              <a:rPr lang="en-US" sz="2400" b="1" baseline="-25000" dirty="0">
                <a:solidFill>
                  <a:srgbClr val="005828"/>
                </a:solidFill>
                <a:latin typeface="Arial" pitchFamily="34" charset="0"/>
                <a:cs typeface="Arial" pitchFamily="34" charset="0"/>
              </a:rPr>
              <a:t>10</a:t>
            </a:r>
            <a:r>
              <a:rPr lang="en-US" sz="2400" b="1" dirty="0">
                <a:solidFill>
                  <a:srgbClr val="005828"/>
                </a:solidFill>
                <a:latin typeface="Arial" pitchFamily="34" charset="0"/>
                <a:cs typeface="Arial" pitchFamily="34" charset="0"/>
              </a:rPr>
              <a:t> 		</a:t>
            </a:r>
            <a:r>
              <a:rPr lang="en-US" sz="2400" b="1" dirty="0" err="1">
                <a:solidFill>
                  <a:srgbClr val="005828"/>
                </a:solidFill>
                <a:latin typeface="Arial" pitchFamily="34" charset="0"/>
                <a:cs typeface="Arial" pitchFamily="34" charset="0"/>
              </a:rPr>
              <a:t>Isobutane</a:t>
            </a:r>
            <a:r>
              <a:rPr lang="en-US" sz="2400" b="1" dirty="0">
                <a:solidFill>
                  <a:srgbClr val="005828"/>
                </a:solidFill>
                <a:latin typeface="Arial" pitchFamily="34" charset="0"/>
                <a:cs typeface="Arial" pitchFamily="34" charset="0"/>
              </a:rPr>
              <a:t>  C</a:t>
            </a:r>
            <a:r>
              <a:rPr lang="en-US" sz="2400" b="1" baseline="-25000" dirty="0">
                <a:solidFill>
                  <a:srgbClr val="005828"/>
                </a:solidFill>
                <a:latin typeface="Arial" pitchFamily="34" charset="0"/>
                <a:cs typeface="Arial" pitchFamily="34" charset="0"/>
              </a:rPr>
              <a:t>4</a:t>
            </a:r>
            <a:r>
              <a:rPr lang="en-US" sz="2400" b="1" dirty="0">
                <a:solidFill>
                  <a:srgbClr val="005828"/>
                </a:solidFill>
                <a:latin typeface="Arial" pitchFamily="34" charset="0"/>
                <a:cs typeface="Arial" pitchFamily="34" charset="0"/>
              </a:rPr>
              <a:t>H</a:t>
            </a:r>
            <a:r>
              <a:rPr lang="en-US" sz="2400" b="1" baseline="-25000" dirty="0">
                <a:solidFill>
                  <a:srgbClr val="005828"/>
                </a:solidFill>
                <a:latin typeface="Arial" pitchFamily="34" charset="0"/>
                <a:cs typeface="Arial" pitchFamily="34" charset="0"/>
              </a:rPr>
              <a:t>10</a:t>
            </a:r>
            <a:r>
              <a:rPr lang="en-US" sz="2400" b="1" dirty="0">
                <a:solidFill>
                  <a:srgbClr val="005828"/>
                </a:solidFill>
                <a:latin typeface="Arial" pitchFamily="34" charset="0"/>
                <a:cs typeface="Arial" pitchFamily="34" charset="0"/>
              </a:rPr>
              <a:t> </a:t>
            </a:r>
            <a:r>
              <a:rPr lang="en-US" sz="2400" dirty="0">
                <a:latin typeface="Arial" pitchFamily="34" charset="0"/>
                <a:cs typeface="Arial" pitchFamily="34" charset="0"/>
              </a:rPr>
              <a:t>   </a:t>
            </a:r>
          </a:p>
          <a:p>
            <a:pPr algn="just">
              <a:buNone/>
            </a:pPr>
            <a:endParaRPr lang="en-US" sz="2000" b="1" i="1" dirty="0">
              <a:solidFill>
                <a:srgbClr val="456B56"/>
              </a:solidFill>
              <a:latin typeface="Arial" pitchFamily="34" charset="0"/>
              <a:cs typeface="Arial" pitchFamily="34" charset="0"/>
            </a:endParaRPr>
          </a:p>
        </p:txBody>
      </p:sp>
      <p:pic>
        <p:nvPicPr>
          <p:cNvPr id="7" name="Picture 2"/>
          <p:cNvPicPr>
            <a:picLocks noChangeAspect="1" noChangeArrowheads="1"/>
          </p:cNvPicPr>
          <p:nvPr/>
        </p:nvPicPr>
        <p:blipFill>
          <a:blip r:embed="rId2"/>
          <a:srcRect l="49495" r="23232"/>
          <a:stretch>
            <a:fillRect/>
          </a:stretch>
        </p:blipFill>
        <p:spPr bwMode="auto">
          <a:xfrm>
            <a:off x="4724400" y="2339445"/>
            <a:ext cx="2660332" cy="2689755"/>
          </a:xfrm>
          <a:prstGeom prst="rect">
            <a:avLst/>
          </a:prstGeom>
          <a:noFill/>
          <a:ln w="9525">
            <a:noFill/>
            <a:miter lim="800000"/>
            <a:headEnd/>
            <a:tailEnd/>
          </a:ln>
          <a:effectLst/>
        </p:spPr>
      </p:pic>
      <p:pic>
        <p:nvPicPr>
          <p:cNvPr id="7170" name="Picture 2"/>
          <p:cNvPicPr>
            <a:picLocks noChangeAspect="1" noChangeArrowheads="1"/>
          </p:cNvPicPr>
          <p:nvPr/>
        </p:nvPicPr>
        <p:blipFill>
          <a:blip r:embed="rId2"/>
          <a:srcRect r="66666" b="37726"/>
          <a:stretch>
            <a:fillRect/>
          </a:stretch>
        </p:blipFill>
        <p:spPr bwMode="auto">
          <a:xfrm>
            <a:off x="914400" y="2438400"/>
            <a:ext cx="3402106" cy="17526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rmAutofit fontScale="92500" lnSpcReduction="20000"/>
          </a:bodyPr>
          <a:lstStyle/>
          <a:p>
            <a:pPr algn="just">
              <a:buNone/>
            </a:pPr>
            <a:r>
              <a:rPr lang="en-US" sz="2000" dirty="0">
                <a:latin typeface="Arial" pitchFamily="34" charset="0"/>
                <a:cs typeface="Arial" pitchFamily="34" charset="0"/>
              </a:rPr>
              <a:t>Ex : Pentane – C</a:t>
            </a:r>
            <a:r>
              <a:rPr lang="en-US" sz="2000" baseline="-25000" dirty="0">
                <a:latin typeface="Arial" pitchFamily="34" charset="0"/>
                <a:cs typeface="Arial" pitchFamily="34" charset="0"/>
              </a:rPr>
              <a:t>5</a:t>
            </a:r>
            <a:r>
              <a:rPr lang="en-US" sz="2000" dirty="0">
                <a:latin typeface="Arial" pitchFamily="34" charset="0"/>
                <a:cs typeface="Arial" pitchFamily="34" charset="0"/>
              </a:rPr>
              <a:t>H</a:t>
            </a:r>
            <a:r>
              <a:rPr lang="en-US" sz="2000" baseline="-25000" dirty="0">
                <a:latin typeface="Arial" pitchFamily="34" charset="0"/>
                <a:cs typeface="Arial" pitchFamily="34" charset="0"/>
              </a:rPr>
              <a:t>12</a:t>
            </a:r>
            <a:r>
              <a:rPr lang="en-US" sz="2000" dirty="0">
                <a:latin typeface="Arial" pitchFamily="34" charset="0"/>
                <a:cs typeface="Arial" pitchFamily="34" charset="0"/>
              </a:rPr>
              <a:t> has 3 isomers. They are normal pentane, </a:t>
            </a:r>
            <a:r>
              <a:rPr lang="en-US" sz="2000" dirty="0" err="1">
                <a:latin typeface="Arial" pitchFamily="34" charset="0"/>
                <a:cs typeface="Arial" pitchFamily="34" charset="0"/>
              </a:rPr>
              <a:t>isopentane</a:t>
            </a:r>
            <a:r>
              <a:rPr lang="en-US" sz="2000" dirty="0">
                <a:latin typeface="Arial" pitchFamily="34" charset="0"/>
                <a:cs typeface="Arial" pitchFamily="34" charset="0"/>
              </a:rPr>
              <a:t> and </a:t>
            </a:r>
            <a:r>
              <a:rPr lang="en-US" sz="2000" dirty="0" err="1">
                <a:latin typeface="Arial" pitchFamily="34" charset="0"/>
                <a:cs typeface="Arial" pitchFamily="34" charset="0"/>
              </a:rPr>
              <a:t>neopentane</a:t>
            </a:r>
            <a:r>
              <a:rPr lang="en-US" sz="2000" dirty="0">
                <a:latin typeface="Arial" pitchFamily="34" charset="0"/>
                <a:cs typeface="Arial" pitchFamily="34" charset="0"/>
              </a:rPr>
              <a:t>.</a:t>
            </a: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endParaRPr lang="en-US" sz="2000" dirty="0">
              <a:latin typeface="Arial" pitchFamily="34" charset="0"/>
              <a:cs typeface="Arial" pitchFamily="34" charset="0"/>
            </a:endParaRPr>
          </a:p>
          <a:p>
            <a:pPr algn="just">
              <a:buNone/>
            </a:pPr>
            <a:endParaRPr lang="en-US" sz="2000" b="1" i="1" dirty="0">
              <a:solidFill>
                <a:srgbClr val="456B56"/>
              </a:solidFill>
              <a:latin typeface="Arial" pitchFamily="34" charset="0"/>
              <a:cs typeface="Arial" pitchFamily="34" charset="0"/>
            </a:endParaRPr>
          </a:p>
          <a:p>
            <a:pPr algn="just">
              <a:buNone/>
            </a:pPr>
            <a:endParaRPr lang="en-US" sz="2000" b="1" dirty="0">
              <a:solidFill>
                <a:srgbClr val="005828"/>
              </a:solidFill>
              <a:latin typeface="Arial" pitchFamily="34" charset="0"/>
              <a:cs typeface="Arial" pitchFamily="34" charset="0"/>
            </a:endParaRPr>
          </a:p>
          <a:p>
            <a:pPr algn="just">
              <a:buNone/>
            </a:pPr>
            <a:r>
              <a:rPr lang="en-US" sz="2000" b="1" dirty="0">
                <a:solidFill>
                  <a:srgbClr val="005828"/>
                </a:solidFill>
                <a:latin typeface="Arial" pitchFamily="34" charset="0"/>
                <a:cs typeface="Arial" pitchFamily="34" charset="0"/>
              </a:rPr>
              <a:t>	Normal pentane C</a:t>
            </a:r>
            <a:r>
              <a:rPr lang="en-US" sz="2000" b="1" baseline="-25000" dirty="0">
                <a:solidFill>
                  <a:srgbClr val="005828"/>
                </a:solidFill>
                <a:latin typeface="Arial" pitchFamily="34" charset="0"/>
                <a:cs typeface="Arial" pitchFamily="34" charset="0"/>
              </a:rPr>
              <a:t>5</a:t>
            </a:r>
            <a:r>
              <a:rPr lang="en-US" sz="2000" b="1" dirty="0">
                <a:solidFill>
                  <a:srgbClr val="005828"/>
                </a:solidFill>
                <a:latin typeface="Arial" pitchFamily="34" charset="0"/>
                <a:cs typeface="Arial" pitchFamily="34" charset="0"/>
              </a:rPr>
              <a:t>H</a:t>
            </a:r>
            <a:r>
              <a:rPr lang="en-US" sz="2000" b="1" baseline="-25000" dirty="0">
                <a:solidFill>
                  <a:srgbClr val="005828"/>
                </a:solidFill>
                <a:latin typeface="Arial" pitchFamily="34" charset="0"/>
                <a:cs typeface="Arial" pitchFamily="34" charset="0"/>
              </a:rPr>
              <a:t>12		  </a:t>
            </a:r>
            <a:r>
              <a:rPr lang="en-US" sz="2000" b="1" dirty="0">
                <a:solidFill>
                  <a:srgbClr val="005828"/>
                </a:solidFill>
                <a:latin typeface="Arial" pitchFamily="34" charset="0"/>
                <a:cs typeface="Arial" pitchFamily="34" charset="0"/>
              </a:rPr>
              <a:t>     </a:t>
            </a:r>
            <a:r>
              <a:rPr lang="en-US" sz="2000" b="1" dirty="0" err="1">
                <a:solidFill>
                  <a:srgbClr val="005828"/>
                </a:solidFill>
                <a:latin typeface="Arial" pitchFamily="34" charset="0"/>
                <a:cs typeface="Arial" pitchFamily="34" charset="0"/>
              </a:rPr>
              <a:t>Isopentane</a:t>
            </a:r>
            <a:r>
              <a:rPr lang="en-US" sz="2000" b="1" dirty="0">
                <a:solidFill>
                  <a:srgbClr val="005828"/>
                </a:solidFill>
                <a:latin typeface="Arial" pitchFamily="34" charset="0"/>
                <a:cs typeface="Arial" pitchFamily="34" charset="0"/>
              </a:rPr>
              <a:t> C</a:t>
            </a:r>
            <a:r>
              <a:rPr lang="en-US" sz="2000" b="1" baseline="-25000" dirty="0">
                <a:solidFill>
                  <a:srgbClr val="005828"/>
                </a:solidFill>
                <a:latin typeface="Arial" pitchFamily="34" charset="0"/>
                <a:cs typeface="Arial" pitchFamily="34" charset="0"/>
              </a:rPr>
              <a:t>5</a:t>
            </a:r>
            <a:r>
              <a:rPr lang="en-US" sz="2000" b="1" dirty="0">
                <a:solidFill>
                  <a:srgbClr val="005828"/>
                </a:solidFill>
                <a:latin typeface="Arial" pitchFamily="34" charset="0"/>
                <a:cs typeface="Arial" pitchFamily="34" charset="0"/>
              </a:rPr>
              <a:t>H</a:t>
            </a:r>
            <a:r>
              <a:rPr lang="en-US" sz="2000" b="1" baseline="-25000" dirty="0">
                <a:solidFill>
                  <a:srgbClr val="005828"/>
                </a:solidFill>
                <a:latin typeface="Arial" pitchFamily="34" charset="0"/>
                <a:cs typeface="Arial" pitchFamily="34" charset="0"/>
              </a:rPr>
              <a:t>12</a:t>
            </a:r>
            <a:endParaRPr lang="en-US" sz="2000" b="1" i="1" dirty="0">
              <a:solidFill>
                <a:srgbClr val="456B56"/>
              </a:solidFill>
              <a:latin typeface="Arial" pitchFamily="34" charset="0"/>
              <a:cs typeface="Arial" pitchFamily="34" charset="0"/>
            </a:endParaRPr>
          </a:p>
          <a:p>
            <a:pPr algn="just">
              <a:buNone/>
            </a:pPr>
            <a:r>
              <a:rPr lang="en-US" sz="2000" b="1" baseline="-25000" dirty="0">
                <a:solidFill>
                  <a:srgbClr val="005828"/>
                </a:solidFill>
                <a:latin typeface="Arial" pitchFamily="34" charset="0"/>
                <a:cs typeface="Arial" pitchFamily="34" charset="0"/>
              </a:rPr>
              <a:t>	</a:t>
            </a:r>
          </a:p>
          <a:p>
            <a:pPr algn="just">
              <a:buNone/>
            </a:pPr>
            <a:endParaRPr lang="en-US" sz="2000" b="1" i="1" baseline="-25000" dirty="0">
              <a:solidFill>
                <a:srgbClr val="005828"/>
              </a:solidFill>
              <a:latin typeface="Arial" pitchFamily="34" charset="0"/>
              <a:cs typeface="Arial" pitchFamily="34" charset="0"/>
            </a:endParaRPr>
          </a:p>
          <a:p>
            <a:pPr algn="just">
              <a:buNone/>
            </a:pPr>
            <a:endParaRPr lang="en-US" sz="2000" b="1" i="1" baseline="-25000" dirty="0">
              <a:solidFill>
                <a:srgbClr val="005828"/>
              </a:solidFill>
              <a:latin typeface="Arial" pitchFamily="34" charset="0"/>
              <a:cs typeface="Arial" pitchFamily="34" charset="0"/>
            </a:endParaRPr>
          </a:p>
          <a:p>
            <a:pPr algn="just">
              <a:buNone/>
            </a:pPr>
            <a:endParaRPr lang="en-US" sz="2000" b="1" i="1" baseline="-25000" dirty="0">
              <a:solidFill>
                <a:srgbClr val="005828"/>
              </a:solidFill>
              <a:latin typeface="Arial" pitchFamily="34" charset="0"/>
              <a:cs typeface="Arial" pitchFamily="34" charset="0"/>
            </a:endParaRPr>
          </a:p>
          <a:p>
            <a:pPr algn="just">
              <a:buNone/>
            </a:pPr>
            <a:endParaRPr lang="en-US" sz="2000" b="1" i="1" baseline="-25000" dirty="0">
              <a:solidFill>
                <a:srgbClr val="005828"/>
              </a:solidFill>
              <a:latin typeface="Arial" pitchFamily="34" charset="0"/>
              <a:cs typeface="Arial" pitchFamily="34" charset="0"/>
            </a:endParaRPr>
          </a:p>
          <a:p>
            <a:pPr algn="just">
              <a:buNone/>
            </a:pPr>
            <a:endParaRPr lang="en-US" sz="2000" b="1" i="1" baseline="-25000" dirty="0">
              <a:solidFill>
                <a:srgbClr val="005828"/>
              </a:solidFill>
              <a:latin typeface="Arial" pitchFamily="34" charset="0"/>
              <a:cs typeface="Arial" pitchFamily="34" charset="0"/>
            </a:endParaRPr>
          </a:p>
          <a:p>
            <a:pPr algn="just">
              <a:buNone/>
            </a:pPr>
            <a:endParaRPr lang="en-US" sz="2000" b="1" i="1" baseline="-25000" dirty="0">
              <a:solidFill>
                <a:srgbClr val="005828"/>
              </a:solidFill>
              <a:latin typeface="Arial" pitchFamily="34" charset="0"/>
              <a:cs typeface="Arial" pitchFamily="34" charset="0"/>
            </a:endParaRPr>
          </a:p>
          <a:p>
            <a:pPr algn="just">
              <a:buNone/>
            </a:pPr>
            <a:endParaRPr lang="en-US" sz="2000" b="1" i="1" baseline="-25000" dirty="0">
              <a:solidFill>
                <a:srgbClr val="005828"/>
              </a:solidFill>
              <a:latin typeface="Arial" pitchFamily="34" charset="0"/>
              <a:cs typeface="Arial" pitchFamily="34" charset="0"/>
            </a:endParaRPr>
          </a:p>
          <a:p>
            <a:pPr algn="just">
              <a:buNone/>
            </a:pPr>
            <a:r>
              <a:rPr lang="en-US" sz="2000" b="1" dirty="0">
                <a:solidFill>
                  <a:srgbClr val="005828"/>
                </a:solidFill>
                <a:latin typeface="Arial" pitchFamily="34" charset="0"/>
                <a:cs typeface="Arial" pitchFamily="34" charset="0"/>
              </a:rPr>
              <a:t>	</a:t>
            </a:r>
            <a:r>
              <a:rPr lang="en-US" sz="2000" b="1" dirty="0" err="1">
                <a:solidFill>
                  <a:srgbClr val="005828"/>
                </a:solidFill>
                <a:latin typeface="Arial" pitchFamily="34" charset="0"/>
                <a:cs typeface="Arial" pitchFamily="34" charset="0"/>
              </a:rPr>
              <a:t>Neopentane</a:t>
            </a:r>
            <a:r>
              <a:rPr lang="en-US" sz="2000" b="1" dirty="0">
                <a:solidFill>
                  <a:srgbClr val="005828"/>
                </a:solidFill>
                <a:latin typeface="Arial" pitchFamily="34" charset="0"/>
                <a:cs typeface="Arial" pitchFamily="34" charset="0"/>
              </a:rPr>
              <a:t> C</a:t>
            </a:r>
            <a:r>
              <a:rPr lang="en-US" sz="2000" b="1" baseline="-25000" dirty="0">
                <a:solidFill>
                  <a:srgbClr val="005828"/>
                </a:solidFill>
                <a:latin typeface="Arial" pitchFamily="34" charset="0"/>
                <a:cs typeface="Arial" pitchFamily="34" charset="0"/>
              </a:rPr>
              <a:t>5</a:t>
            </a:r>
            <a:r>
              <a:rPr lang="en-US" sz="2000" b="1" dirty="0">
                <a:solidFill>
                  <a:srgbClr val="005828"/>
                </a:solidFill>
                <a:latin typeface="Arial" pitchFamily="34" charset="0"/>
                <a:cs typeface="Arial" pitchFamily="34" charset="0"/>
              </a:rPr>
              <a:t>H</a:t>
            </a:r>
            <a:r>
              <a:rPr lang="en-US" sz="2000" b="1" baseline="-25000" dirty="0">
                <a:solidFill>
                  <a:srgbClr val="005828"/>
                </a:solidFill>
                <a:latin typeface="Arial" pitchFamily="34" charset="0"/>
                <a:cs typeface="Arial" pitchFamily="34" charset="0"/>
              </a:rPr>
              <a:t>12</a:t>
            </a:r>
            <a:endParaRPr lang="en-US" sz="2000" b="1" i="1" dirty="0">
              <a:solidFill>
                <a:srgbClr val="456B56"/>
              </a:solidFill>
              <a:latin typeface="Arial" pitchFamily="34" charset="0"/>
              <a:cs typeface="Arial" pitchFamily="34" charset="0"/>
            </a:endParaRPr>
          </a:p>
        </p:txBody>
      </p:sp>
      <p:pic>
        <p:nvPicPr>
          <p:cNvPr id="7171" name="Picture 3"/>
          <p:cNvPicPr>
            <a:picLocks noChangeAspect="1" noChangeArrowheads="1"/>
          </p:cNvPicPr>
          <p:nvPr/>
        </p:nvPicPr>
        <p:blipFill>
          <a:blip r:embed="rId2"/>
          <a:srcRect/>
          <a:stretch>
            <a:fillRect/>
          </a:stretch>
        </p:blipFill>
        <p:spPr bwMode="auto">
          <a:xfrm>
            <a:off x="609600" y="1447800"/>
            <a:ext cx="3215081" cy="1600200"/>
          </a:xfrm>
          <a:prstGeom prst="rect">
            <a:avLst/>
          </a:prstGeom>
          <a:noFill/>
          <a:ln w="9525">
            <a:noFill/>
            <a:miter lim="800000"/>
            <a:headEnd/>
            <a:tailEnd/>
          </a:ln>
          <a:effectLst/>
        </p:spPr>
      </p:pic>
      <p:pic>
        <p:nvPicPr>
          <p:cNvPr id="7172" name="Picture 4"/>
          <p:cNvPicPr>
            <a:picLocks noChangeAspect="1" noChangeArrowheads="1"/>
          </p:cNvPicPr>
          <p:nvPr/>
        </p:nvPicPr>
        <p:blipFill>
          <a:blip r:embed="rId3"/>
          <a:srcRect/>
          <a:stretch>
            <a:fillRect/>
          </a:stretch>
        </p:blipFill>
        <p:spPr bwMode="auto">
          <a:xfrm>
            <a:off x="5562600" y="1295400"/>
            <a:ext cx="2234911" cy="2209800"/>
          </a:xfrm>
          <a:prstGeom prst="rect">
            <a:avLst/>
          </a:prstGeom>
          <a:noFill/>
          <a:ln w="9525">
            <a:noFill/>
            <a:miter lim="800000"/>
            <a:headEnd/>
            <a:tailEnd/>
          </a:ln>
          <a:effectLst/>
        </p:spPr>
      </p:pic>
      <p:pic>
        <p:nvPicPr>
          <p:cNvPr id="7173" name="Picture 5"/>
          <p:cNvPicPr>
            <a:picLocks noChangeAspect="1" noChangeArrowheads="1"/>
          </p:cNvPicPr>
          <p:nvPr/>
        </p:nvPicPr>
        <p:blipFill>
          <a:blip r:embed="rId4"/>
          <a:srcRect/>
          <a:stretch>
            <a:fillRect/>
          </a:stretch>
        </p:blipFill>
        <p:spPr bwMode="auto">
          <a:xfrm>
            <a:off x="3124200" y="4103110"/>
            <a:ext cx="2190281" cy="252629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554018" y="762000"/>
            <a:ext cx="8132782" cy="6172200"/>
            <a:chOff x="152400" y="152400"/>
            <a:chExt cx="8534400" cy="6477000"/>
          </a:xfrm>
        </p:grpSpPr>
        <p:pic>
          <p:nvPicPr>
            <p:cNvPr id="5123" name="Picture 3" descr="F:\ECONTENT CHEMISTRY\82434_92585_ans_e10543e7ada84a8685bf936fc2422085.png"/>
            <p:cNvPicPr>
              <a:picLocks noChangeAspect="1" noChangeArrowheads="1"/>
            </p:cNvPicPr>
            <p:nvPr/>
          </p:nvPicPr>
          <p:blipFill>
            <a:blip r:embed="rId2"/>
            <a:srcRect b="85714"/>
            <a:stretch>
              <a:fillRect/>
            </a:stretch>
          </p:blipFill>
          <p:spPr bwMode="auto">
            <a:xfrm>
              <a:off x="228600" y="152400"/>
              <a:ext cx="8229600" cy="533400"/>
            </a:xfrm>
            <a:prstGeom prst="rect">
              <a:avLst/>
            </a:prstGeom>
            <a:noFill/>
          </p:spPr>
        </p:pic>
        <p:pic>
          <p:nvPicPr>
            <p:cNvPr id="9" name="Picture 3" descr="F:\ECONTENT CHEMISTRY\82434_92585_ans_e10543e7ada84a8685bf936fc2422085.png"/>
            <p:cNvPicPr>
              <a:picLocks noChangeAspect="1" noChangeArrowheads="1"/>
            </p:cNvPicPr>
            <p:nvPr/>
          </p:nvPicPr>
          <p:blipFill>
            <a:blip r:embed="rId2"/>
            <a:srcRect t="14286" b="63265"/>
            <a:stretch>
              <a:fillRect/>
            </a:stretch>
          </p:blipFill>
          <p:spPr bwMode="auto">
            <a:xfrm>
              <a:off x="304800" y="1600200"/>
              <a:ext cx="8077200" cy="838200"/>
            </a:xfrm>
            <a:prstGeom prst="rect">
              <a:avLst/>
            </a:prstGeom>
            <a:noFill/>
          </p:spPr>
        </p:pic>
        <p:pic>
          <p:nvPicPr>
            <p:cNvPr id="10" name="Picture 3" descr="F:\ECONTENT CHEMISTRY\82434_92585_ans_e10543e7ada84a8685bf936fc2422085.png"/>
            <p:cNvPicPr>
              <a:picLocks noChangeAspect="1" noChangeArrowheads="1"/>
            </p:cNvPicPr>
            <p:nvPr/>
          </p:nvPicPr>
          <p:blipFill>
            <a:blip r:embed="rId2"/>
            <a:srcRect t="55102" b="28570"/>
            <a:stretch>
              <a:fillRect/>
            </a:stretch>
          </p:blipFill>
          <p:spPr bwMode="auto">
            <a:xfrm>
              <a:off x="228600" y="3962400"/>
              <a:ext cx="8458200" cy="762000"/>
            </a:xfrm>
            <a:prstGeom prst="rect">
              <a:avLst/>
            </a:prstGeom>
            <a:noFill/>
          </p:spPr>
        </p:pic>
        <p:pic>
          <p:nvPicPr>
            <p:cNvPr id="11" name="Picture 3" descr="F:\ECONTENT CHEMISTRY\82434_92585_ans_e10543e7ada84a8685bf936fc2422085.png"/>
            <p:cNvPicPr>
              <a:picLocks noChangeAspect="1" noChangeArrowheads="1"/>
            </p:cNvPicPr>
            <p:nvPr/>
          </p:nvPicPr>
          <p:blipFill>
            <a:blip r:embed="rId2"/>
            <a:srcRect t="71429" b="-6123"/>
            <a:stretch>
              <a:fillRect/>
            </a:stretch>
          </p:blipFill>
          <p:spPr bwMode="auto">
            <a:xfrm>
              <a:off x="228600" y="5334000"/>
              <a:ext cx="8458200" cy="1295400"/>
            </a:xfrm>
            <a:prstGeom prst="rect">
              <a:avLst/>
            </a:prstGeom>
            <a:noFill/>
          </p:spPr>
        </p:pic>
        <p:pic>
          <p:nvPicPr>
            <p:cNvPr id="5124" name="Picture 4"/>
            <p:cNvPicPr>
              <a:picLocks noChangeAspect="1" noChangeArrowheads="1"/>
            </p:cNvPicPr>
            <p:nvPr/>
          </p:nvPicPr>
          <p:blipFill>
            <a:blip r:embed="rId3"/>
            <a:srcRect/>
            <a:stretch>
              <a:fillRect/>
            </a:stretch>
          </p:blipFill>
          <p:spPr bwMode="auto">
            <a:xfrm>
              <a:off x="152400" y="2619375"/>
              <a:ext cx="8524875" cy="962025"/>
            </a:xfrm>
            <a:prstGeom prst="rect">
              <a:avLst/>
            </a:prstGeom>
            <a:noFill/>
            <a:ln w="9525">
              <a:noFill/>
              <a:miter lim="800000"/>
              <a:headEnd/>
              <a:tailEnd/>
            </a:ln>
            <a:effectLst/>
          </p:spPr>
        </p:pic>
      </p:grpSp>
      <p:sp>
        <p:nvSpPr>
          <p:cNvPr id="16" name="Title 1"/>
          <p:cNvSpPr>
            <a:spLocks noGrp="1"/>
          </p:cNvSpPr>
          <p:nvPr>
            <p:ph type="title"/>
          </p:nvPr>
        </p:nvSpPr>
        <p:spPr>
          <a:xfrm>
            <a:off x="457200" y="0"/>
            <a:ext cx="8229600" cy="609600"/>
          </a:xfrm>
        </p:spPr>
        <p:txBody>
          <a:bodyPr>
            <a:normAutofit fontScale="90000"/>
          </a:bodyPr>
          <a:lstStyle/>
          <a:p>
            <a:r>
              <a:rPr lang="en-US" dirty="0">
                <a:solidFill>
                  <a:srgbClr val="FF0000"/>
                </a:solidFill>
                <a:latin typeface="Arial" pitchFamily="34" charset="0"/>
                <a:cs typeface="Arial" pitchFamily="34" charset="0"/>
              </a:rPr>
              <a:t>Isomers of Hexane</a:t>
            </a:r>
            <a:endParaRPr lang="en-IN" dirty="0">
              <a:solidFill>
                <a:srgbClr val="FF0000"/>
              </a:solidFill>
              <a:latin typeface="Arial" pitchFamily="34" charset="0"/>
              <a:cs typeface="Arial"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itchFamily="34" charset="0"/>
                <a:cs typeface="Arial" pitchFamily="34" charset="0"/>
              </a:rPr>
              <a:t>Hydrocarbons</a:t>
            </a:r>
            <a:endParaRPr lang="en-IN" dirty="0">
              <a:solidFill>
                <a:srgbClr val="FF0000"/>
              </a:solidFill>
              <a:latin typeface="Arial" pitchFamily="34" charset="0"/>
              <a:cs typeface="Arial" pitchFamily="34" charset="0"/>
            </a:endParaRPr>
          </a:p>
        </p:txBody>
      </p:sp>
      <p:sp>
        <p:nvSpPr>
          <p:cNvPr id="3" name="Content Placeholder 2"/>
          <p:cNvSpPr>
            <a:spLocks noGrp="1"/>
          </p:cNvSpPr>
          <p:nvPr>
            <p:ph idx="1"/>
          </p:nvPr>
        </p:nvSpPr>
        <p:spPr>
          <a:xfrm>
            <a:off x="457200" y="1219200"/>
            <a:ext cx="8229600" cy="2590801"/>
          </a:xfrm>
        </p:spPr>
        <p:txBody>
          <a:bodyPr>
            <a:normAutofit/>
          </a:bodyPr>
          <a:lstStyle/>
          <a:p>
            <a:pPr algn="just"/>
            <a:r>
              <a:rPr lang="en-US" sz="2800" dirty="0">
                <a:latin typeface="Arial" pitchFamily="34" charset="0"/>
                <a:cs typeface="Arial" pitchFamily="34" charset="0"/>
              </a:rPr>
              <a:t>Organic compounds containing carbon and hydrogen only</a:t>
            </a:r>
            <a:endParaRPr lang="en-IN" sz="2800" dirty="0">
              <a:latin typeface="Arial" pitchFamily="34" charset="0"/>
              <a:cs typeface="Arial" pitchFamily="34" charset="0"/>
            </a:endParaRPr>
          </a:p>
        </p:txBody>
      </p:sp>
      <p:pic>
        <p:nvPicPr>
          <p:cNvPr id="7171" name="Picture 3"/>
          <p:cNvPicPr>
            <a:picLocks noChangeAspect="1" noChangeArrowheads="1"/>
          </p:cNvPicPr>
          <p:nvPr/>
        </p:nvPicPr>
        <p:blipFill>
          <a:blip r:embed="rId2" cstate="print"/>
          <a:srcRect/>
          <a:stretch>
            <a:fillRect/>
          </a:stretch>
        </p:blipFill>
        <p:spPr bwMode="auto">
          <a:xfrm>
            <a:off x="6477000" y="381000"/>
            <a:ext cx="1528354" cy="990600"/>
          </a:xfrm>
          <a:prstGeom prst="rect">
            <a:avLst/>
          </a:prstGeom>
          <a:noFill/>
          <a:ln w="9525">
            <a:noFill/>
            <a:miter lim="800000"/>
            <a:headEnd/>
            <a:tailEnd/>
          </a:ln>
        </p:spPr>
      </p:pic>
      <p:pic>
        <p:nvPicPr>
          <p:cNvPr id="44034" name="Picture 2" descr="What are saturated hydrocarbons? Give two examples giving ..."/>
          <p:cNvPicPr>
            <a:picLocks noChangeAspect="1" noChangeArrowheads="1"/>
          </p:cNvPicPr>
          <p:nvPr/>
        </p:nvPicPr>
        <p:blipFill>
          <a:blip r:embed="rId3"/>
          <a:srcRect/>
          <a:stretch>
            <a:fillRect/>
          </a:stretch>
        </p:blipFill>
        <p:spPr bwMode="auto">
          <a:xfrm>
            <a:off x="533400" y="2286000"/>
            <a:ext cx="8229600" cy="4267373"/>
          </a:xfrm>
          <a:prstGeom prst="rect">
            <a:avLst/>
          </a:prstGeom>
          <a:noFill/>
        </p:spPr>
      </p:pic>
      <p:pic>
        <p:nvPicPr>
          <p:cNvPr id="7" name="Picture 3"/>
          <p:cNvPicPr>
            <a:picLocks noChangeAspect="1" noChangeArrowheads="1"/>
          </p:cNvPicPr>
          <p:nvPr/>
        </p:nvPicPr>
        <p:blipFill>
          <a:blip r:embed="rId2" cstate="print"/>
          <a:srcRect/>
          <a:stretch>
            <a:fillRect/>
          </a:stretch>
        </p:blipFill>
        <p:spPr bwMode="auto">
          <a:xfrm>
            <a:off x="1295400" y="381000"/>
            <a:ext cx="1528354" cy="9906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itchFamily="34" charset="0"/>
                <a:cs typeface="Arial" pitchFamily="34" charset="0"/>
              </a:rPr>
              <a:t>Classification of Hydrocarbons</a:t>
            </a:r>
            <a:endParaRPr lang="en-IN" dirty="0">
              <a:solidFill>
                <a:srgbClr val="FF0000"/>
              </a:solidFill>
              <a:latin typeface="Arial" pitchFamily="34" charset="0"/>
              <a:cs typeface="Arial" pitchFamily="34" charset="0"/>
            </a:endParaRPr>
          </a:p>
        </p:txBody>
      </p:sp>
      <p:grpSp>
        <p:nvGrpSpPr>
          <p:cNvPr id="3" name="Group 37"/>
          <p:cNvGrpSpPr/>
          <p:nvPr/>
        </p:nvGrpSpPr>
        <p:grpSpPr>
          <a:xfrm>
            <a:off x="0" y="1295400"/>
            <a:ext cx="9067800" cy="5514975"/>
            <a:chOff x="0" y="1295400"/>
            <a:chExt cx="9067800" cy="5514975"/>
          </a:xfrm>
        </p:grpSpPr>
        <p:pic>
          <p:nvPicPr>
            <p:cNvPr id="8195" name="Picture 3"/>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Lst>
            </a:blip>
            <a:srcRect/>
            <a:stretch>
              <a:fillRect/>
            </a:stretch>
          </p:blipFill>
          <p:spPr bwMode="auto">
            <a:xfrm>
              <a:off x="4648200" y="2376487"/>
              <a:ext cx="823912" cy="823913"/>
            </a:xfrm>
            <a:prstGeom prst="rect">
              <a:avLst/>
            </a:prstGeom>
            <a:noFill/>
            <a:ln w="9525">
              <a:noFill/>
              <a:miter lim="800000"/>
              <a:headEnd/>
              <a:tailEnd/>
            </a:ln>
          </p:spPr>
        </p:pic>
        <p:grpSp>
          <p:nvGrpSpPr>
            <p:cNvPr id="14" name="Group 31"/>
            <p:cNvGrpSpPr/>
            <p:nvPr/>
          </p:nvGrpSpPr>
          <p:grpSpPr>
            <a:xfrm>
              <a:off x="0" y="1295400"/>
              <a:ext cx="9067800" cy="4572000"/>
              <a:chOff x="0" y="1295400"/>
              <a:chExt cx="9067800" cy="4572000"/>
            </a:xfrm>
          </p:grpSpPr>
          <p:sp>
            <p:nvSpPr>
              <p:cNvPr id="5" name="TextBox 4"/>
              <p:cNvSpPr txBox="1"/>
              <p:nvPr/>
            </p:nvSpPr>
            <p:spPr>
              <a:xfrm>
                <a:off x="990600" y="2340114"/>
                <a:ext cx="2286000" cy="707886"/>
              </a:xfrm>
              <a:prstGeom prst="rect">
                <a:avLst/>
              </a:prstGeom>
              <a:noFill/>
              <a:ln>
                <a:solidFill>
                  <a:schemeClr val="tx1"/>
                </a:solidFill>
              </a:ln>
            </p:spPr>
            <p:txBody>
              <a:bodyPr wrap="square" rtlCol="0">
                <a:spAutoFit/>
              </a:bodyPr>
              <a:lstStyle/>
              <a:p>
                <a:pPr algn="ctr"/>
                <a:r>
                  <a:rPr lang="en-US" sz="2000" b="1" dirty="0"/>
                  <a:t>OPEN CHAIN -ALLIPHATIC</a:t>
                </a:r>
                <a:endParaRPr lang="en-IN" sz="2000" b="1" dirty="0"/>
              </a:p>
            </p:txBody>
          </p:sp>
          <p:sp>
            <p:nvSpPr>
              <p:cNvPr id="6" name="TextBox 5"/>
              <p:cNvSpPr txBox="1"/>
              <p:nvPr/>
            </p:nvSpPr>
            <p:spPr>
              <a:xfrm>
                <a:off x="5715000" y="2362200"/>
                <a:ext cx="2286000" cy="400110"/>
              </a:xfrm>
              <a:prstGeom prst="rect">
                <a:avLst/>
              </a:prstGeom>
              <a:noFill/>
              <a:ln>
                <a:solidFill>
                  <a:schemeClr val="tx1"/>
                </a:solidFill>
              </a:ln>
            </p:spPr>
            <p:txBody>
              <a:bodyPr wrap="square" rtlCol="0">
                <a:spAutoFit/>
              </a:bodyPr>
              <a:lstStyle/>
              <a:p>
                <a:pPr algn="ctr"/>
                <a:r>
                  <a:rPr lang="en-US" sz="2000" b="1" dirty="0"/>
                  <a:t>CLOSED CHAIN</a:t>
                </a:r>
                <a:endParaRPr lang="en-IN" sz="2000" b="1" dirty="0"/>
              </a:p>
            </p:txBody>
          </p:sp>
          <p:sp>
            <p:nvSpPr>
              <p:cNvPr id="7" name="TextBox 6"/>
              <p:cNvSpPr txBox="1"/>
              <p:nvPr/>
            </p:nvSpPr>
            <p:spPr>
              <a:xfrm>
                <a:off x="0" y="4378404"/>
                <a:ext cx="2286000" cy="400110"/>
              </a:xfrm>
              <a:prstGeom prst="rect">
                <a:avLst/>
              </a:prstGeom>
              <a:noFill/>
              <a:ln>
                <a:solidFill>
                  <a:schemeClr val="tx1"/>
                </a:solidFill>
              </a:ln>
            </p:spPr>
            <p:txBody>
              <a:bodyPr wrap="square" rtlCol="0">
                <a:spAutoFit/>
              </a:bodyPr>
              <a:lstStyle/>
              <a:p>
                <a:pPr algn="ctr"/>
                <a:r>
                  <a:rPr lang="en-US" sz="2000" b="1" dirty="0"/>
                  <a:t>SATURATED</a:t>
                </a:r>
                <a:endParaRPr lang="en-IN" sz="2000" b="1" dirty="0"/>
              </a:p>
            </p:txBody>
          </p:sp>
          <p:sp>
            <p:nvSpPr>
              <p:cNvPr id="8" name="TextBox 7"/>
              <p:cNvSpPr txBox="1"/>
              <p:nvPr/>
            </p:nvSpPr>
            <p:spPr>
              <a:xfrm>
                <a:off x="3581400" y="4397514"/>
                <a:ext cx="2286000" cy="400110"/>
              </a:xfrm>
              <a:prstGeom prst="rect">
                <a:avLst/>
              </a:prstGeom>
              <a:noFill/>
              <a:ln>
                <a:solidFill>
                  <a:schemeClr val="tx1"/>
                </a:solidFill>
              </a:ln>
            </p:spPr>
            <p:txBody>
              <a:bodyPr wrap="square" rtlCol="0">
                <a:spAutoFit/>
              </a:bodyPr>
              <a:lstStyle/>
              <a:p>
                <a:pPr algn="ctr"/>
                <a:r>
                  <a:rPr lang="en-US" sz="2000" b="1" dirty="0"/>
                  <a:t>UN SATURATED</a:t>
                </a:r>
                <a:endParaRPr lang="en-IN" sz="2000" b="1" dirty="0"/>
              </a:p>
            </p:txBody>
          </p:sp>
          <p:sp>
            <p:nvSpPr>
              <p:cNvPr id="9" name="TextBox 8"/>
              <p:cNvSpPr txBox="1"/>
              <p:nvPr/>
            </p:nvSpPr>
            <p:spPr>
              <a:xfrm>
                <a:off x="4343400" y="3181290"/>
                <a:ext cx="2286000" cy="400110"/>
              </a:xfrm>
              <a:prstGeom prst="rect">
                <a:avLst/>
              </a:prstGeom>
              <a:noFill/>
              <a:ln>
                <a:solidFill>
                  <a:schemeClr val="tx1"/>
                </a:solidFill>
              </a:ln>
            </p:spPr>
            <p:txBody>
              <a:bodyPr wrap="square" rtlCol="0">
                <a:spAutoFit/>
              </a:bodyPr>
              <a:lstStyle/>
              <a:p>
                <a:pPr algn="ctr"/>
                <a:r>
                  <a:rPr lang="en-US" sz="2000" b="1" dirty="0"/>
                  <a:t>ALICYCLIC</a:t>
                </a:r>
                <a:endParaRPr lang="en-IN" sz="2000" b="1" dirty="0"/>
              </a:p>
            </p:txBody>
          </p:sp>
          <p:sp>
            <p:nvSpPr>
              <p:cNvPr id="10" name="TextBox 9"/>
              <p:cNvSpPr txBox="1"/>
              <p:nvPr/>
            </p:nvSpPr>
            <p:spPr>
              <a:xfrm>
                <a:off x="6781800" y="3181290"/>
                <a:ext cx="2286000" cy="400110"/>
              </a:xfrm>
              <a:prstGeom prst="rect">
                <a:avLst/>
              </a:prstGeom>
              <a:noFill/>
              <a:ln>
                <a:solidFill>
                  <a:schemeClr val="tx1"/>
                </a:solidFill>
              </a:ln>
            </p:spPr>
            <p:txBody>
              <a:bodyPr wrap="square" rtlCol="0">
                <a:spAutoFit/>
              </a:bodyPr>
              <a:lstStyle/>
              <a:p>
                <a:pPr algn="ctr"/>
                <a:r>
                  <a:rPr lang="en-US" sz="2000" b="1" dirty="0"/>
                  <a:t>AROMATIC</a:t>
                </a:r>
                <a:endParaRPr lang="en-IN" sz="2000" b="1" dirty="0"/>
              </a:p>
            </p:txBody>
          </p:sp>
          <p:sp>
            <p:nvSpPr>
              <p:cNvPr id="11" name="TextBox 10"/>
              <p:cNvSpPr txBox="1"/>
              <p:nvPr/>
            </p:nvSpPr>
            <p:spPr>
              <a:xfrm>
                <a:off x="0" y="5140404"/>
                <a:ext cx="2286000" cy="707886"/>
              </a:xfrm>
              <a:prstGeom prst="rect">
                <a:avLst/>
              </a:prstGeom>
              <a:noFill/>
              <a:ln>
                <a:solidFill>
                  <a:schemeClr val="tx1"/>
                </a:solidFill>
              </a:ln>
            </p:spPr>
            <p:txBody>
              <a:bodyPr wrap="square" rtlCol="0">
                <a:spAutoFit/>
              </a:bodyPr>
              <a:lstStyle/>
              <a:p>
                <a:pPr algn="ctr"/>
                <a:r>
                  <a:rPr lang="en-US" sz="2000" b="1" dirty="0"/>
                  <a:t>ALKANES-SINGLE BONDED</a:t>
                </a:r>
                <a:endParaRPr lang="en-IN" sz="2000" b="1" dirty="0"/>
              </a:p>
            </p:txBody>
          </p:sp>
          <p:sp>
            <p:nvSpPr>
              <p:cNvPr id="12" name="TextBox 11"/>
              <p:cNvSpPr txBox="1"/>
              <p:nvPr/>
            </p:nvSpPr>
            <p:spPr>
              <a:xfrm>
                <a:off x="2667000" y="5159514"/>
                <a:ext cx="2286000" cy="707886"/>
              </a:xfrm>
              <a:prstGeom prst="rect">
                <a:avLst/>
              </a:prstGeom>
              <a:noFill/>
              <a:ln>
                <a:solidFill>
                  <a:schemeClr val="tx1"/>
                </a:solidFill>
              </a:ln>
            </p:spPr>
            <p:txBody>
              <a:bodyPr wrap="square" rtlCol="0">
                <a:spAutoFit/>
              </a:bodyPr>
              <a:lstStyle/>
              <a:p>
                <a:pPr algn="ctr"/>
                <a:r>
                  <a:rPr lang="en-US" sz="2000" b="1" dirty="0"/>
                  <a:t>ALKENES-DOUBLE BONDED</a:t>
                </a:r>
                <a:endParaRPr lang="en-IN" sz="2000" b="1" dirty="0"/>
              </a:p>
            </p:txBody>
          </p:sp>
          <p:sp>
            <p:nvSpPr>
              <p:cNvPr id="13" name="TextBox 12"/>
              <p:cNvSpPr txBox="1"/>
              <p:nvPr/>
            </p:nvSpPr>
            <p:spPr>
              <a:xfrm>
                <a:off x="5181600" y="5159514"/>
                <a:ext cx="2286000" cy="707886"/>
              </a:xfrm>
              <a:prstGeom prst="rect">
                <a:avLst/>
              </a:prstGeom>
              <a:noFill/>
              <a:ln>
                <a:solidFill>
                  <a:schemeClr val="tx1"/>
                </a:solidFill>
              </a:ln>
            </p:spPr>
            <p:txBody>
              <a:bodyPr wrap="square" rtlCol="0">
                <a:spAutoFit/>
              </a:bodyPr>
              <a:lstStyle/>
              <a:p>
                <a:pPr algn="ctr"/>
                <a:r>
                  <a:rPr lang="en-US" sz="2000" b="1" dirty="0"/>
                  <a:t>ALKYNES-TRIPLE BONDED</a:t>
                </a:r>
                <a:endParaRPr lang="en-IN" sz="2000" b="1" dirty="0"/>
              </a:p>
            </p:txBody>
          </p:sp>
          <p:grpSp>
            <p:nvGrpSpPr>
              <p:cNvPr id="16" name="Group 19"/>
              <p:cNvGrpSpPr/>
              <p:nvPr/>
            </p:nvGrpSpPr>
            <p:grpSpPr>
              <a:xfrm>
                <a:off x="2057400" y="1295400"/>
                <a:ext cx="4648200" cy="1009648"/>
                <a:chOff x="2057400" y="1295400"/>
                <a:chExt cx="4648200" cy="1009648"/>
              </a:xfrm>
            </p:grpSpPr>
            <p:sp>
              <p:nvSpPr>
                <p:cNvPr id="4" name="TextBox 3"/>
                <p:cNvSpPr txBox="1"/>
                <p:nvPr/>
              </p:nvSpPr>
              <p:spPr>
                <a:xfrm>
                  <a:off x="3352800" y="1295400"/>
                  <a:ext cx="2286000" cy="400110"/>
                </a:xfrm>
                <a:prstGeom prst="rect">
                  <a:avLst/>
                </a:prstGeom>
                <a:noFill/>
                <a:ln>
                  <a:solidFill>
                    <a:schemeClr val="tx1"/>
                  </a:solidFill>
                </a:ln>
              </p:spPr>
              <p:txBody>
                <a:bodyPr wrap="square" rtlCol="0">
                  <a:spAutoFit/>
                </a:bodyPr>
                <a:lstStyle/>
                <a:p>
                  <a:pPr algn="ctr"/>
                  <a:r>
                    <a:rPr lang="en-US" sz="2000" b="1" dirty="0"/>
                    <a:t>HYDROCARBON</a:t>
                  </a:r>
                  <a:endParaRPr lang="en-IN" sz="2000" b="1" dirty="0"/>
                </a:p>
              </p:txBody>
            </p:sp>
            <p:cxnSp>
              <p:nvCxnSpPr>
                <p:cNvPr id="15" name="Straight Arrow Connector 14"/>
                <p:cNvCxnSpPr>
                  <a:stCxn id="4" idx="2"/>
                </p:cNvCxnSpPr>
                <p:nvPr/>
              </p:nvCxnSpPr>
              <p:spPr>
                <a:xfrm rot="5400000">
                  <a:off x="4352955" y="1838355"/>
                  <a:ext cx="2856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057400" y="1981200"/>
                  <a:ext cx="4648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5400000">
                  <a:off x="1915349" y="2161409"/>
                  <a:ext cx="2856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6561961" y="2123251"/>
                  <a:ext cx="2856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21" name="Straight Arrow Connector 20"/>
              <p:cNvCxnSpPr/>
              <p:nvPr/>
            </p:nvCxnSpPr>
            <p:spPr>
              <a:xfrm rot="5400000">
                <a:off x="1638300" y="34671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85824" y="3886200"/>
                <a:ext cx="3657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a:off x="696149" y="4071115"/>
                <a:ext cx="2856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a:off x="4428361" y="4047361"/>
                <a:ext cx="2856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1000949" y="4942651"/>
                <a:ext cx="2856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a:off x="3972749" y="4942651"/>
                <a:ext cx="2856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a:off x="5418961" y="4942651"/>
                <a:ext cx="2856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a:off x="7171561" y="2980561"/>
                <a:ext cx="2856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a:off x="5876161" y="2961451"/>
                <a:ext cx="2856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pic>
          <p:nvPicPr>
            <p:cNvPr id="8194" name="Picture 2"/>
            <p:cNvPicPr>
              <a:picLocks noChangeAspect="1" noChangeArrowheads="1"/>
            </p:cNvPicPr>
            <p:nvPr/>
          </p:nvPicPr>
          <p:blipFill>
            <a:blip r:embed="rId4" cstate="print"/>
            <a:srcRect/>
            <a:stretch>
              <a:fillRect/>
            </a:stretch>
          </p:blipFill>
          <p:spPr bwMode="auto">
            <a:xfrm>
              <a:off x="7848600" y="3619500"/>
              <a:ext cx="952500" cy="952500"/>
            </a:xfrm>
            <a:prstGeom prst="rect">
              <a:avLst/>
            </a:prstGeom>
            <a:noFill/>
            <a:ln w="9525">
              <a:noFill/>
              <a:miter lim="800000"/>
              <a:headEnd/>
              <a:tailEnd/>
            </a:ln>
          </p:spPr>
        </p:pic>
        <p:pic>
          <p:nvPicPr>
            <p:cNvPr id="8196" name="Picture 4"/>
            <p:cNvPicPr>
              <a:picLocks noChangeAspect="1" noChangeArrowheads="1"/>
            </p:cNvPicPr>
            <p:nvPr/>
          </p:nvPicPr>
          <p:blipFill>
            <a:blip r:embed="rId5" cstate="print"/>
            <a:srcRect/>
            <a:stretch>
              <a:fillRect/>
            </a:stretch>
          </p:blipFill>
          <p:spPr bwMode="auto">
            <a:xfrm>
              <a:off x="609600" y="5867400"/>
              <a:ext cx="1057275" cy="942975"/>
            </a:xfrm>
            <a:prstGeom prst="rect">
              <a:avLst/>
            </a:prstGeom>
            <a:noFill/>
            <a:ln w="9525">
              <a:noFill/>
              <a:miter lim="800000"/>
              <a:headEnd/>
              <a:tailEnd/>
            </a:ln>
          </p:spPr>
        </p:pic>
        <p:pic>
          <p:nvPicPr>
            <p:cNvPr id="8197" name="Picture 5"/>
            <p:cNvPicPr>
              <a:picLocks noChangeAspect="1" noChangeArrowheads="1"/>
            </p:cNvPicPr>
            <p:nvPr/>
          </p:nvPicPr>
          <p:blipFill>
            <a:blip r:embed="rId6" cstate="print"/>
            <a:srcRect/>
            <a:stretch>
              <a:fillRect/>
            </a:stretch>
          </p:blipFill>
          <p:spPr bwMode="auto">
            <a:xfrm>
              <a:off x="3352800" y="5943600"/>
              <a:ext cx="981075" cy="742950"/>
            </a:xfrm>
            <a:prstGeom prst="rect">
              <a:avLst/>
            </a:prstGeom>
            <a:noFill/>
            <a:ln w="9525">
              <a:noFill/>
              <a:miter lim="800000"/>
              <a:headEnd/>
              <a:tailEnd/>
            </a:ln>
          </p:spPr>
        </p:pic>
        <p:pic>
          <p:nvPicPr>
            <p:cNvPr id="8198" name="Picture 6"/>
            <p:cNvPicPr>
              <a:picLocks noChangeAspect="1" noChangeArrowheads="1"/>
            </p:cNvPicPr>
            <p:nvPr/>
          </p:nvPicPr>
          <p:blipFill>
            <a:blip r:embed="rId7" cstate="print"/>
            <a:srcRect/>
            <a:stretch>
              <a:fillRect/>
            </a:stretch>
          </p:blipFill>
          <p:spPr bwMode="auto">
            <a:xfrm>
              <a:off x="5657850" y="6172200"/>
              <a:ext cx="1428750" cy="304800"/>
            </a:xfrm>
            <a:prstGeom prst="rect">
              <a:avLst/>
            </a:prstGeom>
            <a:noFill/>
            <a:ln w="9525">
              <a:noFill/>
              <a:miter lim="800000"/>
              <a:headEnd/>
              <a:tailEnd/>
            </a:ln>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629400"/>
          </a:xfrm>
        </p:spPr>
        <p:txBody>
          <a:bodyPr>
            <a:normAutofit/>
          </a:bodyPr>
          <a:lstStyle/>
          <a:p>
            <a:pPr marL="0" indent="0" algn="just">
              <a:buNone/>
            </a:pPr>
            <a:r>
              <a:rPr lang="en-US" dirty="0">
                <a:solidFill>
                  <a:srgbClr val="FF0000"/>
                </a:solidFill>
                <a:latin typeface="Arial" pitchFamily="34" charset="0"/>
                <a:cs typeface="Arial" pitchFamily="34" charset="0"/>
              </a:rPr>
              <a:t>Saturated Hydrocarbons : </a:t>
            </a:r>
            <a:r>
              <a:rPr lang="en-US" sz="2800" dirty="0">
                <a:latin typeface="Arial" pitchFamily="34" charset="0"/>
                <a:cs typeface="Arial" pitchFamily="34" charset="0"/>
              </a:rPr>
              <a:t>A hydrocarbon in which carbon atoms are connected by only single bonds is called a</a:t>
            </a:r>
            <a:r>
              <a:rPr lang="en-US" sz="2800" b="1" dirty="0">
                <a:solidFill>
                  <a:srgbClr val="456B56"/>
                </a:solidFill>
                <a:latin typeface="Arial" pitchFamily="34" charset="0"/>
                <a:cs typeface="Arial" pitchFamily="34" charset="0"/>
              </a:rPr>
              <a:t> saturated Hydrocarbons.</a:t>
            </a:r>
          </a:p>
          <a:p>
            <a:pPr marL="0" indent="0" algn="just">
              <a:buNone/>
            </a:pPr>
            <a:endParaRPr lang="en-US" sz="1100" dirty="0">
              <a:latin typeface="Arial" pitchFamily="34" charset="0"/>
              <a:cs typeface="Arial" pitchFamily="34" charset="0"/>
            </a:endParaRPr>
          </a:p>
          <a:p>
            <a:pPr marL="0" indent="0" algn="just">
              <a:buNone/>
            </a:pPr>
            <a:r>
              <a:rPr lang="en-US" sz="2800" dirty="0">
                <a:latin typeface="Arial" pitchFamily="34" charset="0"/>
                <a:cs typeface="Arial" pitchFamily="34" charset="0"/>
              </a:rPr>
              <a:t>Saturated Hydrocarbons are also called</a:t>
            </a:r>
            <a:r>
              <a:rPr lang="en-US" sz="2800" b="1" dirty="0">
                <a:solidFill>
                  <a:srgbClr val="456B56"/>
                </a:solidFill>
                <a:latin typeface="Arial" pitchFamily="34" charset="0"/>
                <a:cs typeface="Arial" pitchFamily="34" charset="0"/>
              </a:rPr>
              <a:t> </a:t>
            </a:r>
            <a:r>
              <a:rPr lang="en-US" sz="2800" b="1" dirty="0" err="1">
                <a:solidFill>
                  <a:srgbClr val="456B56"/>
                </a:solidFill>
                <a:latin typeface="Arial" pitchFamily="34" charset="0"/>
                <a:cs typeface="Arial" pitchFamily="34" charset="0"/>
              </a:rPr>
              <a:t>Alkanes</a:t>
            </a:r>
            <a:r>
              <a:rPr lang="en-US" sz="2800" dirty="0">
                <a:latin typeface="Arial" pitchFamily="34" charset="0"/>
                <a:cs typeface="Arial" pitchFamily="34" charset="0"/>
              </a:rPr>
              <a:t>. </a:t>
            </a:r>
          </a:p>
          <a:p>
            <a:pPr marL="0" indent="0" algn="just">
              <a:buNone/>
            </a:pPr>
            <a:r>
              <a:rPr lang="en-US" sz="2800" dirty="0">
                <a:latin typeface="Arial" pitchFamily="34" charset="0"/>
                <a:cs typeface="Arial" pitchFamily="34" charset="0"/>
              </a:rPr>
              <a:t>The general formula of hydrocarbons or </a:t>
            </a:r>
            <a:r>
              <a:rPr lang="en-US" sz="2800" dirty="0" err="1">
                <a:latin typeface="Arial" pitchFamily="34" charset="0"/>
                <a:cs typeface="Arial" pitchFamily="34" charset="0"/>
              </a:rPr>
              <a:t>Alkanes</a:t>
            </a:r>
            <a:r>
              <a:rPr lang="en-US" sz="2800" dirty="0">
                <a:latin typeface="Arial" pitchFamily="34" charset="0"/>
                <a:cs typeface="Arial" pitchFamily="34" charset="0"/>
              </a:rPr>
              <a:t> is </a:t>
            </a:r>
            <a:r>
              <a:rPr lang="en-US" sz="2800" b="1" dirty="0">
                <a:solidFill>
                  <a:srgbClr val="456B56"/>
                </a:solidFill>
                <a:latin typeface="Arial" pitchFamily="34" charset="0"/>
                <a:cs typeface="Arial" pitchFamily="34" charset="0"/>
              </a:rPr>
              <a:t>C</a:t>
            </a:r>
            <a:r>
              <a:rPr lang="en-US" sz="2800" b="1" baseline="-25000" dirty="0">
                <a:solidFill>
                  <a:srgbClr val="456B56"/>
                </a:solidFill>
                <a:latin typeface="Arial" pitchFamily="34" charset="0"/>
                <a:cs typeface="Arial" pitchFamily="34" charset="0"/>
              </a:rPr>
              <a:t>n</a:t>
            </a:r>
            <a:r>
              <a:rPr lang="en-US" sz="2800" b="1" dirty="0">
                <a:solidFill>
                  <a:srgbClr val="456B56"/>
                </a:solidFill>
                <a:latin typeface="Arial" pitchFamily="34" charset="0"/>
                <a:cs typeface="Arial" pitchFamily="34" charset="0"/>
              </a:rPr>
              <a:t>H</a:t>
            </a:r>
            <a:r>
              <a:rPr lang="en-US" sz="2800" b="1" baseline="-25000" dirty="0">
                <a:solidFill>
                  <a:srgbClr val="456B56"/>
                </a:solidFill>
                <a:latin typeface="Arial" pitchFamily="34" charset="0"/>
                <a:cs typeface="Arial" pitchFamily="34" charset="0"/>
              </a:rPr>
              <a:t>2n+2 </a:t>
            </a:r>
            <a:r>
              <a:rPr lang="en-US" sz="2800" dirty="0">
                <a:latin typeface="Arial" pitchFamily="34" charset="0"/>
                <a:cs typeface="Arial" pitchFamily="34" charset="0"/>
              </a:rPr>
              <a:t>. Where n is the number carbon atoms in 1 molecule of </a:t>
            </a:r>
            <a:r>
              <a:rPr lang="en-US" sz="2800" dirty="0" err="1">
                <a:latin typeface="Arial" pitchFamily="34" charset="0"/>
                <a:cs typeface="Arial" pitchFamily="34" charset="0"/>
              </a:rPr>
              <a:t>alkane</a:t>
            </a:r>
            <a:endParaRPr lang="en-US" sz="2800" dirty="0">
              <a:latin typeface="Arial" pitchFamily="34" charset="0"/>
              <a:cs typeface="Arial" pitchFamily="34" charset="0"/>
            </a:endParaRPr>
          </a:p>
          <a:p>
            <a:pPr marL="0" indent="0" algn="just">
              <a:buNone/>
            </a:pPr>
            <a:r>
              <a:rPr lang="en-US" sz="2800" dirty="0">
                <a:latin typeface="Arial" pitchFamily="34" charset="0"/>
                <a:cs typeface="Arial" pitchFamily="34" charset="0"/>
              </a:rPr>
              <a:t>Ex : 	If  n = 1  ; CH</a:t>
            </a:r>
            <a:r>
              <a:rPr lang="en-US" sz="2800" baseline="-25000" dirty="0">
                <a:latin typeface="Arial" pitchFamily="34" charset="0"/>
                <a:cs typeface="Arial" pitchFamily="34" charset="0"/>
              </a:rPr>
              <a:t>4	</a:t>
            </a:r>
            <a:r>
              <a:rPr lang="en-US" sz="2800" dirty="0">
                <a:latin typeface="Arial" pitchFamily="34" charset="0"/>
                <a:cs typeface="Arial" pitchFamily="34" charset="0"/>
              </a:rPr>
              <a:t>	If n = 2 ;  C</a:t>
            </a:r>
            <a:r>
              <a:rPr lang="en-US" sz="2800" baseline="-25000" dirty="0">
                <a:latin typeface="Arial" pitchFamily="34" charset="0"/>
                <a:cs typeface="Arial" pitchFamily="34" charset="0"/>
              </a:rPr>
              <a:t>2</a:t>
            </a:r>
            <a:r>
              <a:rPr lang="en-US" sz="2800" dirty="0">
                <a:latin typeface="Arial" pitchFamily="34" charset="0"/>
                <a:cs typeface="Arial" pitchFamily="34" charset="0"/>
              </a:rPr>
              <a:t>H</a:t>
            </a:r>
            <a:r>
              <a:rPr lang="en-US" sz="2800" baseline="-25000" dirty="0">
                <a:latin typeface="Arial" pitchFamily="34" charset="0"/>
                <a:cs typeface="Arial" pitchFamily="34" charset="0"/>
              </a:rPr>
              <a:t>6</a:t>
            </a:r>
          </a:p>
          <a:p>
            <a:pPr marL="0" indent="0" algn="just">
              <a:buNone/>
            </a:pPr>
            <a:endParaRPr lang="en-US" sz="2800" baseline="-25000" dirty="0">
              <a:latin typeface="Arial" pitchFamily="34" charset="0"/>
              <a:cs typeface="Arial" pitchFamily="34" charset="0"/>
            </a:endParaRPr>
          </a:p>
          <a:p>
            <a:pPr marL="0" indent="0" algn="just">
              <a:buNone/>
            </a:pPr>
            <a:endParaRPr lang="en-US" sz="2800" baseline="-25000" dirty="0">
              <a:latin typeface="Arial" pitchFamily="34" charset="0"/>
              <a:cs typeface="Arial" pitchFamily="34" charset="0"/>
            </a:endParaRPr>
          </a:p>
          <a:p>
            <a:pPr marL="0" indent="0" algn="just">
              <a:buNone/>
            </a:pPr>
            <a:endParaRPr lang="en-US" sz="1600" dirty="0">
              <a:latin typeface="Arial" pitchFamily="34" charset="0"/>
              <a:cs typeface="Arial" pitchFamily="34" charset="0"/>
            </a:endParaRPr>
          </a:p>
          <a:p>
            <a:pPr marL="0" indent="0" algn="just">
              <a:buNone/>
            </a:pPr>
            <a:r>
              <a:rPr lang="en-US" sz="2800" dirty="0">
                <a:latin typeface="Arial" pitchFamily="34" charset="0"/>
                <a:cs typeface="Arial" pitchFamily="34" charset="0"/>
              </a:rPr>
              <a:t>	If n = 3 ; C</a:t>
            </a:r>
            <a:r>
              <a:rPr lang="en-US" sz="2800" baseline="-25000" dirty="0">
                <a:latin typeface="Arial" pitchFamily="34" charset="0"/>
                <a:cs typeface="Arial" pitchFamily="34" charset="0"/>
              </a:rPr>
              <a:t>3</a:t>
            </a:r>
            <a:r>
              <a:rPr lang="en-US" sz="2800" dirty="0">
                <a:latin typeface="Arial" pitchFamily="34" charset="0"/>
                <a:cs typeface="Arial" pitchFamily="34" charset="0"/>
              </a:rPr>
              <a:t>H</a:t>
            </a:r>
            <a:r>
              <a:rPr lang="en-US" sz="2800" baseline="-25000" dirty="0">
                <a:latin typeface="Arial" pitchFamily="34" charset="0"/>
                <a:cs typeface="Arial" pitchFamily="34" charset="0"/>
              </a:rPr>
              <a:t>8</a:t>
            </a:r>
            <a:r>
              <a:rPr lang="en-US" sz="2800" dirty="0">
                <a:latin typeface="Arial" pitchFamily="34" charset="0"/>
                <a:cs typeface="Arial" pitchFamily="34" charset="0"/>
              </a:rPr>
              <a:t>        	If n = 4 ; C</a:t>
            </a:r>
            <a:r>
              <a:rPr lang="en-US" sz="2800" baseline="-25000" dirty="0">
                <a:latin typeface="Arial" pitchFamily="34" charset="0"/>
                <a:cs typeface="Arial" pitchFamily="34" charset="0"/>
              </a:rPr>
              <a:t>4</a:t>
            </a:r>
            <a:r>
              <a:rPr lang="en-US" sz="2800" dirty="0">
                <a:latin typeface="Arial" pitchFamily="34" charset="0"/>
                <a:cs typeface="Arial" pitchFamily="34" charset="0"/>
              </a:rPr>
              <a:t>H</a:t>
            </a:r>
            <a:r>
              <a:rPr lang="en-US" sz="2800" baseline="-25000" dirty="0">
                <a:latin typeface="Arial" pitchFamily="34" charset="0"/>
                <a:cs typeface="Arial" pitchFamily="34" charset="0"/>
              </a:rPr>
              <a:t>10  </a:t>
            </a:r>
            <a:r>
              <a:rPr lang="en-US" dirty="0">
                <a:latin typeface="Arial" pitchFamily="34" charset="0"/>
                <a:cs typeface="Arial" pitchFamily="34" charset="0"/>
              </a:rPr>
              <a:t>….</a:t>
            </a:r>
            <a:endParaRPr lang="en-US" baseline="-25000" dirty="0">
              <a:latin typeface="Arial" pitchFamily="34" charset="0"/>
              <a:cs typeface="Arial" pitchFamily="34" charset="0"/>
            </a:endParaRPr>
          </a:p>
          <a:p>
            <a:pPr marL="0" indent="0" algn="just">
              <a:buNone/>
            </a:pPr>
            <a:endParaRPr lang="en-US" baseline="-25000" dirty="0">
              <a:latin typeface="Arial" pitchFamily="34" charset="0"/>
              <a:cs typeface="Arial" pitchFamily="34" charset="0"/>
            </a:endParaRPr>
          </a:p>
          <a:p>
            <a:pPr marL="0" indent="0" algn="just">
              <a:buNone/>
            </a:pPr>
            <a:endParaRPr lang="en-US" baseline="-25000" dirty="0">
              <a:latin typeface="Arial" pitchFamily="34" charset="0"/>
              <a:cs typeface="Arial" pitchFamily="34" charset="0"/>
            </a:endParaRPr>
          </a:p>
          <a:p>
            <a:pPr marL="0" indent="0" algn="just">
              <a:buNone/>
            </a:pPr>
            <a:endParaRPr lang="en-IN" dirty="0">
              <a:latin typeface="Arial" pitchFamily="34" charset="0"/>
              <a:cs typeface="Arial" pitchFamily="34" charset="0"/>
            </a:endParaRPr>
          </a:p>
        </p:txBody>
      </p:sp>
      <p:pic>
        <p:nvPicPr>
          <p:cNvPr id="6" name="Picture 2"/>
          <p:cNvPicPr>
            <a:picLocks noChangeAspect="1" noChangeArrowheads="1"/>
          </p:cNvPicPr>
          <p:nvPr/>
        </p:nvPicPr>
        <p:blipFill>
          <a:blip r:embed="rId2" cstate="print"/>
          <a:srcRect/>
          <a:stretch>
            <a:fillRect/>
          </a:stretch>
        </p:blipFill>
        <p:spPr bwMode="auto">
          <a:xfrm>
            <a:off x="5562600" y="5867400"/>
            <a:ext cx="1676400" cy="816142"/>
          </a:xfrm>
          <a:prstGeom prst="rect">
            <a:avLst/>
          </a:prstGeom>
          <a:noFill/>
          <a:ln w="9525">
            <a:noFill/>
            <a:miter lim="800000"/>
            <a:headEnd/>
            <a:tailEnd/>
          </a:ln>
        </p:spPr>
      </p:pic>
      <p:pic>
        <p:nvPicPr>
          <p:cNvPr id="7" name="Google Shape;52;p7" descr="preencoded.png"/>
          <p:cNvPicPr preferRelativeResize="0"/>
          <p:nvPr/>
        </p:nvPicPr>
        <p:blipFill rotWithShape="1">
          <a:blip r:embed="rId3">
            <a:alphaModFix/>
          </a:blip>
          <a:srcRect l="14252" t="66726" r="71495"/>
          <a:stretch/>
        </p:blipFill>
        <p:spPr>
          <a:xfrm>
            <a:off x="1905000" y="4191000"/>
            <a:ext cx="1143000" cy="1066800"/>
          </a:xfrm>
          <a:prstGeom prst="rect">
            <a:avLst/>
          </a:prstGeom>
          <a:noFill/>
          <a:ln>
            <a:noFill/>
          </a:ln>
        </p:spPr>
      </p:pic>
      <p:pic>
        <p:nvPicPr>
          <p:cNvPr id="8" name="Google Shape;52;p7" descr="preencoded.png"/>
          <p:cNvPicPr preferRelativeResize="0"/>
          <p:nvPr/>
        </p:nvPicPr>
        <p:blipFill rotWithShape="1">
          <a:blip r:embed="rId3">
            <a:alphaModFix/>
          </a:blip>
          <a:srcRect l="57009" t="68209" r="21194"/>
          <a:stretch/>
        </p:blipFill>
        <p:spPr>
          <a:xfrm>
            <a:off x="5562600" y="4191000"/>
            <a:ext cx="1295400" cy="1143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4876800"/>
          </a:xfrm>
        </p:spPr>
        <p:txBody>
          <a:bodyPr>
            <a:normAutofit fontScale="92500" lnSpcReduction="20000"/>
          </a:bodyPr>
          <a:lstStyle/>
          <a:p>
            <a:pPr marL="0" indent="0" algn="just">
              <a:buNone/>
            </a:pPr>
            <a:r>
              <a:rPr lang="en-US" u="sng" dirty="0">
                <a:solidFill>
                  <a:srgbClr val="FF0000"/>
                </a:solidFill>
                <a:latin typeface="Arial" pitchFamily="34" charset="0"/>
                <a:cs typeface="Arial" pitchFamily="34" charset="0"/>
              </a:rPr>
              <a:t>Unsaturated Hydrocarbons (Alkenes and Alkynes)</a:t>
            </a:r>
            <a:r>
              <a:rPr lang="en-US" dirty="0">
                <a:solidFill>
                  <a:srgbClr val="FF0000"/>
                </a:solidFill>
                <a:latin typeface="Arial" pitchFamily="34" charset="0"/>
                <a:cs typeface="Arial" pitchFamily="34" charset="0"/>
              </a:rPr>
              <a:t> : </a:t>
            </a:r>
            <a:r>
              <a:rPr lang="en-US" sz="2800" dirty="0">
                <a:latin typeface="Arial" pitchFamily="34" charset="0"/>
                <a:cs typeface="Arial" pitchFamily="34" charset="0"/>
              </a:rPr>
              <a:t>A hydrocarbon in which the two carbon atoms are connected by a </a:t>
            </a:r>
            <a:r>
              <a:rPr lang="en-US" sz="2800" b="1" dirty="0">
                <a:solidFill>
                  <a:srgbClr val="005828"/>
                </a:solidFill>
                <a:latin typeface="Arial" pitchFamily="34" charset="0"/>
                <a:cs typeface="Arial" pitchFamily="34" charset="0"/>
              </a:rPr>
              <a:t>“double bond”</a:t>
            </a:r>
            <a:r>
              <a:rPr lang="en-US" sz="2800" dirty="0">
                <a:latin typeface="Arial" pitchFamily="34" charset="0"/>
                <a:cs typeface="Arial" pitchFamily="34" charset="0"/>
              </a:rPr>
              <a:t> or </a:t>
            </a:r>
            <a:r>
              <a:rPr lang="en-US" sz="2800" b="1" dirty="0">
                <a:solidFill>
                  <a:srgbClr val="005828"/>
                </a:solidFill>
                <a:latin typeface="Arial" pitchFamily="34" charset="0"/>
                <a:cs typeface="Arial" pitchFamily="34" charset="0"/>
              </a:rPr>
              <a:t>“triple bond”</a:t>
            </a:r>
            <a:r>
              <a:rPr lang="en-US" sz="2800" dirty="0">
                <a:latin typeface="Arial" pitchFamily="34" charset="0"/>
                <a:cs typeface="Arial" pitchFamily="34" charset="0"/>
              </a:rPr>
              <a:t> is called unsaturated hydrocarbon.</a:t>
            </a:r>
          </a:p>
          <a:p>
            <a:pPr marL="0" indent="0" algn="just">
              <a:buNone/>
            </a:pPr>
            <a:r>
              <a:rPr lang="en-US" sz="2800" dirty="0">
                <a:latin typeface="Arial" pitchFamily="34" charset="0"/>
                <a:cs typeface="Arial" pitchFamily="34" charset="0"/>
              </a:rPr>
              <a:t>Ex : Alkenes  and Alkynes : </a:t>
            </a:r>
          </a:p>
          <a:p>
            <a:pPr marL="0" indent="0" algn="just">
              <a:buNone/>
            </a:pPr>
            <a:endParaRPr lang="en-IN" sz="2800" dirty="0">
              <a:latin typeface="Arial" pitchFamily="34" charset="0"/>
              <a:cs typeface="Arial" pitchFamily="34" charset="0"/>
            </a:endParaRPr>
          </a:p>
          <a:p>
            <a:pPr marL="0" indent="0" algn="just">
              <a:buNone/>
            </a:pPr>
            <a:r>
              <a:rPr lang="en-US" sz="2800" u="sng" dirty="0">
                <a:solidFill>
                  <a:srgbClr val="FF0000"/>
                </a:solidFill>
                <a:latin typeface="Arial" pitchFamily="34" charset="0"/>
                <a:cs typeface="Arial" pitchFamily="34" charset="0"/>
              </a:rPr>
              <a:t>Alkenes</a:t>
            </a:r>
            <a:r>
              <a:rPr lang="en-US" sz="2800" dirty="0">
                <a:latin typeface="Arial" pitchFamily="34" charset="0"/>
                <a:cs typeface="Arial" pitchFamily="34" charset="0"/>
              </a:rPr>
              <a:t> : An unsaturated hydrocarbon in which the two carbon atoms are connected by a “double bond” is called an </a:t>
            </a:r>
            <a:r>
              <a:rPr lang="en-US" sz="2800" b="1" dirty="0" err="1">
                <a:solidFill>
                  <a:srgbClr val="005828"/>
                </a:solidFill>
                <a:latin typeface="Arial" pitchFamily="34" charset="0"/>
                <a:cs typeface="Arial" pitchFamily="34" charset="0"/>
              </a:rPr>
              <a:t>Alkene</a:t>
            </a:r>
            <a:r>
              <a:rPr lang="en-US" sz="2800" dirty="0">
                <a:latin typeface="Arial" pitchFamily="34" charset="0"/>
                <a:cs typeface="Arial" pitchFamily="34" charset="0"/>
              </a:rPr>
              <a:t>.</a:t>
            </a:r>
          </a:p>
          <a:p>
            <a:pPr marL="0" indent="0" algn="just">
              <a:buNone/>
            </a:pPr>
            <a:r>
              <a:rPr lang="en-US" sz="2800" dirty="0">
                <a:latin typeface="Arial" pitchFamily="34" charset="0"/>
                <a:cs typeface="Arial" pitchFamily="34" charset="0"/>
              </a:rPr>
              <a:t>The general formula of an </a:t>
            </a:r>
            <a:r>
              <a:rPr lang="en-US" sz="2800" dirty="0" err="1">
                <a:latin typeface="Arial" pitchFamily="34" charset="0"/>
                <a:cs typeface="Arial" pitchFamily="34" charset="0"/>
              </a:rPr>
              <a:t>Alkene</a:t>
            </a:r>
            <a:r>
              <a:rPr lang="en-US" sz="2800" dirty="0">
                <a:latin typeface="Arial" pitchFamily="34" charset="0"/>
                <a:cs typeface="Arial" pitchFamily="34" charset="0"/>
              </a:rPr>
              <a:t> is </a:t>
            </a:r>
            <a:r>
              <a:rPr lang="en-US" sz="2800" b="1" dirty="0">
                <a:solidFill>
                  <a:srgbClr val="456B56"/>
                </a:solidFill>
                <a:latin typeface="Arial" pitchFamily="34" charset="0"/>
                <a:cs typeface="Arial" pitchFamily="34" charset="0"/>
              </a:rPr>
              <a:t>C</a:t>
            </a:r>
            <a:r>
              <a:rPr lang="en-US" sz="2800" b="1" baseline="-25000" dirty="0">
                <a:solidFill>
                  <a:srgbClr val="456B56"/>
                </a:solidFill>
                <a:latin typeface="Arial" pitchFamily="34" charset="0"/>
                <a:cs typeface="Arial" pitchFamily="34" charset="0"/>
              </a:rPr>
              <a:t>n</a:t>
            </a:r>
            <a:r>
              <a:rPr lang="en-US" sz="2800" b="1" dirty="0">
                <a:solidFill>
                  <a:srgbClr val="456B56"/>
                </a:solidFill>
                <a:latin typeface="Arial" pitchFamily="34" charset="0"/>
                <a:cs typeface="Arial" pitchFamily="34" charset="0"/>
              </a:rPr>
              <a:t>H</a:t>
            </a:r>
            <a:r>
              <a:rPr lang="en-US" sz="2800" b="1" baseline="-25000" dirty="0">
                <a:solidFill>
                  <a:srgbClr val="456B56"/>
                </a:solidFill>
                <a:latin typeface="Arial" pitchFamily="34" charset="0"/>
                <a:cs typeface="Arial" pitchFamily="34" charset="0"/>
              </a:rPr>
              <a:t>2n</a:t>
            </a:r>
            <a:r>
              <a:rPr lang="en-US" sz="2800" dirty="0">
                <a:latin typeface="Arial" pitchFamily="34" charset="0"/>
                <a:cs typeface="Arial" pitchFamily="34" charset="0"/>
              </a:rPr>
              <a:t> Where n is number of carbon atoms in its one molecule. </a:t>
            </a:r>
          </a:p>
          <a:p>
            <a:pPr marL="0" indent="0" algn="just">
              <a:buNone/>
            </a:pPr>
            <a:endParaRPr lang="en-US" sz="2200" b="1" dirty="0">
              <a:solidFill>
                <a:srgbClr val="005828"/>
              </a:solidFill>
              <a:latin typeface="Arial" pitchFamily="34" charset="0"/>
              <a:cs typeface="Arial" pitchFamily="34" charset="0"/>
            </a:endParaRPr>
          </a:p>
          <a:p>
            <a:pPr marL="0" indent="0" algn="just">
              <a:buNone/>
            </a:pPr>
            <a:r>
              <a:rPr lang="en-US" sz="2200" b="1" dirty="0">
                <a:solidFill>
                  <a:srgbClr val="005828"/>
                </a:solidFill>
                <a:latin typeface="Arial" pitchFamily="34" charset="0"/>
                <a:cs typeface="Arial" pitchFamily="34" charset="0"/>
              </a:rPr>
              <a:t>If n = 2   C</a:t>
            </a:r>
            <a:r>
              <a:rPr lang="en-US" sz="2200" b="1" baseline="-25000" dirty="0">
                <a:solidFill>
                  <a:srgbClr val="005828"/>
                </a:solidFill>
                <a:latin typeface="Arial" pitchFamily="34" charset="0"/>
                <a:cs typeface="Arial" pitchFamily="34" charset="0"/>
              </a:rPr>
              <a:t>2</a:t>
            </a:r>
            <a:r>
              <a:rPr lang="en-US" sz="2200" b="1" dirty="0">
                <a:solidFill>
                  <a:srgbClr val="005828"/>
                </a:solidFill>
                <a:latin typeface="Arial" pitchFamily="34" charset="0"/>
                <a:cs typeface="Arial" pitchFamily="34" charset="0"/>
              </a:rPr>
              <a:t>H</a:t>
            </a:r>
            <a:r>
              <a:rPr lang="en-US" sz="2200" b="1" baseline="-25000" dirty="0">
                <a:solidFill>
                  <a:srgbClr val="005828"/>
                </a:solidFill>
                <a:latin typeface="Arial" pitchFamily="34" charset="0"/>
                <a:cs typeface="Arial" pitchFamily="34" charset="0"/>
              </a:rPr>
              <a:t>4 </a:t>
            </a:r>
            <a:r>
              <a:rPr lang="en-US" sz="2200" b="1" dirty="0" err="1">
                <a:solidFill>
                  <a:srgbClr val="005828"/>
                </a:solidFill>
                <a:latin typeface="Arial" pitchFamily="34" charset="0"/>
                <a:cs typeface="Arial" pitchFamily="34" charset="0"/>
              </a:rPr>
              <a:t>Ethene</a:t>
            </a:r>
            <a:r>
              <a:rPr lang="en-US" sz="2200" b="1" dirty="0">
                <a:solidFill>
                  <a:srgbClr val="005828"/>
                </a:solidFill>
                <a:latin typeface="Arial" pitchFamily="34" charset="0"/>
                <a:cs typeface="Arial" pitchFamily="34" charset="0"/>
              </a:rPr>
              <a:t> </a:t>
            </a:r>
            <a:r>
              <a:rPr lang="en-US" sz="2200" b="1" baseline="-25000" dirty="0">
                <a:solidFill>
                  <a:srgbClr val="005828"/>
                </a:solidFill>
                <a:latin typeface="Arial" pitchFamily="34" charset="0"/>
                <a:cs typeface="Arial" pitchFamily="34" charset="0"/>
              </a:rPr>
              <a:t>	  	</a:t>
            </a:r>
            <a:r>
              <a:rPr lang="en-US" sz="2200" b="1" dirty="0">
                <a:solidFill>
                  <a:srgbClr val="005828"/>
                </a:solidFill>
                <a:latin typeface="Arial" pitchFamily="34" charset="0"/>
                <a:cs typeface="Arial" pitchFamily="34" charset="0"/>
              </a:rPr>
              <a:t>  n = 3  C</a:t>
            </a:r>
            <a:r>
              <a:rPr lang="en-US" sz="2200" b="1" baseline="-25000" dirty="0">
                <a:solidFill>
                  <a:srgbClr val="005828"/>
                </a:solidFill>
                <a:latin typeface="Arial" pitchFamily="34" charset="0"/>
                <a:cs typeface="Arial" pitchFamily="34" charset="0"/>
              </a:rPr>
              <a:t>3</a:t>
            </a:r>
            <a:r>
              <a:rPr lang="en-US" sz="2200" b="1" dirty="0">
                <a:solidFill>
                  <a:srgbClr val="005828"/>
                </a:solidFill>
                <a:latin typeface="Arial" pitchFamily="34" charset="0"/>
                <a:cs typeface="Arial" pitchFamily="34" charset="0"/>
              </a:rPr>
              <a:t>H</a:t>
            </a:r>
            <a:r>
              <a:rPr lang="en-US" sz="2200" b="1" baseline="-25000" dirty="0">
                <a:solidFill>
                  <a:srgbClr val="005828"/>
                </a:solidFill>
                <a:latin typeface="Arial" pitchFamily="34" charset="0"/>
                <a:cs typeface="Arial" pitchFamily="34" charset="0"/>
              </a:rPr>
              <a:t>6 </a:t>
            </a:r>
            <a:r>
              <a:rPr lang="en-US" sz="2200" b="1" dirty="0" err="1">
                <a:solidFill>
                  <a:srgbClr val="005828"/>
                </a:solidFill>
                <a:latin typeface="Arial" pitchFamily="34" charset="0"/>
                <a:cs typeface="Arial" pitchFamily="34" charset="0"/>
              </a:rPr>
              <a:t>Propene</a:t>
            </a:r>
            <a:r>
              <a:rPr lang="en-US" sz="2200" b="1" dirty="0">
                <a:solidFill>
                  <a:srgbClr val="005828"/>
                </a:solidFill>
                <a:latin typeface="Arial" pitchFamily="34" charset="0"/>
                <a:cs typeface="Arial" pitchFamily="34" charset="0"/>
              </a:rPr>
              <a:t> </a:t>
            </a:r>
            <a:endParaRPr lang="en-US" sz="2200" b="1" baseline="-25000" dirty="0">
              <a:solidFill>
                <a:srgbClr val="005828"/>
              </a:solidFill>
              <a:latin typeface="Arial" pitchFamily="34" charset="0"/>
              <a:cs typeface="Arial" pitchFamily="34" charset="0"/>
            </a:endParaRPr>
          </a:p>
          <a:p>
            <a:pPr marL="0" indent="0" algn="just">
              <a:buNone/>
            </a:pPr>
            <a:endParaRPr lang="en-US" sz="2200" baseline="-25000" dirty="0">
              <a:latin typeface="Arial" pitchFamily="34" charset="0"/>
              <a:cs typeface="Arial" pitchFamily="34" charset="0"/>
            </a:endParaRPr>
          </a:p>
          <a:p>
            <a:pPr marL="0" indent="0" algn="just">
              <a:buNone/>
            </a:pPr>
            <a:endParaRPr lang="en-US" sz="2200" baseline="-25000" dirty="0">
              <a:latin typeface="Arial" pitchFamily="34" charset="0"/>
              <a:cs typeface="Arial" pitchFamily="34" charset="0"/>
            </a:endParaRPr>
          </a:p>
          <a:p>
            <a:pPr marL="0" indent="0" algn="just">
              <a:buNone/>
            </a:pPr>
            <a:endParaRPr lang="en-IN" dirty="0">
              <a:latin typeface="Arial" pitchFamily="34" charset="0"/>
              <a:cs typeface="Arial" pitchFamily="34" charset="0"/>
            </a:endParaRPr>
          </a:p>
        </p:txBody>
      </p:sp>
      <p:pic>
        <p:nvPicPr>
          <p:cNvPr id="40961" name="Picture 1" descr="F:\ECONTENT CHEMISTRY\main-qimg-d6859db84dfcd1ebd18cce1f61d5a517.jpg"/>
          <p:cNvPicPr>
            <a:picLocks noChangeAspect="1" noChangeArrowheads="1"/>
          </p:cNvPicPr>
          <p:nvPr/>
        </p:nvPicPr>
        <p:blipFill>
          <a:blip r:embed="rId2"/>
          <a:srcRect b="28150"/>
          <a:stretch>
            <a:fillRect/>
          </a:stretch>
        </p:blipFill>
        <p:spPr bwMode="auto">
          <a:xfrm>
            <a:off x="914400" y="4876800"/>
            <a:ext cx="1828800" cy="1371600"/>
          </a:xfrm>
          <a:prstGeom prst="rect">
            <a:avLst/>
          </a:prstGeom>
          <a:noFill/>
        </p:spPr>
      </p:pic>
      <p:pic>
        <p:nvPicPr>
          <p:cNvPr id="40962" name="Picture 2" descr="F:\ECONTENT CHEMISTRY\Propene.jpg"/>
          <p:cNvPicPr>
            <a:picLocks noChangeAspect="1" noChangeArrowheads="1"/>
          </p:cNvPicPr>
          <p:nvPr/>
        </p:nvPicPr>
        <p:blipFill>
          <a:blip r:embed="rId3"/>
          <a:srcRect l="12069" t="17241" r="7759" b="13793"/>
          <a:stretch>
            <a:fillRect/>
          </a:stretch>
        </p:blipFill>
        <p:spPr bwMode="auto">
          <a:xfrm>
            <a:off x="4191000" y="4953000"/>
            <a:ext cx="2480310" cy="16002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248400"/>
          </a:xfrm>
        </p:spPr>
        <p:txBody>
          <a:bodyPr>
            <a:normAutofit fontScale="92500"/>
          </a:bodyPr>
          <a:lstStyle/>
          <a:p>
            <a:pPr marL="0" indent="0" algn="just">
              <a:buNone/>
            </a:pPr>
            <a:r>
              <a:rPr lang="en-US" sz="2800" u="sng" dirty="0">
                <a:solidFill>
                  <a:srgbClr val="FF0000"/>
                </a:solidFill>
                <a:latin typeface="Arial" pitchFamily="34" charset="0"/>
                <a:cs typeface="Arial" pitchFamily="34" charset="0"/>
              </a:rPr>
              <a:t>Alkynes</a:t>
            </a:r>
            <a:r>
              <a:rPr lang="en-US" sz="2800" dirty="0">
                <a:latin typeface="Arial" pitchFamily="34" charset="0"/>
                <a:cs typeface="Arial" pitchFamily="34" charset="0"/>
              </a:rPr>
              <a:t> : An unsaturated hydrocarbon in which the two carbon atoms are connected by a “triple bond” is called an </a:t>
            </a:r>
            <a:r>
              <a:rPr lang="en-US" sz="2800" b="1" dirty="0" err="1">
                <a:solidFill>
                  <a:srgbClr val="005828"/>
                </a:solidFill>
                <a:latin typeface="Arial" pitchFamily="34" charset="0"/>
                <a:cs typeface="Arial" pitchFamily="34" charset="0"/>
              </a:rPr>
              <a:t>Alkyne</a:t>
            </a:r>
            <a:r>
              <a:rPr lang="en-US" sz="2800" dirty="0">
                <a:latin typeface="Arial" pitchFamily="34" charset="0"/>
                <a:cs typeface="Arial" pitchFamily="34" charset="0"/>
              </a:rPr>
              <a:t>.</a:t>
            </a:r>
          </a:p>
          <a:p>
            <a:pPr marL="0" indent="0" algn="just">
              <a:buNone/>
            </a:pPr>
            <a:r>
              <a:rPr lang="en-US" sz="2800" dirty="0">
                <a:latin typeface="Arial" pitchFamily="34" charset="0"/>
                <a:cs typeface="Arial" pitchFamily="34" charset="0"/>
              </a:rPr>
              <a:t>The general formula of an </a:t>
            </a:r>
            <a:r>
              <a:rPr lang="en-US" sz="2800" dirty="0" err="1">
                <a:latin typeface="Arial" pitchFamily="34" charset="0"/>
                <a:cs typeface="Arial" pitchFamily="34" charset="0"/>
              </a:rPr>
              <a:t>Alkyne</a:t>
            </a:r>
            <a:r>
              <a:rPr lang="en-US" sz="2800" dirty="0">
                <a:latin typeface="Arial" pitchFamily="34" charset="0"/>
                <a:cs typeface="Arial" pitchFamily="34" charset="0"/>
              </a:rPr>
              <a:t> is </a:t>
            </a:r>
            <a:r>
              <a:rPr lang="en-US" sz="2800" b="1" dirty="0">
                <a:solidFill>
                  <a:srgbClr val="456B56"/>
                </a:solidFill>
                <a:latin typeface="Arial" pitchFamily="34" charset="0"/>
                <a:cs typeface="Arial" pitchFamily="34" charset="0"/>
              </a:rPr>
              <a:t>C</a:t>
            </a:r>
            <a:r>
              <a:rPr lang="en-US" sz="2800" b="1" baseline="-25000" dirty="0">
                <a:solidFill>
                  <a:srgbClr val="456B56"/>
                </a:solidFill>
                <a:latin typeface="Arial" pitchFamily="34" charset="0"/>
                <a:cs typeface="Arial" pitchFamily="34" charset="0"/>
              </a:rPr>
              <a:t>n</a:t>
            </a:r>
            <a:r>
              <a:rPr lang="en-US" sz="2800" b="1" dirty="0">
                <a:solidFill>
                  <a:srgbClr val="456B56"/>
                </a:solidFill>
                <a:latin typeface="Arial" pitchFamily="34" charset="0"/>
                <a:cs typeface="Arial" pitchFamily="34" charset="0"/>
              </a:rPr>
              <a:t>H</a:t>
            </a:r>
            <a:r>
              <a:rPr lang="en-US" sz="2800" b="1" baseline="-25000" dirty="0">
                <a:solidFill>
                  <a:srgbClr val="456B56"/>
                </a:solidFill>
                <a:latin typeface="Arial" pitchFamily="34" charset="0"/>
                <a:cs typeface="Arial" pitchFamily="34" charset="0"/>
              </a:rPr>
              <a:t>2n-2</a:t>
            </a:r>
            <a:r>
              <a:rPr lang="en-US" sz="2800" dirty="0">
                <a:latin typeface="Arial" pitchFamily="34" charset="0"/>
                <a:cs typeface="Arial" pitchFamily="34" charset="0"/>
              </a:rPr>
              <a:t> Where n is number of carbon atoms in its one molecule. </a:t>
            </a:r>
          </a:p>
          <a:p>
            <a:pPr marL="0" indent="0" algn="just">
              <a:buNone/>
            </a:pPr>
            <a:endParaRPr lang="en-US" sz="2800" b="1" dirty="0">
              <a:solidFill>
                <a:srgbClr val="005828"/>
              </a:solidFill>
              <a:latin typeface="Arial" pitchFamily="34" charset="0"/>
              <a:cs typeface="Arial" pitchFamily="34" charset="0"/>
            </a:endParaRPr>
          </a:p>
          <a:p>
            <a:pPr marL="0" indent="0" algn="just">
              <a:buNone/>
            </a:pPr>
            <a:r>
              <a:rPr lang="en-US" sz="2800" b="1" dirty="0">
                <a:solidFill>
                  <a:srgbClr val="005828"/>
                </a:solidFill>
                <a:latin typeface="Arial" pitchFamily="34" charset="0"/>
                <a:cs typeface="Arial" pitchFamily="34" charset="0"/>
              </a:rPr>
              <a:t>If n = 2  ; C</a:t>
            </a:r>
            <a:r>
              <a:rPr lang="en-US" sz="2800" b="1" baseline="-25000" dirty="0">
                <a:solidFill>
                  <a:srgbClr val="005828"/>
                </a:solidFill>
                <a:latin typeface="Arial" pitchFamily="34" charset="0"/>
                <a:cs typeface="Arial" pitchFamily="34" charset="0"/>
              </a:rPr>
              <a:t>2</a:t>
            </a:r>
            <a:r>
              <a:rPr lang="en-US" sz="2800" b="1" dirty="0">
                <a:solidFill>
                  <a:srgbClr val="005828"/>
                </a:solidFill>
                <a:latin typeface="Arial" pitchFamily="34" charset="0"/>
                <a:cs typeface="Arial" pitchFamily="34" charset="0"/>
              </a:rPr>
              <a:t>H</a:t>
            </a:r>
            <a:r>
              <a:rPr lang="en-US" sz="2800" b="1" baseline="-25000" dirty="0">
                <a:solidFill>
                  <a:srgbClr val="005828"/>
                </a:solidFill>
                <a:latin typeface="Arial" pitchFamily="34" charset="0"/>
                <a:cs typeface="Arial" pitchFamily="34" charset="0"/>
              </a:rPr>
              <a:t>2 </a:t>
            </a:r>
            <a:r>
              <a:rPr lang="en-US" sz="2800" b="1" dirty="0" err="1">
                <a:solidFill>
                  <a:srgbClr val="005828"/>
                </a:solidFill>
                <a:latin typeface="Arial" pitchFamily="34" charset="0"/>
                <a:cs typeface="Arial" pitchFamily="34" charset="0"/>
              </a:rPr>
              <a:t>Ethyne</a:t>
            </a:r>
            <a:r>
              <a:rPr lang="en-US" sz="2800" b="1" dirty="0">
                <a:solidFill>
                  <a:srgbClr val="005828"/>
                </a:solidFill>
                <a:latin typeface="Arial" pitchFamily="34" charset="0"/>
                <a:cs typeface="Arial" pitchFamily="34" charset="0"/>
              </a:rPr>
              <a:t> </a:t>
            </a:r>
            <a:r>
              <a:rPr lang="en-US" sz="2800" b="1" baseline="-25000" dirty="0">
                <a:solidFill>
                  <a:srgbClr val="005828"/>
                </a:solidFill>
                <a:latin typeface="Arial" pitchFamily="34" charset="0"/>
                <a:cs typeface="Arial" pitchFamily="34" charset="0"/>
              </a:rPr>
              <a:t>	  </a:t>
            </a:r>
            <a:r>
              <a:rPr lang="en-US" sz="2800" b="1" dirty="0">
                <a:solidFill>
                  <a:srgbClr val="005828"/>
                </a:solidFill>
                <a:latin typeface="Arial" pitchFamily="34" charset="0"/>
                <a:cs typeface="Arial" pitchFamily="34" charset="0"/>
              </a:rPr>
              <a:t>     n = 3 ; C</a:t>
            </a:r>
            <a:r>
              <a:rPr lang="en-US" sz="2800" b="1" baseline="-25000" dirty="0">
                <a:solidFill>
                  <a:srgbClr val="005828"/>
                </a:solidFill>
                <a:latin typeface="Arial" pitchFamily="34" charset="0"/>
                <a:cs typeface="Arial" pitchFamily="34" charset="0"/>
              </a:rPr>
              <a:t>3</a:t>
            </a:r>
            <a:r>
              <a:rPr lang="en-US" sz="2800" b="1" dirty="0">
                <a:solidFill>
                  <a:srgbClr val="005828"/>
                </a:solidFill>
                <a:latin typeface="Arial" pitchFamily="34" charset="0"/>
                <a:cs typeface="Arial" pitchFamily="34" charset="0"/>
              </a:rPr>
              <a:t>H</a:t>
            </a:r>
            <a:r>
              <a:rPr lang="en-US" sz="2800" b="1" baseline="-25000" dirty="0">
                <a:solidFill>
                  <a:srgbClr val="005828"/>
                </a:solidFill>
                <a:latin typeface="Arial" pitchFamily="34" charset="0"/>
                <a:cs typeface="Arial" pitchFamily="34" charset="0"/>
              </a:rPr>
              <a:t>4 </a:t>
            </a:r>
            <a:r>
              <a:rPr lang="en-US" sz="2800" b="1" dirty="0" err="1">
                <a:solidFill>
                  <a:srgbClr val="005828"/>
                </a:solidFill>
                <a:latin typeface="Arial" pitchFamily="34" charset="0"/>
                <a:cs typeface="Arial" pitchFamily="34" charset="0"/>
              </a:rPr>
              <a:t>Propyne</a:t>
            </a:r>
            <a:r>
              <a:rPr lang="en-US" sz="2800" b="1" dirty="0">
                <a:solidFill>
                  <a:srgbClr val="005828"/>
                </a:solidFill>
                <a:latin typeface="Arial" pitchFamily="34" charset="0"/>
                <a:cs typeface="Arial" pitchFamily="34" charset="0"/>
              </a:rPr>
              <a:t> </a:t>
            </a:r>
            <a:endParaRPr lang="en-US" sz="2800" b="1" baseline="-25000" dirty="0">
              <a:solidFill>
                <a:srgbClr val="005828"/>
              </a:solidFill>
              <a:latin typeface="Arial" pitchFamily="34" charset="0"/>
              <a:cs typeface="Arial" pitchFamily="34" charset="0"/>
            </a:endParaRPr>
          </a:p>
          <a:p>
            <a:pPr marL="0" indent="0" algn="just">
              <a:buNone/>
            </a:pPr>
            <a:endParaRPr lang="en-US" sz="2800" dirty="0">
              <a:latin typeface="Arial" pitchFamily="34" charset="0"/>
              <a:cs typeface="Arial" pitchFamily="34" charset="0"/>
            </a:endParaRPr>
          </a:p>
          <a:p>
            <a:pPr marL="0" indent="0" algn="just">
              <a:buNone/>
            </a:pPr>
            <a:endParaRPr lang="en-US" sz="2800" dirty="0">
              <a:latin typeface="Arial" pitchFamily="34" charset="0"/>
              <a:cs typeface="Arial" pitchFamily="34" charset="0"/>
            </a:endParaRPr>
          </a:p>
          <a:p>
            <a:pPr marL="0" indent="0" algn="just">
              <a:buNone/>
            </a:pPr>
            <a:endParaRPr lang="en-US" sz="2800" dirty="0">
              <a:latin typeface="Arial" pitchFamily="34" charset="0"/>
              <a:cs typeface="Arial" pitchFamily="34" charset="0"/>
            </a:endParaRPr>
          </a:p>
          <a:p>
            <a:pPr marL="0" indent="0" algn="just">
              <a:buNone/>
            </a:pPr>
            <a:endParaRPr lang="en-US" sz="2800" dirty="0">
              <a:latin typeface="Arial" pitchFamily="34" charset="0"/>
              <a:cs typeface="Arial" pitchFamily="34" charset="0"/>
            </a:endParaRPr>
          </a:p>
          <a:p>
            <a:pPr marL="0" indent="0" algn="just">
              <a:buNone/>
            </a:pPr>
            <a:endParaRPr lang="en-US" sz="2800" b="1" dirty="0">
              <a:solidFill>
                <a:srgbClr val="005828"/>
              </a:solidFill>
              <a:latin typeface="Arial" pitchFamily="34" charset="0"/>
              <a:cs typeface="Arial" pitchFamily="34" charset="0"/>
            </a:endParaRPr>
          </a:p>
          <a:p>
            <a:pPr marL="0" indent="0" algn="just">
              <a:buNone/>
            </a:pPr>
            <a:r>
              <a:rPr lang="en-US" dirty="0">
                <a:latin typeface="Arial" pitchFamily="34" charset="0"/>
                <a:cs typeface="Arial" pitchFamily="34" charset="0"/>
              </a:rPr>
              <a:t>.</a:t>
            </a:r>
            <a:endParaRPr lang="en-US" baseline="-25000" dirty="0">
              <a:latin typeface="Arial" pitchFamily="34" charset="0"/>
              <a:cs typeface="Arial" pitchFamily="34" charset="0"/>
            </a:endParaRPr>
          </a:p>
          <a:p>
            <a:pPr marL="0" indent="0" algn="just">
              <a:buNone/>
            </a:pPr>
            <a:endParaRPr lang="en-US" baseline="-25000" dirty="0">
              <a:latin typeface="Arial" pitchFamily="34" charset="0"/>
              <a:cs typeface="Arial" pitchFamily="34" charset="0"/>
            </a:endParaRPr>
          </a:p>
          <a:p>
            <a:pPr marL="0" indent="0" algn="just">
              <a:buNone/>
            </a:pPr>
            <a:endParaRPr lang="en-US" baseline="-25000" dirty="0">
              <a:latin typeface="Arial" pitchFamily="34" charset="0"/>
              <a:cs typeface="Arial" pitchFamily="34" charset="0"/>
            </a:endParaRPr>
          </a:p>
          <a:p>
            <a:pPr marL="0" indent="0" algn="just">
              <a:buNone/>
            </a:pPr>
            <a:endParaRPr lang="en-IN" dirty="0">
              <a:latin typeface="Arial" pitchFamily="34" charset="0"/>
              <a:cs typeface="Arial" pitchFamily="34" charset="0"/>
            </a:endParaRPr>
          </a:p>
        </p:txBody>
      </p:sp>
      <p:pic>
        <p:nvPicPr>
          <p:cNvPr id="39938" name="Picture 2" descr="F:\ECONTENT CHEMISTRY\download (5).png"/>
          <p:cNvPicPr>
            <a:picLocks noChangeAspect="1" noChangeArrowheads="1"/>
          </p:cNvPicPr>
          <p:nvPr/>
        </p:nvPicPr>
        <p:blipFill>
          <a:blip r:embed="rId2"/>
          <a:srcRect/>
          <a:stretch>
            <a:fillRect/>
          </a:stretch>
        </p:blipFill>
        <p:spPr bwMode="auto">
          <a:xfrm>
            <a:off x="5105400" y="3655617"/>
            <a:ext cx="2743200" cy="1906983"/>
          </a:xfrm>
          <a:prstGeom prst="rect">
            <a:avLst/>
          </a:prstGeom>
          <a:noFill/>
        </p:spPr>
      </p:pic>
      <p:pic>
        <p:nvPicPr>
          <p:cNvPr id="39939" name="Picture 3" descr="F:\ECONTENT CHEMISTRY\download (1).jpg"/>
          <p:cNvPicPr>
            <a:picLocks noChangeAspect="1" noChangeArrowheads="1"/>
          </p:cNvPicPr>
          <p:nvPr/>
        </p:nvPicPr>
        <p:blipFill>
          <a:blip r:embed="rId3"/>
          <a:srcRect t="25458" b="28718"/>
          <a:stretch>
            <a:fillRect/>
          </a:stretch>
        </p:blipFill>
        <p:spPr bwMode="auto">
          <a:xfrm>
            <a:off x="457200" y="4341417"/>
            <a:ext cx="3362325" cy="6858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248400"/>
          </a:xfrm>
        </p:spPr>
        <p:txBody>
          <a:bodyPr>
            <a:normAutofit/>
          </a:bodyPr>
          <a:lstStyle/>
          <a:p>
            <a:pPr marL="0" indent="0" algn="just">
              <a:buNone/>
            </a:pPr>
            <a:r>
              <a:rPr lang="en-US" u="sng" dirty="0">
                <a:solidFill>
                  <a:srgbClr val="FF0000"/>
                </a:solidFill>
                <a:latin typeface="Arial" pitchFamily="34" charset="0"/>
                <a:cs typeface="Arial" pitchFamily="34" charset="0"/>
              </a:rPr>
              <a:t>Alkyl group</a:t>
            </a:r>
            <a:r>
              <a:rPr lang="en-US" dirty="0">
                <a:solidFill>
                  <a:srgbClr val="FF0000"/>
                </a:solidFill>
                <a:latin typeface="Arial" pitchFamily="34" charset="0"/>
                <a:cs typeface="Arial" pitchFamily="34" charset="0"/>
              </a:rPr>
              <a:t>: </a:t>
            </a:r>
            <a:r>
              <a:rPr lang="en-US" sz="2800" dirty="0">
                <a:latin typeface="Arial" pitchFamily="34" charset="0"/>
                <a:cs typeface="Arial" pitchFamily="34" charset="0"/>
              </a:rPr>
              <a:t>The group formed by the removal of one hydrogen atom from an </a:t>
            </a:r>
            <a:r>
              <a:rPr lang="en-US" sz="2800" dirty="0" err="1">
                <a:latin typeface="Arial" pitchFamily="34" charset="0"/>
                <a:cs typeface="Arial" pitchFamily="34" charset="0"/>
              </a:rPr>
              <a:t>alkane</a:t>
            </a:r>
            <a:r>
              <a:rPr lang="en-US" sz="2800" dirty="0">
                <a:latin typeface="Arial" pitchFamily="34" charset="0"/>
                <a:cs typeface="Arial" pitchFamily="34" charset="0"/>
              </a:rPr>
              <a:t> molecule is called an Alkyl group</a:t>
            </a:r>
          </a:p>
          <a:p>
            <a:pPr marL="0" indent="0" algn="just">
              <a:buNone/>
            </a:pPr>
            <a:r>
              <a:rPr lang="en-US" sz="2000" b="1" dirty="0">
                <a:solidFill>
                  <a:srgbClr val="FF0000"/>
                </a:solidFill>
                <a:latin typeface="Arial" pitchFamily="34" charset="0"/>
                <a:cs typeface="Arial" pitchFamily="34" charset="0"/>
              </a:rPr>
              <a:t>Ex :</a:t>
            </a:r>
          </a:p>
          <a:p>
            <a:pPr marL="0" indent="0" algn="just">
              <a:buNone/>
            </a:pPr>
            <a:r>
              <a:rPr lang="en-US" sz="2800" b="1" dirty="0">
                <a:solidFill>
                  <a:srgbClr val="005828"/>
                </a:solidFill>
                <a:latin typeface="Arial" pitchFamily="34" charset="0"/>
                <a:cs typeface="Arial" pitchFamily="34" charset="0"/>
              </a:rPr>
              <a:t>Methyl group (CH</a:t>
            </a:r>
            <a:r>
              <a:rPr lang="en-US" sz="2800" b="1" baseline="-25000" dirty="0">
                <a:solidFill>
                  <a:srgbClr val="005828"/>
                </a:solidFill>
                <a:latin typeface="Arial" pitchFamily="34" charset="0"/>
                <a:cs typeface="Arial" pitchFamily="34" charset="0"/>
              </a:rPr>
              <a:t>3</a:t>
            </a:r>
            <a:r>
              <a:rPr lang="en-US" sz="2800" b="1" dirty="0">
                <a:solidFill>
                  <a:srgbClr val="005828"/>
                </a:solidFill>
                <a:latin typeface="Arial" pitchFamily="34" charset="0"/>
                <a:cs typeface="Arial" pitchFamily="34" charset="0"/>
              </a:rPr>
              <a:t>-)</a:t>
            </a:r>
            <a:r>
              <a:rPr lang="en-US" sz="2800" dirty="0">
                <a:latin typeface="Arial" pitchFamily="34" charset="0"/>
                <a:cs typeface="Arial" pitchFamily="34" charset="0"/>
              </a:rPr>
              <a:t> </a:t>
            </a:r>
          </a:p>
          <a:p>
            <a:pPr marL="0" indent="0" algn="just">
              <a:buNone/>
            </a:pPr>
            <a:endParaRPr lang="en-US" sz="2800" dirty="0">
              <a:latin typeface="Arial" pitchFamily="34" charset="0"/>
              <a:cs typeface="Arial" pitchFamily="34" charset="0"/>
            </a:endParaRPr>
          </a:p>
          <a:p>
            <a:pPr marL="0" indent="0" algn="just">
              <a:buNone/>
            </a:pPr>
            <a:endParaRPr lang="en-US" sz="2800" dirty="0">
              <a:latin typeface="Arial" pitchFamily="34" charset="0"/>
              <a:cs typeface="Arial" pitchFamily="34" charset="0"/>
            </a:endParaRPr>
          </a:p>
          <a:p>
            <a:pPr marL="0" indent="0" algn="just">
              <a:buNone/>
            </a:pPr>
            <a:endParaRPr lang="en-US" sz="2800" dirty="0">
              <a:latin typeface="Arial" pitchFamily="34" charset="0"/>
              <a:cs typeface="Arial" pitchFamily="34" charset="0"/>
            </a:endParaRPr>
          </a:p>
          <a:p>
            <a:pPr marL="0" indent="0" algn="just">
              <a:buNone/>
            </a:pPr>
            <a:endParaRPr lang="en-US" sz="2800" dirty="0">
              <a:latin typeface="Arial" pitchFamily="34" charset="0"/>
              <a:cs typeface="Arial" pitchFamily="34" charset="0"/>
            </a:endParaRPr>
          </a:p>
          <a:p>
            <a:pPr marL="0" indent="0" algn="just">
              <a:buNone/>
            </a:pPr>
            <a:endParaRPr lang="en-US" sz="2800" dirty="0">
              <a:latin typeface="Arial" pitchFamily="34" charset="0"/>
              <a:cs typeface="Arial" pitchFamily="34" charset="0"/>
            </a:endParaRPr>
          </a:p>
          <a:p>
            <a:pPr marL="0" indent="0" algn="just">
              <a:buNone/>
            </a:pPr>
            <a:r>
              <a:rPr lang="en-US" sz="2800" b="1" dirty="0">
                <a:solidFill>
                  <a:srgbClr val="005828"/>
                </a:solidFill>
                <a:latin typeface="Arial" pitchFamily="34" charset="0"/>
                <a:cs typeface="Arial" pitchFamily="34" charset="0"/>
              </a:rPr>
              <a:t>Ethyl group (C</a:t>
            </a:r>
            <a:r>
              <a:rPr lang="en-US" sz="2800" b="1" baseline="-25000" dirty="0">
                <a:solidFill>
                  <a:srgbClr val="005828"/>
                </a:solidFill>
                <a:latin typeface="Arial" pitchFamily="34" charset="0"/>
                <a:cs typeface="Arial" pitchFamily="34" charset="0"/>
              </a:rPr>
              <a:t>2</a:t>
            </a:r>
            <a:r>
              <a:rPr lang="en-US" sz="2800" b="1" dirty="0">
                <a:solidFill>
                  <a:srgbClr val="005828"/>
                </a:solidFill>
                <a:latin typeface="Arial" pitchFamily="34" charset="0"/>
                <a:cs typeface="Arial" pitchFamily="34" charset="0"/>
              </a:rPr>
              <a:t>H</a:t>
            </a:r>
            <a:r>
              <a:rPr lang="en-US" sz="2800" b="1" baseline="-25000" dirty="0">
                <a:solidFill>
                  <a:srgbClr val="005828"/>
                </a:solidFill>
                <a:latin typeface="Arial" pitchFamily="34" charset="0"/>
                <a:cs typeface="Arial" pitchFamily="34" charset="0"/>
              </a:rPr>
              <a:t>5</a:t>
            </a:r>
            <a:r>
              <a:rPr lang="en-US" sz="2800" b="1" dirty="0">
                <a:solidFill>
                  <a:srgbClr val="005828"/>
                </a:solidFill>
                <a:latin typeface="Arial" pitchFamily="34" charset="0"/>
                <a:cs typeface="Arial" pitchFamily="34" charset="0"/>
              </a:rPr>
              <a:t>-)</a:t>
            </a:r>
          </a:p>
          <a:p>
            <a:pPr marL="0" indent="0" algn="just">
              <a:buNone/>
            </a:pPr>
            <a:endParaRPr lang="en-IN" sz="2800" dirty="0">
              <a:latin typeface="Arial" pitchFamily="34" charset="0"/>
              <a:cs typeface="Arial" pitchFamily="34" charset="0"/>
            </a:endParaRPr>
          </a:p>
          <a:p>
            <a:pPr marL="0" indent="0" algn="just">
              <a:buNone/>
            </a:pPr>
            <a:endParaRPr lang="en-US" baseline="-25000" dirty="0">
              <a:latin typeface="Arial" pitchFamily="34" charset="0"/>
              <a:cs typeface="Arial" pitchFamily="34" charset="0"/>
            </a:endParaRPr>
          </a:p>
          <a:p>
            <a:pPr marL="0" indent="0" algn="just">
              <a:buNone/>
            </a:pPr>
            <a:endParaRPr lang="en-US" baseline="-25000" dirty="0">
              <a:latin typeface="Arial" pitchFamily="34" charset="0"/>
              <a:cs typeface="Arial" pitchFamily="34" charset="0"/>
            </a:endParaRPr>
          </a:p>
          <a:p>
            <a:pPr marL="0" indent="0" algn="just">
              <a:buNone/>
            </a:pPr>
            <a:endParaRPr lang="en-IN" dirty="0">
              <a:latin typeface="Arial" pitchFamily="34" charset="0"/>
              <a:cs typeface="Arial" pitchFamily="34" charset="0"/>
            </a:endParaRPr>
          </a:p>
        </p:txBody>
      </p:sp>
      <p:pic>
        <p:nvPicPr>
          <p:cNvPr id="38917" name="Picture 5" descr="F:\ECONTENT CHEMISTRY\download (6).png"/>
          <p:cNvPicPr>
            <a:picLocks noChangeAspect="1" noChangeArrowheads="1"/>
          </p:cNvPicPr>
          <p:nvPr/>
        </p:nvPicPr>
        <p:blipFill>
          <a:blip r:embed="rId2"/>
          <a:srcRect l="7222" r="54259"/>
          <a:stretch>
            <a:fillRect/>
          </a:stretch>
        </p:blipFill>
        <p:spPr bwMode="auto">
          <a:xfrm>
            <a:off x="5029200" y="1752600"/>
            <a:ext cx="3657600" cy="1933576"/>
          </a:xfrm>
          <a:prstGeom prst="rect">
            <a:avLst/>
          </a:prstGeom>
          <a:noFill/>
        </p:spPr>
      </p:pic>
      <p:pic>
        <p:nvPicPr>
          <p:cNvPr id="8" name="Picture 5" descr="F:\ECONTENT CHEMISTRY\download (6).png"/>
          <p:cNvPicPr>
            <a:picLocks noChangeAspect="1" noChangeArrowheads="1"/>
          </p:cNvPicPr>
          <p:nvPr/>
        </p:nvPicPr>
        <p:blipFill>
          <a:blip r:embed="rId2"/>
          <a:srcRect l="44938" r="6111"/>
          <a:stretch>
            <a:fillRect/>
          </a:stretch>
        </p:blipFill>
        <p:spPr bwMode="auto">
          <a:xfrm>
            <a:off x="4343400" y="4343400"/>
            <a:ext cx="4648200" cy="1933576"/>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rPr>
              <a:t>Nomenclature of open chain Hydrocarbons</a:t>
            </a:r>
            <a:endParaRPr lang="en-IN" b="1" dirty="0">
              <a:solidFill>
                <a:srgbClr val="FF0000"/>
              </a:solidFill>
            </a:endParaRPr>
          </a:p>
        </p:txBody>
      </p:sp>
      <p:sp>
        <p:nvSpPr>
          <p:cNvPr id="3" name="Content Placeholder 2"/>
          <p:cNvSpPr>
            <a:spLocks noGrp="1"/>
          </p:cNvSpPr>
          <p:nvPr>
            <p:ph idx="1"/>
          </p:nvPr>
        </p:nvSpPr>
        <p:spPr>
          <a:xfrm>
            <a:off x="0" y="1600200"/>
            <a:ext cx="9144000" cy="4525963"/>
          </a:xfrm>
        </p:spPr>
        <p:txBody>
          <a:bodyPr/>
          <a:lstStyle/>
          <a:p>
            <a:pPr algn="just"/>
            <a:r>
              <a:rPr lang="en-US" dirty="0"/>
              <a:t>According to </a:t>
            </a:r>
            <a:r>
              <a:rPr lang="en-US" dirty="0">
                <a:solidFill>
                  <a:srgbClr val="FF0000"/>
                </a:solidFill>
              </a:rPr>
              <a:t>I</a:t>
            </a:r>
            <a:r>
              <a:rPr lang="en-US" dirty="0"/>
              <a:t>nternational </a:t>
            </a:r>
            <a:r>
              <a:rPr lang="en-US" dirty="0">
                <a:solidFill>
                  <a:srgbClr val="FF0000"/>
                </a:solidFill>
              </a:rPr>
              <a:t>U</a:t>
            </a:r>
            <a:r>
              <a:rPr lang="en-US" dirty="0"/>
              <a:t>nion of </a:t>
            </a:r>
            <a:r>
              <a:rPr lang="en-US" dirty="0">
                <a:solidFill>
                  <a:srgbClr val="FF0000"/>
                </a:solidFill>
              </a:rPr>
              <a:t>P</a:t>
            </a:r>
            <a:r>
              <a:rPr lang="en-US" dirty="0"/>
              <a:t>ure and </a:t>
            </a:r>
            <a:r>
              <a:rPr lang="en-US" dirty="0">
                <a:solidFill>
                  <a:srgbClr val="FF0000"/>
                </a:solidFill>
              </a:rPr>
              <a:t>A</a:t>
            </a:r>
            <a:r>
              <a:rPr lang="en-US" dirty="0"/>
              <a:t>pplied </a:t>
            </a:r>
            <a:r>
              <a:rPr lang="en-US" dirty="0">
                <a:solidFill>
                  <a:srgbClr val="FF0000"/>
                </a:solidFill>
              </a:rPr>
              <a:t>C</a:t>
            </a:r>
            <a:r>
              <a:rPr lang="en-US" dirty="0"/>
              <a:t>hemistry(</a:t>
            </a:r>
            <a:r>
              <a:rPr lang="en-US" dirty="0">
                <a:solidFill>
                  <a:srgbClr val="FF0000"/>
                </a:solidFill>
              </a:rPr>
              <a:t>IUPAC</a:t>
            </a:r>
            <a:r>
              <a:rPr lang="en-US" dirty="0"/>
              <a:t>)</a:t>
            </a:r>
          </a:p>
          <a:p>
            <a:pPr algn="just"/>
            <a:r>
              <a:rPr lang="en-US" dirty="0"/>
              <a:t>The name consists of two parts</a:t>
            </a:r>
          </a:p>
          <a:p>
            <a:pPr marL="514350" indent="-514350" algn="just">
              <a:buAutoNum type="arabicParenR"/>
            </a:pPr>
            <a:r>
              <a:rPr lang="en-US" sz="3200" dirty="0"/>
              <a:t>Indicating </a:t>
            </a:r>
            <a:r>
              <a:rPr lang="en-US" sz="3200" b="1" dirty="0">
                <a:solidFill>
                  <a:srgbClr val="005828"/>
                </a:solidFill>
              </a:rPr>
              <a:t>number of Carbon atoms-</a:t>
            </a:r>
            <a:r>
              <a:rPr lang="en-US" sz="3600" b="1" u="sng" dirty="0">
                <a:solidFill>
                  <a:srgbClr val="005828"/>
                </a:solidFill>
              </a:rPr>
              <a:t>’</a:t>
            </a:r>
            <a:r>
              <a:rPr lang="en-US" sz="3600" b="1" u="sng" dirty="0" err="1">
                <a:solidFill>
                  <a:srgbClr val="005828"/>
                </a:solidFill>
              </a:rPr>
              <a:t>Alk’part</a:t>
            </a:r>
            <a:endParaRPr lang="en-US" sz="3600" b="1" u="sng" dirty="0">
              <a:solidFill>
                <a:srgbClr val="005828"/>
              </a:solidFill>
            </a:endParaRPr>
          </a:p>
          <a:p>
            <a:pPr marL="742950" indent="-742950" algn="just">
              <a:buAutoNum type="arabicParenR"/>
            </a:pPr>
            <a:endParaRPr lang="en-US" sz="3600" b="1" u="sng" dirty="0">
              <a:solidFill>
                <a:srgbClr val="005828"/>
              </a:solidFill>
            </a:endParaRPr>
          </a:p>
          <a:p>
            <a:pPr algn="just">
              <a:buNone/>
            </a:pPr>
            <a:r>
              <a:rPr lang="en-US" sz="3200" dirty="0"/>
              <a:t>2)Indicating the </a:t>
            </a:r>
            <a:r>
              <a:rPr lang="en-US" sz="3200" b="1" dirty="0">
                <a:solidFill>
                  <a:srgbClr val="005828"/>
                </a:solidFill>
              </a:rPr>
              <a:t>type of bonding-</a:t>
            </a:r>
            <a:r>
              <a:rPr lang="en-US" sz="3200" b="1" u="sng" dirty="0">
                <a:solidFill>
                  <a:srgbClr val="005828"/>
                </a:solidFill>
              </a:rPr>
              <a:t>’Primary suffix’</a:t>
            </a:r>
            <a:endParaRPr lang="en-IN" sz="2800" b="1" u="sng" dirty="0">
              <a:solidFill>
                <a:srgbClr val="005828"/>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 ‘Alk ‘ part</a:t>
            </a:r>
            <a:endParaRPr lang="en-IN" b="1" dirty="0">
              <a:solidFill>
                <a:srgbClr val="FF0000"/>
              </a:solidFill>
            </a:endParaRPr>
          </a:p>
        </p:txBody>
      </p:sp>
      <p:graphicFrame>
        <p:nvGraphicFramePr>
          <p:cNvPr id="4" name="Content Placeholder 3"/>
          <p:cNvGraphicFramePr>
            <a:graphicFrameLocks noGrp="1"/>
          </p:cNvGraphicFramePr>
          <p:nvPr>
            <p:ph idx="1"/>
          </p:nvPr>
        </p:nvGraphicFramePr>
        <p:xfrm>
          <a:off x="457200" y="1447800"/>
          <a:ext cx="8229600" cy="5029200"/>
        </p:xfrm>
        <a:graphic>
          <a:graphicData uri="http://schemas.openxmlformats.org/drawingml/2006/table">
            <a:tbl>
              <a:tblPr firstRow="1" bandRow="1">
                <a:tableStyleId>{073A0DAA-6AF3-43AB-8588-CEC1D06C72B9}</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pPr algn="ctr"/>
                      <a:r>
                        <a:rPr lang="en-US" sz="2400" dirty="0"/>
                        <a:t>No. of C atoms</a:t>
                      </a:r>
                      <a:endParaRPr lang="en-IN" sz="2400" dirty="0"/>
                    </a:p>
                  </a:txBody>
                  <a:tcPr/>
                </a:tc>
                <a:tc>
                  <a:txBody>
                    <a:bodyPr/>
                    <a:lstStyle/>
                    <a:p>
                      <a:pPr algn="ctr"/>
                      <a:r>
                        <a:rPr lang="en-US" sz="2400" dirty="0"/>
                        <a:t>‘Alk’ part</a:t>
                      </a:r>
                      <a:endParaRPr lang="en-IN" sz="2400" dirty="0"/>
                    </a:p>
                  </a:txBody>
                  <a:tcPr/>
                </a:tc>
                <a:extLst>
                  <a:ext uri="{0D108BD9-81ED-4DB2-BD59-A6C34878D82A}">
                    <a16:rowId xmlns:a16="http://schemas.microsoft.com/office/drawing/2014/main" val="10000"/>
                  </a:ext>
                </a:extLst>
              </a:tr>
              <a:tr h="370840">
                <a:tc>
                  <a:txBody>
                    <a:bodyPr/>
                    <a:lstStyle/>
                    <a:p>
                      <a:pPr algn="ctr"/>
                      <a:r>
                        <a:rPr lang="en-US" sz="2400" dirty="0"/>
                        <a:t>1</a:t>
                      </a:r>
                      <a:endParaRPr lang="en-IN" sz="2400" dirty="0"/>
                    </a:p>
                  </a:txBody>
                  <a:tcPr/>
                </a:tc>
                <a:tc>
                  <a:txBody>
                    <a:bodyPr/>
                    <a:lstStyle/>
                    <a:p>
                      <a:pPr algn="ctr"/>
                      <a:r>
                        <a:rPr lang="en-US" sz="2400" dirty="0"/>
                        <a:t>Meth</a:t>
                      </a:r>
                      <a:endParaRPr lang="en-IN" sz="2400" dirty="0"/>
                    </a:p>
                  </a:txBody>
                  <a:tcPr/>
                </a:tc>
                <a:extLst>
                  <a:ext uri="{0D108BD9-81ED-4DB2-BD59-A6C34878D82A}">
                    <a16:rowId xmlns:a16="http://schemas.microsoft.com/office/drawing/2014/main" val="10001"/>
                  </a:ext>
                </a:extLst>
              </a:tr>
              <a:tr h="370840">
                <a:tc>
                  <a:txBody>
                    <a:bodyPr/>
                    <a:lstStyle/>
                    <a:p>
                      <a:pPr algn="ctr"/>
                      <a:r>
                        <a:rPr lang="en-US" sz="2400" dirty="0"/>
                        <a:t>2</a:t>
                      </a:r>
                      <a:endParaRPr lang="en-IN" sz="2400" dirty="0"/>
                    </a:p>
                  </a:txBody>
                  <a:tcPr/>
                </a:tc>
                <a:tc>
                  <a:txBody>
                    <a:bodyPr/>
                    <a:lstStyle/>
                    <a:p>
                      <a:pPr algn="ctr"/>
                      <a:r>
                        <a:rPr lang="en-US" sz="2400"/>
                        <a:t>eth</a:t>
                      </a:r>
                      <a:endParaRPr lang="en-IN" sz="2400" dirty="0"/>
                    </a:p>
                  </a:txBody>
                  <a:tcPr/>
                </a:tc>
                <a:extLst>
                  <a:ext uri="{0D108BD9-81ED-4DB2-BD59-A6C34878D82A}">
                    <a16:rowId xmlns:a16="http://schemas.microsoft.com/office/drawing/2014/main" val="10002"/>
                  </a:ext>
                </a:extLst>
              </a:tr>
              <a:tr h="370840">
                <a:tc>
                  <a:txBody>
                    <a:bodyPr/>
                    <a:lstStyle/>
                    <a:p>
                      <a:pPr algn="ctr"/>
                      <a:r>
                        <a:rPr lang="en-US" sz="2400" dirty="0"/>
                        <a:t>3</a:t>
                      </a:r>
                      <a:endParaRPr lang="en-IN" sz="2400" dirty="0"/>
                    </a:p>
                  </a:txBody>
                  <a:tcPr/>
                </a:tc>
                <a:tc>
                  <a:txBody>
                    <a:bodyPr/>
                    <a:lstStyle/>
                    <a:p>
                      <a:pPr algn="ctr"/>
                      <a:r>
                        <a:rPr lang="en-US" sz="2400" dirty="0"/>
                        <a:t>Prop</a:t>
                      </a:r>
                      <a:endParaRPr lang="en-IN" sz="2400" dirty="0"/>
                    </a:p>
                  </a:txBody>
                  <a:tcPr/>
                </a:tc>
                <a:extLst>
                  <a:ext uri="{0D108BD9-81ED-4DB2-BD59-A6C34878D82A}">
                    <a16:rowId xmlns:a16="http://schemas.microsoft.com/office/drawing/2014/main" val="10003"/>
                  </a:ext>
                </a:extLst>
              </a:tr>
              <a:tr h="370840">
                <a:tc>
                  <a:txBody>
                    <a:bodyPr/>
                    <a:lstStyle/>
                    <a:p>
                      <a:pPr algn="ctr"/>
                      <a:r>
                        <a:rPr lang="en-US" sz="2400" dirty="0"/>
                        <a:t>4</a:t>
                      </a:r>
                      <a:endParaRPr lang="en-IN" sz="2400" dirty="0"/>
                    </a:p>
                  </a:txBody>
                  <a:tcPr/>
                </a:tc>
                <a:tc>
                  <a:txBody>
                    <a:bodyPr/>
                    <a:lstStyle/>
                    <a:p>
                      <a:pPr algn="ctr"/>
                      <a:r>
                        <a:rPr lang="en-US" sz="2400" dirty="0"/>
                        <a:t>But</a:t>
                      </a:r>
                      <a:endParaRPr lang="en-IN" sz="2400" dirty="0"/>
                    </a:p>
                  </a:txBody>
                  <a:tcPr/>
                </a:tc>
                <a:extLst>
                  <a:ext uri="{0D108BD9-81ED-4DB2-BD59-A6C34878D82A}">
                    <a16:rowId xmlns:a16="http://schemas.microsoft.com/office/drawing/2014/main" val="10004"/>
                  </a:ext>
                </a:extLst>
              </a:tr>
              <a:tr h="370840">
                <a:tc>
                  <a:txBody>
                    <a:bodyPr/>
                    <a:lstStyle/>
                    <a:p>
                      <a:pPr algn="ctr"/>
                      <a:r>
                        <a:rPr lang="en-US" sz="2400" dirty="0"/>
                        <a:t>5</a:t>
                      </a:r>
                      <a:endParaRPr lang="en-IN" sz="2400" dirty="0"/>
                    </a:p>
                  </a:txBody>
                  <a:tcPr/>
                </a:tc>
                <a:tc>
                  <a:txBody>
                    <a:bodyPr/>
                    <a:lstStyle/>
                    <a:p>
                      <a:pPr algn="ctr"/>
                      <a:r>
                        <a:rPr lang="en-US" sz="2400" dirty="0"/>
                        <a:t>Pent</a:t>
                      </a:r>
                      <a:endParaRPr lang="en-IN" sz="2400" dirty="0"/>
                    </a:p>
                  </a:txBody>
                  <a:tcPr/>
                </a:tc>
                <a:extLst>
                  <a:ext uri="{0D108BD9-81ED-4DB2-BD59-A6C34878D82A}">
                    <a16:rowId xmlns:a16="http://schemas.microsoft.com/office/drawing/2014/main" val="10005"/>
                  </a:ext>
                </a:extLst>
              </a:tr>
              <a:tr h="370840">
                <a:tc>
                  <a:txBody>
                    <a:bodyPr/>
                    <a:lstStyle/>
                    <a:p>
                      <a:pPr algn="ctr"/>
                      <a:r>
                        <a:rPr lang="en-US" sz="2400" dirty="0"/>
                        <a:t>6</a:t>
                      </a:r>
                      <a:endParaRPr lang="en-IN" sz="2400" dirty="0"/>
                    </a:p>
                  </a:txBody>
                  <a:tcPr/>
                </a:tc>
                <a:tc>
                  <a:txBody>
                    <a:bodyPr/>
                    <a:lstStyle/>
                    <a:p>
                      <a:pPr algn="ctr"/>
                      <a:r>
                        <a:rPr lang="en-US" sz="2400" dirty="0"/>
                        <a:t>Hex</a:t>
                      </a:r>
                      <a:endParaRPr lang="en-IN" sz="2400" dirty="0"/>
                    </a:p>
                  </a:txBody>
                  <a:tcPr/>
                </a:tc>
                <a:extLst>
                  <a:ext uri="{0D108BD9-81ED-4DB2-BD59-A6C34878D82A}">
                    <a16:rowId xmlns:a16="http://schemas.microsoft.com/office/drawing/2014/main" val="10006"/>
                  </a:ext>
                </a:extLst>
              </a:tr>
              <a:tr h="370840">
                <a:tc>
                  <a:txBody>
                    <a:bodyPr/>
                    <a:lstStyle/>
                    <a:p>
                      <a:pPr algn="ctr"/>
                      <a:r>
                        <a:rPr lang="en-US" sz="2400" dirty="0"/>
                        <a:t>7</a:t>
                      </a:r>
                      <a:endParaRPr lang="en-IN" sz="2400" dirty="0"/>
                    </a:p>
                  </a:txBody>
                  <a:tcPr/>
                </a:tc>
                <a:tc>
                  <a:txBody>
                    <a:bodyPr/>
                    <a:lstStyle/>
                    <a:p>
                      <a:pPr algn="ctr"/>
                      <a:r>
                        <a:rPr lang="en-US" sz="2400" dirty="0"/>
                        <a:t>Hept</a:t>
                      </a:r>
                      <a:endParaRPr lang="en-IN" sz="2400" dirty="0"/>
                    </a:p>
                  </a:txBody>
                  <a:tcPr/>
                </a:tc>
                <a:extLst>
                  <a:ext uri="{0D108BD9-81ED-4DB2-BD59-A6C34878D82A}">
                    <a16:rowId xmlns:a16="http://schemas.microsoft.com/office/drawing/2014/main" val="10007"/>
                  </a:ext>
                </a:extLst>
              </a:tr>
              <a:tr h="370840">
                <a:tc>
                  <a:txBody>
                    <a:bodyPr/>
                    <a:lstStyle/>
                    <a:p>
                      <a:pPr algn="ctr"/>
                      <a:r>
                        <a:rPr lang="en-US" sz="2400" dirty="0"/>
                        <a:t>8</a:t>
                      </a:r>
                      <a:endParaRPr lang="en-IN" sz="2400" dirty="0"/>
                    </a:p>
                  </a:txBody>
                  <a:tcPr/>
                </a:tc>
                <a:tc>
                  <a:txBody>
                    <a:bodyPr/>
                    <a:lstStyle/>
                    <a:p>
                      <a:pPr algn="ctr"/>
                      <a:r>
                        <a:rPr lang="en-US" sz="2400" dirty="0"/>
                        <a:t>Oct</a:t>
                      </a:r>
                      <a:endParaRPr lang="en-IN" sz="2400" dirty="0"/>
                    </a:p>
                  </a:txBody>
                  <a:tcPr/>
                </a:tc>
                <a:extLst>
                  <a:ext uri="{0D108BD9-81ED-4DB2-BD59-A6C34878D82A}">
                    <a16:rowId xmlns:a16="http://schemas.microsoft.com/office/drawing/2014/main" val="10008"/>
                  </a:ext>
                </a:extLst>
              </a:tr>
              <a:tr h="370840">
                <a:tc>
                  <a:txBody>
                    <a:bodyPr/>
                    <a:lstStyle/>
                    <a:p>
                      <a:pPr algn="ctr"/>
                      <a:r>
                        <a:rPr lang="en-US" sz="2400" dirty="0"/>
                        <a:t>9 </a:t>
                      </a:r>
                      <a:endParaRPr lang="en-IN" sz="2400" dirty="0"/>
                    </a:p>
                  </a:txBody>
                  <a:tcPr/>
                </a:tc>
                <a:tc>
                  <a:txBody>
                    <a:bodyPr/>
                    <a:lstStyle/>
                    <a:p>
                      <a:pPr algn="ctr"/>
                      <a:r>
                        <a:rPr lang="en-US" sz="2400" dirty="0"/>
                        <a:t>Non</a:t>
                      </a:r>
                      <a:endParaRPr lang="en-IN" sz="2400" dirty="0"/>
                    </a:p>
                  </a:txBody>
                  <a:tcPr/>
                </a:tc>
                <a:extLst>
                  <a:ext uri="{0D108BD9-81ED-4DB2-BD59-A6C34878D82A}">
                    <a16:rowId xmlns:a16="http://schemas.microsoft.com/office/drawing/2014/main" val="10009"/>
                  </a:ext>
                </a:extLst>
              </a:tr>
              <a:tr h="370840">
                <a:tc>
                  <a:txBody>
                    <a:bodyPr/>
                    <a:lstStyle/>
                    <a:p>
                      <a:pPr algn="ctr"/>
                      <a:r>
                        <a:rPr lang="en-US" sz="2400" dirty="0"/>
                        <a:t>10</a:t>
                      </a:r>
                      <a:endParaRPr lang="en-IN" sz="2400" dirty="0"/>
                    </a:p>
                  </a:txBody>
                  <a:tcPr/>
                </a:tc>
                <a:tc>
                  <a:txBody>
                    <a:bodyPr/>
                    <a:lstStyle/>
                    <a:p>
                      <a:pPr algn="ctr"/>
                      <a:r>
                        <a:rPr lang="en-US" sz="2400" dirty="0"/>
                        <a:t>Dec </a:t>
                      </a:r>
                      <a:endParaRPr lang="en-IN" sz="2400" dirty="0"/>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Primary Suffix</a:t>
            </a:r>
            <a:endParaRPr lang="en-IN" b="1" dirty="0">
              <a:solidFill>
                <a:srgbClr val="FF0000"/>
              </a:solidFill>
            </a:endParaRPr>
          </a:p>
        </p:txBody>
      </p:sp>
      <p:sp>
        <p:nvSpPr>
          <p:cNvPr id="3" name="Content Placeholder 2"/>
          <p:cNvSpPr>
            <a:spLocks noGrp="1"/>
          </p:cNvSpPr>
          <p:nvPr>
            <p:ph idx="1"/>
          </p:nvPr>
        </p:nvSpPr>
        <p:spPr/>
        <p:txBody>
          <a:bodyPr/>
          <a:lstStyle/>
          <a:p>
            <a:r>
              <a:rPr lang="en-US" dirty="0"/>
              <a:t>If all the bonds are single bond	</a:t>
            </a:r>
            <a:r>
              <a:rPr lang="en-US" sz="5400" dirty="0"/>
              <a:t> </a:t>
            </a:r>
            <a:r>
              <a:rPr lang="en-US" sz="5400" b="1" dirty="0">
                <a:solidFill>
                  <a:srgbClr val="005828"/>
                </a:solidFill>
              </a:rPr>
              <a:t>‘</a:t>
            </a:r>
            <a:r>
              <a:rPr lang="en-US" sz="5400" b="1" dirty="0" err="1">
                <a:solidFill>
                  <a:srgbClr val="005828"/>
                </a:solidFill>
              </a:rPr>
              <a:t>ane</a:t>
            </a:r>
            <a:r>
              <a:rPr lang="en-US" sz="5400" b="1" dirty="0">
                <a:solidFill>
                  <a:srgbClr val="005828"/>
                </a:solidFill>
              </a:rPr>
              <a:t>’</a:t>
            </a:r>
            <a:endParaRPr lang="en-US" b="1" dirty="0">
              <a:solidFill>
                <a:srgbClr val="005828"/>
              </a:solidFill>
            </a:endParaRPr>
          </a:p>
          <a:p>
            <a:endParaRPr lang="en-US" dirty="0"/>
          </a:p>
          <a:p>
            <a:r>
              <a:rPr lang="en-US" dirty="0"/>
              <a:t>If one double bond			</a:t>
            </a:r>
            <a:r>
              <a:rPr lang="en-US" sz="5400" dirty="0"/>
              <a:t> </a:t>
            </a:r>
            <a:r>
              <a:rPr lang="en-US" sz="5400" b="1" dirty="0">
                <a:solidFill>
                  <a:srgbClr val="005828"/>
                </a:solidFill>
              </a:rPr>
              <a:t>‘</a:t>
            </a:r>
            <a:r>
              <a:rPr lang="en-US" sz="5400" b="1" dirty="0" err="1">
                <a:solidFill>
                  <a:srgbClr val="005828"/>
                </a:solidFill>
              </a:rPr>
              <a:t>ene</a:t>
            </a:r>
            <a:r>
              <a:rPr lang="en-US" sz="5400" b="1" dirty="0">
                <a:solidFill>
                  <a:srgbClr val="005828"/>
                </a:solidFill>
              </a:rPr>
              <a:t>’</a:t>
            </a:r>
          </a:p>
          <a:p>
            <a:endParaRPr lang="en-US" b="1" dirty="0">
              <a:solidFill>
                <a:srgbClr val="005828"/>
              </a:solidFill>
            </a:endParaRPr>
          </a:p>
          <a:p>
            <a:r>
              <a:rPr lang="en-US" dirty="0"/>
              <a:t>If one triple bond			</a:t>
            </a:r>
            <a:r>
              <a:rPr lang="en-US" sz="5400" dirty="0"/>
              <a:t> </a:t>
            </a:r>
            <a:r>
              <a:rPr lang="en-US" sz="5400" b="1" dirty="0">
                <a:solidFill>
                  <a:srgbClr val="005828"/>
                </a:solidFill>
              </a:rPr>
              <a:t>‘</a:t>
            </a:r>
            <a:r>
              <a:rPr lang="en-US" sz="5400" b="1" dirty="0" err="1">
                <a:solidFill>
                  <a:srgbClr val="005828"/>
                </a:solidFill>
              </a:rPr>
              <a:t>yne</a:t>
            </a:r>
            <a:r>
              <a:rPr lang="en-US" sz="5400" b="1" dirty="0">
                <a:solidFill>
                  <a:srgbClr val="005828"/>
                </a:solidFill>
              </a:rPr>
              <a:t>’</a:t>
            </a:r>
          </a:p>
          <a:p>
            <a:endParaRPr lang="en-US" b="1" dirty="0">
              <a:solidFill>
                <a:srgbClr val="005828"/>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cstate="print"/>
          <a:srcRect/>
          <a:stretch>
            <a:fillRect/>
          </a:stretch>
        </p:blipFill>
        <p:spPr bwMode="auto">
          <a:xfrm>
            <a:off x="223967" y="4652963"/>
            <a:ext cx="3433633" cy="1671637"/>
          </a:xfrm>
          <a:prstGeom prst="rect">
            <a:avLst/>
          </a:prstGeom>
          <a:noFill/>
          <a:ln w="9525">
            <a:noFill/>
            <a:miter lim="800000"/>
            <a:headEnd/>
            <a:tailEnd/>
          </a:ln>
        </p:spPr>
      </p:pic>
      <p:sp>
        <p:nvSpPr>
          <p:cNvPr id="3" name="Content Placeholder 2"/>
          <p:cNvSpPr>
            <a:spLocks noGrp="1"/>
          </p:cNvSpPr>
          <p:nvPr>
            <p:ph idx="1"/>
          </p:nvPr>
        </p:nvSpPr>
        <p:spPr>
          <a:xfrm>
            <a:off x="457200" y="381000"/>
            <a:ext cx="8229600" cy="6172200"/>
          </a:xfrm>
        </p:spPr>
        <p:txBody>
          <a:bodyPr anchor="t"/>
          <a:lstStyle/>
          <a:p>
            <a:pPr>
              <a:buNone/>
            </a:pPr>
            <a:r>
              <a:rPr lang="en-US" b="1" dirty="0">
                <a:solidFill>
                  <a:srgbClr val="FF0000"/>
                </a:solidFill>
              </a:rPr>
              <a:t>Thus </a:t>
            </a:r>
          </a:p>
          <a:p>
            <a:pPr>
              <a:buFont typeface="Wingdings" pitchFamily="2" charset="2"/>
              <a:buChar char="Ø"/>
            </a:pPr>
            <a:r>
              <a:rPr lang="en-US" dirty="0"/>
              <a:t>Single bonded compounds have the name-				</a:t>
            </a:r>
            <a:r>
              <a:rPr lang="en-US" b="1" dirty="0" err="1">
                <a:solidFill>
                  <a:srgbClr val="005828"/>
                </a:solidFill>
              </a:rPr>
              <a:t>Alk+ane</a:t>
            </a:r>
            <a:r>
              <a:rPr lang="en-US" b="1" dirty="0">
                <a:solidFill>
                  <a:srgbClr val="005828"/>
                </a:solidFill>
              </a:rPr>
              <a:t> =Alkane</a:t>
            </a:r>
          </a:p>
          <a:p>
            <a:pPr>
              <a:buFont typeface="Wingdings" pitchFamily="2" charset="2"/>
              <a:buChar char="Ø"/>
            </a:pPr>
            <a:r>
              <a:rPr lang="en-US" dirty="0"/>
              <a:t>Double bonded compounds have the name-				</a:t>
            </a:r>
            <a:r>
              <a:rPr lang="en-US" b="1" dirty="0" err="1">
                <a:solidFill>
                  <a:srgbClr val="005828"/>
                </a:solidFill>
              </a:rPr>
              <a:t>Alk+ene</a:t>
            </a:r>
            <a:r>
              <a:rPr lang="en-US" b="1" dirty="0">
                <a:solidFill>
                  <a:srgbClr val="005828"/>
                </a:solidFill>
              </a:rPr>
              <a:t> =Alkene</a:t>
            </a:r>
            <a:endParaRPr lang="en-IN" b="1" dirty="0">
              <a:solidFill>
                <a:srgbClr val="005828"/>
              </a:solidFill>
            </a:endParaRPr>
          </a:p>
          <a:p>
            <a:pPr>
              <a:buFont typeface="Wingdings" pitchFamily="2" charset="2"/>
              <a:buChar char="Ø"/>
            </a:pPr>
            <a:r>
              <a:rPr lang="en-US" dirty="0"/>
              <a:t>Triple bonded compounds have the name-				</a:t>
            </a:r>
            <a:r>
              <a:rPr lang="en-US" b="1" dirty="0" err="1">
                <a:solidFill>
                  <a:srgbClr val="005828"/>
                </a:solidFill>
              </a:rPr>
              <a:t>Alk+yne</a:t>
            </a:r>
            <a:r>
              <a:rPr lang="en-US" b="1" dirty="0">
                <a:solidFill>
                  <a:srgbClr val="005828"/>
                </a:solidFill>
              </a:rPr>
              <a:t> =Alkyne</a:t>
            </a:r>
          </a:p>
          <a:p>
            <a:pPr>
              <a:buNone/>
            </a:pPr>
            <a:r>
              <a:rPr lang="en-US" dirty="0"/>
              <a:t>Example</a:t>
            </a:r>
            <a:endParaRPr lang="en-IN" dirty="0"/>
          </a:p>
        </p:txBody>
      </p:sp>
      <p:sp>
        <p:nvSpPr>
          <p:cNvPr id="8" name="TextBox 7"/>
          <p:cNvSpPr txBox="1"/>
          <p:nvPr/>
        </p:nvSpPr>
        <p:spPr>
          <a:xfrm>
            <a:off x="3810000" y="4191000"/>
            <a:ext cx="5105400" cy="2985433"/>
          </a:xfrm>
          <a:prstGeom prst="rect">
            <a:avLst/>
          </a:prstGeom>
          <a:noFill/>
        </p:spPr>
        <p:txBody>
          <a:bodyPr wrap="square" rtlCol="0">
            <a:spAutoFit/>
          </a:bodyPr>
          <a:lstStyle/>
          <a:p>
            <a:r>
              <a:rPr lang="en-US" sz="2400" b="1" dirty="0">
                <a:solidFill>
                  <a:srgbClr val="005828"/>
                </a:solidFill>
                <a:latin typeface="Times New Roman" pitchFamily="18" charset="0"/>
                <a:cs typeface="Times New Roman" pitchFamily="18" charset="0"/>
              </a:rPr>
              <a:t>No of carbon atom=4</a:t>
            </a:r>
          </a:p>
          <a:p>
            <a:r>
              <a:rPr lang="en-US" sz="2400" b="1" dirty="0">
                <a:solidFill>
                  <a:srgbClr val="005828"/>
                </a:solidFill>
                <a:latin typeface="Times New Roman" pitchFamily="18" charset="0"/>
                <a:cs typeface="Times New Roman" pitchFamily="18" charset="0"/>
              </a:rPr>
              <a:t>                       		</a:t>
            </a:r>
            <a:r>
              <a:rPr lang="en-US" sz="2400" b="1" dirty="0" err="1">
                <a:solidFill>
                  <a:srgbClr val="005828"/>
                </a:solidFill>
                <a:latin typeface="Times New Roman" pitchFamily="18" charset="0"/>
                <a:cs typeface="Times New Roman" pitchFamily="18" charset="0"/>
              </a:rPr>
              <a:t>alk</a:t>
            </a:r>
            <a:r>
              <a:rPr lang="en-US" sz="2400" b="1" dirty="0">
                <a:solidFill>
                  <a:srgbClr val="005828"/>
                </a:solidFill>
                <a:latin typeface="Times New Roman" pitchFamily="18" charset="0"/>
                <a:cs typeface="Times New Roman" pitchFamily="18" charset="0"/>
              </a:rPr>
              <a:t> part is  </a:t>
            </a:r>
            <a:r>
              <a:rPr lang="en-US" sz="2400" b="1" u="sng" dirty="0">
                <a:solidFill>
                  <a:srgbClr val="005828"/>
                </a:solidFill>
                <a:latin typeface="Times New Roman" pitchFamily="18" charset="0"/>
                <a:cs typeface="Times New Roman" pitchFamily="18" charset="0"/>
              </a:rPr>
              <a:t>but</a:t>
            </a:r>
          </a:p>
          <a:p>
            <a:endParaRPr lang="en-US" sz="2400" b="1" dirty="0">
              <a:solidFill>
                <a:srgbClr val="005828"/>
              </a:solidFill>
              <a:latin typeface="Times New Roman" pitchFamily="18" charset="0"/>
              <a:cs typeface="Times New Roman" pitchFamily="18" charset="0"/>
            </a:endParaRPr>
          </a:p>
          <a:p>
            <a:r>
              <a:rPr lang="en-US" sz="2400" b="1" dirty="0">
                <a:solidFill>
                  <a:srgbClr val="005828"/>
                </a:solidFill>
                <a:latin typeface="Times New Roman" pitchFamily="18" charset="0"/>
                <a:cs typeface="Times New Roman" pitchFamily="18" charset="0"/>
              </a:rPr>
              <a:t>All the C-C bonds are single bond</a:t>
            </a:r>
          </a:p>
          <a:p>
            <a:r>
              <a:rPr lang="en-US" sz="2400" b="1" dirty="0">
                <a:solidFill>
                  <a:srgbClr val="005828"/>
                </a:solidFill>
                <a:latin typeface="Times New Roman" pitchFamily="18" charset="0"/>
                <a:cs typeface="Times New Roman" pitchFamily="18" charset="0"/>
              </a:rPr>
              <a:t>		     primary suffix is </a:t>
            </a:r>
            <a:r>
              <a:rPr lang="en-US" sz="2400" b="1" u="sng" dirty="0" err="1">
                <a:solidFill>
                  <a:srgbClr val="005828"/>
                </a:solidFill>
                <a:latin typeface="Times New Roman" pitchFamily="18" charset="0"/>
                <a:cs typeface="Times New Roman" pitchFamily="18" charset="0"/>
              </a:rPr>
              <a:t>ane</a:t>
            </a:r>
            <a:endParaRPr lang="en-US" sz="2400" b="1" u="sng" dirty="0">
              <a:solidFill>
                <a:srgbClr val="005828"/>
              </a:solidFill>
              <a:latin typeface="Times New Roman" pitchFamily="18" charset="0"/>
              <a:cs typeface="Times New Roman" pitchFamily="18" charset="0"/>
            </a:endParaRPr>
          </a:p>
          <a:p>
            <a:endParaRPr lang="en-US" sz="2400" b="1" dirty="0">
              <a:solidFill>
                <a:srgbClr val="005828"/>
              </a:solidFill>
              <a:latin typeface="Times New Roman" pitchFamily="18" charset="0"/>
              <a:cs typeface="Times New Roman" pitchFamily="18" charset="0"/>
            </a:endParaRPr>
          </a:p>
          <a:p>
            <a:r>
              <a:rPr lang="en-US" sz="2400" b="1" dirty="0">
                <a:solidFill>
                  <a:srgbClr val="005828"/>
                </a:solidFill>
                <a:latin typeface="Times New Roman" pitchFamily="18" charset="0"/>
                <a:cs typeface="Times New Roman" pitchFamily="18" charset="0"/>
              </a:rPr>
              <a:t>Therefore the name is </a:t>
            </a:r>
            <a:r>
              <a:rPr lang="en-US" sz="2400" b="1" u="sng" dirty="0">
                <a:solidFill>
                  <a:srgbClr val="005828"/>
                </a:solidFill>
                <a:latin typeface="Times New Roman" pitchFamily="18" charset="0"/>
                <a:cs typeface="Times New Roman" pitchFamily="18" charset="0"/>
              </a:rPr>
              <a:t>butane</a:t>
            </a:r>
            <a:endParaRPr lang="en-US" sz="2000" b="1" u="sng" dirty="0">
              <a:solidFill>
                <a:srgbClr val="005828"/>
              </a:solidFill>
              <a:latin typeface="Times New Roman" pitchFamily="18" charset="0"/>
              <a:cs typeface="Times New Roman" pitchFamily="18" charset="0"/>
            </a:endParaRPr>
          </a:p>
          <a:p>
            <a:r>
              <a:rPr lang="en-US" sz="2000" dirty="0">
                <a:latin typeface="Times New Roman" pitchFamily="18" charset="0"/>
                <a:cs typeface="Times New Roman" pitchFamily="18" charset="0"/>
              </a:rPr>
              <a:t>		</a:t>
            </a:r>
            <a:endParaRPr lang="en-IN" sz="20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pic>
        <p:nvPicPr>
          <p:cNvPr id="82" name="Google Shape;82;p12" descr="preencoded.png"/>
          <p:cNvPicPr preferRelativeResize="0"/>
          <p:nvPr/>
        </p:nvPicPr>
        <p:blipFill rotWithShape="1">
          <a:blip r:embed="rId3">
            <a:alphaModFix/>
          </a:blip>
          <a:srcRect/>
          <a:stretch/>
        </p:blipFill>
        <p:spPr>
          <a:xfrm>
            <a:off x="54864" y="0"/>
            <a:ext cx="9089137" cy="685190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solidFill>
                  <a:srgbClr val="FF0000"/>
                </a:solidFill>
              </a:rPr>
              <a:t>Nomenclature of compounds </a:t>
            </a:r>
            <a:br>
              <a:rPr lang="en-US" sz="4000" b="1" dirty="0">
                <a:solidFill>
                  <a:srgbClr val="FF0000"/>
                </a:solidFill>
              </a:rPr>
            </a:br>
            <a:r>
              <a:rPr lang="en-US" sz="4000" b="1" dirty="0">
                <a:solidFill>
                  <a:srgbClr val="FF0000"/>
                </a:solidFill>
              </a:rPr>
              <a:t>containing functional group</a:t>
            </a:r>
            <a:endParaRPr lang="en-IN" b="1" dirty="0">
              <a:solidFill>
                <a:srgbClr val="FF0000"/>
              </a:solidFill>
            </a:endParaRPr>
          </a:p>
        </p:txBody>
      </p:sp>
      <p:pic>
        <p:nvPicPr>
          <p:cNvPr id="2050" name="Picture 2"/>
          <p:cNvPicPr>
            <a:picLocks noGrp="1" noChangeAspect="1" noChangeArrowheads="1"/>
          </p:cNvPicPr>
          <p:nvPr>
            <p:ph idx="1"/>
          </p:nvPr>
        </p:nvPicPr>
        <p:blipFill>
          <a:blip r:embed="rId2" cstate="print"/>
          <a:stretch>
            <a:fillRect/>
          </a:stretch>
        </p:blipFill>
        <p:spPr bwMode="auto">
          <a:xfrm>
            <a:off x="1286593" y="2160588"/>
            <a:ext cx="4994427" cy="3881437"/>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US" b="1" dirty="0">
                <a:solidFill>
                  <a:srgbClr val="FF0000"/>
                </a:solidFill>
              </a:rPr>
              <a:t>Homologous Series</a:t>
            </a:r>
            <a:endParaRPr lang="en-IN" b="1" dirty="0">
              <a:solidFill>
                <a:srgbClr val="FF0000"/>
              </a:solidFill>
            </a:endParaRPr>
          </a:p>
        </p:txBody>
      </p:sp>
      <p:sp>
        <p:nvSpPr>
          <p:cNvPr id="3" name="Content Placeholder 2"/>
          <p:cNvSpPr>
            <a:spLocks noGrp="1"/>
          </p:cNvSpPr>
          <p:nvPr>
            <p:ph idx="1"/>
          </p:nvPr>
        </p:nvSpPr>
        <p:spPr>
          <a:xfrm>
            <a:off x="0" y="838201"/>
            <a:ext cx="9144000" cy="2286000"/>
          </a:xfrm>
        </p:spPr>
        <p:txBody>
          <a:bodyPr>
            <a:normAutofit/>
          </a:bodyPr>
          <a:lstStyle/>
          <a:p>
            <a:pPr algn="just"/>
            <a:r>
              <a:rPr lang="en-US" sz="2800" dirty="0" err="1"/>
              <a:t>Homologus</a:t>
            </a:r>
            <a:r>
              <a:rPr lang="en-US" sz="2800" dirty="0"/>
              <a:t> series is a group of carbon compounds having </a:t>
            </a:r>
            <a:r>
              <a:rPr lang="en-US" sz="2800" b="1" dirty="0">
                <a:solidFill>
                  <a:srgbClr val="005828"/>
                </a:solidFill>
              </a:rPr>
              <a:t>similar structure, similar chemical properties</a:t>
            </a:r>
            <a:r>
              <a:rPr lang="en-US" sz="2800" dirty="0"/>
              <a:t> and whose successive members is differ by a  </a:t>
            </a:r>
            <a:r>
              <a:rPr lang="en-US" sz="2800" b="1" dirty="0">
                <a:solidFill>
                  <a:srgbClr val="005828"/>
                </a:solidFill>
              </a:rPr>
              <a:t>–CH</a:t>
            </a:r>
            <a:r>
              <a:rPr lang="en-US" sz="2800" b="1" baseline="-25000" dirty="0">
                <a:solidFill>
                  <a:srgbClr val="005828"/>
                </a:solidFill>
              </a:rPr>
              <a:t>2</a:t>
            </a:r>
            <a:r>
              <a:rPr lang="en-US" sz="2800" b="1" dirty="0">
                <a:solidFill>
                  <a:srgbClr val="005828"/>
                </a:solidFill>
              </a:rPr>
              <a:t> </a:t>
            </a:r>
            <a:r>
              <a:rPr lang="en-US" sz="2800" dirty="0"/>
              <a:t>group</a:t>
            </a:r>
          </a:p>
        </p:txBody>
      </p:sp>
      <p:graphicFrame>
        <p:nvGraphicFramePr>
          <p:cNvPr id="5" name="Table 4"/>
          <p:cNvGraphicFramePr>
            <a:graphicFrameLocks noGrp="1"/>
          </p:cNvGraphicFramePr>
          <p:nvPr/>
        </p:nvGraphicFramePr>
        <p:xfrm>
          <a:off x="762000" y="2743200"/>
          <a:ext cx="7772400" cy="310896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70840">
                <a:tc gridSpan="3">
                  <a:txBody>
                    <a:bodyPr/>
                    <a:lstStyle/>
                    <a:p>
                      <a:pPr algn="ctr"/>
                      <a:r>
                        <a:rPr lang="en-US" sz="3200" b="1" dirty="0">
                          <a:solidFill>
                            <a:srgbClr val="005828"/>
                          </a:solidFill>
                        </a:rPr>
                        <a:t>Homologous Series 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r>
                        <a:rPr lang="en-US" sz="2400" b="1" dirty="0" err="1">
                          <a:solidFill>
                            <a:srgbClr val="005828"/>
                          </a:solidFill>
                        </a:rPr>
                        <a:t>Alkanes</a:t>
                      </a:r>
                      <a:endParaRPr lang="en-US" sz="2400" b="1" dirty="0">
                        <a:solidFill>
                          <a:srgbClr val="00582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rgbClr val="005828"/>
                          </a:solidFill>
                        </a:rPr>
                        <a:t>Alkenes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rgbClr val="005828"/>
                          </a:solidFill>
                        </a:rPr>
                        <a:t>Alkynes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n-US" sz="2800" dirty="0">
                          <a:solidFill>
                            <a:srgbClr val="005828"/>
                          </a:solidFill>
                        </a:rPr>
                        <a:t>CH</a:t>
                      </a:r>
                      <a:r>
                        <a:rPr lang="en-US" sz="2800" baseline="-25000" dirty="0">
                          <a:solidFill>
                            <a:srgbClr val="005828"/>
                          </a:solidFill>
                        </a:rPr>
                        <a:t>4</a:t>
                      </a:r>
                    </a:p>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005828"/>
                          </a:solidFill>
                        </a:rPr>
                        <a:t>C</a:t>
                      </a:r>
                      <a:r>
                        <a:rPr lang="en-US" sz="2800" baseline="-25000" dirty="0">
                          <a:solidFill>
                            <a:srgbClr val="005828"/>
                          </a:solidFill>
                        </a:rPr>
                        <a:t>2</a:t>
                      </a:r>
                      <a:r>
                        <a:rPr lang="en-US" sz="2800" dirty="0">
                          <a:solidFill>
                            <a:srgbClr val="005828"/>
                          </a:solidFill>
                        </a:rPr>
                        <a:t>H</a:t>
                      </a:r>
                      <a:r>
                        <a:rPr lang="en-US" sz="2800" baseline="-25000" dirty="0">
                          <a:solidFill>
                            <a:srgbClr val="005828"/>
                          </a:solidFill>
                        </a:rPr>
                        <a:t>6</a:t>
                      </a:r>
                    </a:p>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005828"/>
                          </a:solidFill>
                        </a:rPr>
                        <a:t>C</a:t>
                      </a:r>
                      <a:r>
                        <a:rPr lang="en-US" sz="2800" baseline="-25000" dirty="0">
                          <a:solidFill>
                            <a:srgbClr val="005828"/>
                          </a:solidFill>
                        </a:rPr>
                        <a:t>3</a:t>
                      </a:r>
                      <a:r>
                        <a:rPr lang="en-US" sz="2800" dirty="0">
                          <a:solidFill>
                            <a:srgbClr val="005828"/>
                          </a:solidFill>
                        </a:rPr>
                        <a:t>H</a:t>
                      </a:r>
                      <a:r>
                        <a:rPr lang="en-US" sz="2800" baseline="-25000" dirty="0">
                          <a:solidFill>
                            <a:srgbClr val="005828"/>
                          </a:solidFill>
                        </a:rPr>
                        <a:t>8</a:t>
                      </a:r>
                    </a:p>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005828"/>
                          </a:solidFill>
                        </a:rPr>
                        <a:t>C</a:t>
                      </a:r>
                      <a:r>
                        <a:rPr lang="en-US" sz="2800" baseline="-25000" dirty="0">
                          <a:solidFill>
                            <a:srgbClr val="005828"/>
                          </a:solidFill>
                        </a:rPr>
                        <a:t>4</a:t>
                      </a:r>
                      <a:r>
                        <a:rPr lang="en-US" sz="2800" dirty="0">
                          <a:solidFill>
                            <a:srgbClr val="005828"/>
                          </a:solidFill>
                        </a:rPr>
                        <a:t>H</a:t>
                      </a:r>
                      <a:r>
                        <a:rPr lang="en-US" sz="2800" baseline="-25000" dirty="0">
                          <a:solidFill>
                            <a:srgbClr val="005828"/>
                          </a:solidFill>
                        </a:rPr>
                        <a:t>10</a:t>
                      </a:r>
                    </a:p>
                    <a:p>
                      <a:endParaRPr lang="en-US" baseline="-25000" dirty="0">
                        <a:solidFill>
                          <a:srgbClr val="00582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005828"/>
                          </a:solidFill>
                        </a:rPr>
                        <a:t>C</a:t>
                      </a:r>
                      <a:r>
                        <a:rPr lang="en-US" sz="2800" baseline="-25000" dirty="0">
                          <a:solidFill>
                            <a:srgbClr val="005828"/>
                          </a:solidFill>
                        </a:rPr>
                        <a:t>2</a:t>
                      </a:r>
                      <a:r>
                        <a:rPr lang="en-US" sz="2800" dirty="0">
                          <a:solidFill>
                            <a:srgbClr val="005828"/>
                          </a:solidFill>
                        </a:rPr>
                        <a:t>H</a:t>
                      </a:r>
                      <a:r>
                        <a:rPr lang="en-US" sz="2800" baseline="-25000" dirty="0">
                          <a:solidFill>
                            <a:srgbClr val="005828"/>
                          </a:solidFill>
                        </a:rPr>
                        <a:t>4</a:t>
                      </a:r>
                    </a:p>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005828"/>
                          </a:solidFill>
                        </a:rPr>
                        <a:t>C</a:t>
                      </a:r>
                      <a:r>
                        <a:rPr lang="en-US" sz="2800" baseline="-25000" dirty="0">
                          <a:solidFill>
                            <a:srgbClr val="005828"/>
                          </a:solidFill>
                        </a:rPr>
                        <a:t>3</a:t>
                      </a:r>
                      <a:r>
                        <a:rPr lang="en-US" sz="2800" dirty="0">
                          <a:solidFill>
                            <a:srgbClr val="005828"/>
                          </a:solidFill>
                        </a:rPr>
                        <a:t>H</a:t>
                      </a:r>
                      <a:r>
                        <a:rPr lang="en-US" sz="2800" baseline="-25000" dirty="0">
                          <a:solidFill>
                            <a:srgbClr val="005828"/>
                          </a:solidFill>
                        </a:rPr>
                        <a:t>6</a:t>
                      </a:r>
                    </a:p>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005828"/>
                          </a:solidFill>
                        </a:rPr>
                        <a:t>C</a:t>
                      </a:r>
                      <a:r>
                        <a:rPr lang="en-US" sz="2800" baseline="-25000" dirty="0">
                          <a:solidFill>
                            <a:srgbClr val="005828"/>
                          </a:solidFill>
                        </a:rPr>
                        <a:t>4</a:t>
                      </a:r>
                      <a:r>
                        <a:rPr lang="en-US" sz="2800" dirty="0">
                          <a:solidFill>
                            <a:srgbClr val="005828"/>
                          </a:solidFill>
                        </a:rPr>
                        <a:t>H</a:t>
                      </a:r>
                      <a:r>
                        <a:rPr lang="en-US" sz="2800" baseline="-25000" dirty="0">
                          <a:solidFill>
                            <a:srgbClr val="005828"/>
                          </a:solidFill>
                        </a:rPr>
                        <a:t>8</a:t>
                      </a:r>
                    </a:p>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005828"/>
                          </a:solidFill>
                        </a:rPr>
                        <a:t>C</a:t>
                      </a:r>
                      <a:r>
                        <a:rPr lang="en-US" sz="2800" baseline="-25000" dirty="0">
                          <a:solidFill>
                            <a:srgbClr val="005828"/>
                          </a:solidFill>
                        </a:rPr>
                        <a:t>5</a:t>
                      </a:r>
                      <a:r>
                        <a:rPr lang="en-US" sz="2800" dirty="0">
                          <a:solidFill>
                            <a:srgbClr val="005828"/>
                          </a:solidFill>
                        </a:rPr>
                        <a:t>H</a:t>
                      </a:r>
                      <a:r>
                        <a:rPr lang="en-US" sz="2800" baseline="-25000" dirty="0">
                          <a:solidFill>
                            <a:srgbClr val="005828"/>
                          </a:solidFill>
                        </a:rPr>
                        <a:t>10</a:t>
                      </a:r>
                    </a:p>
                    <a:p>
                      <a:endParaRPr lang="en-US" dirty="0">
                        <a:solidFill>
                          <a:srgbClr val="00582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005828"/>
                          </a:solidFill>
                        </a:rPr>
                        <a:t>C</a:t>
                      </a:r>
                      <a:r>
                        <a:rPr lang="en-US" sz="2800" baseline="-25000" dirty="0">
                          <a:solidFill>
                            <a:srgbClr val="005828"/>
                          </a:solidFill>
                        </a:rPr>
                        <a:t>2</a:t>
                      </a:r>
                      <a:r>
                        <a:rPr lang="en-US" sz="2800" dirty="0">
                          <a:solidFill>
                            <a:srgbClr val="005828"/>
                          </a:solidFill>
                        </a:rPr>
                        <a:t>H</a:t>
                      </a:r>
                      <a:r>
                        <a:rPr lang="en-US" sz="2800" baseline="-25000" dirty="0">
                          <a:solidFill>
                            <a:srgbClr val="005828"/>
                          </a:solidFill>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005828"/>
                          </a:solidFill>
                        </a:rPr>
                        <a:t>C</a:t>
                      </a:r>
                      <a:r>
                        <a:rPr lang="en-US" sz="2800" baseline="-25000" dirty="0">
                          <a:solidFill>
                            <a:srgbClr val="005828"/>
                          </a:solidFill>
                        </a:rPr>
                        <a:t>3</a:t>
                      </a:r>
                      <a:r>
                        <a:rPr lang="en-US" sz="2800" dirty="0">
                          <a:solidFill>
                            <a:srgbClr val="005828"/>
                          </a:solidFill>
                        </a:rPr>
                        <a:t>H</a:t>
                      </a:r>
                      <a:r>
                        <a:rPr lang="en-US" sz="2800" baseline="-25000" dirty="0">
                          <a:solidFill>
                            <a:srgbClr val="005828"/>
                          </a:solidFill>
                        </a:rPr>
                        <a:t>4</a:t>
                      </a:r>
                    </a:p>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005828"/>
                          </a:solidFill>
                        </a:rPr>
                        <a:t>C</a:t>
                      </a:r>
                      <a:r>
                        <a:rPr lang="en-US" sz="2800" baseline="-25000" dirty="0">
                          <a:solidFill>
                            <a:srgbClr val="005828"/>
                          </a:solidFill>
                        </a:rPr>
                        <a:t>4</a:t>
                      </a:r>
                      <a:r>
                        <a:rPr lang="en-US" sz="2800" dirty="0">
                          <a:solidFill>
                            <a:srgbClr val="005828"/>
                          </a:solidFill>
                        </a:rPr>
                        <a:t>H</a:t>
                      </a:r>
                      <a:r>
                        <a:rPr lang="en-US" sz="2800" baseline="-25000" dirty="0">
                          <a:solidFill>
                            <a:srgbClr val="005828"/>
                          </a:solidFill>
                        </a:rPr>
                        <a:t>6</a:t>
                      </a:r>
                    </a:p>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005828"/>
                          </a:solidFill>
                        </a:rPr>
                        <a:t>C</a:t>
                      </a:r>
                      <a:r>
                        <a:rPr lang="en-US" sz="2800" baseline="-25000" dirty="0">
                          <a:solidFill>
                            <a:srgbClr val="005828"/>
                          </a:solidFill>
                        </a:rPr>
                        <a:t>5</a:t>
                      </a:r>
                      <a:r>
                        <a:rPr lang="en-US" sz="2800" dirty="0">
                          <a:solidFill>
                            <a:srgbClr val="005828"/>
                          </a:solidFill>
                        </a:rPr>
                        <a:t>H</a:t>
                      </a:r>
                      <a:r>
                        <a:rPr lang="en-US" sz="2800" baseline="-25000" dirty="0">
                          <a:solidFill>
                            <a:srgbClr val="005828"/>
                          </a:solidFill>
                        </a:rPr>
                        <a:t>8</a:t>
                      </a:r>
                    </a:p>
                    <a:p>
                      <a:endParaRPr lang="en-US" dirty="0">
                        <a:solidFill>
                          <a:srgbClr val="00582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762000" y="457200"/>
          <a:ext cx="7772400" cy="4909693"/>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70840">
                <a:tc gridSpan="3">
                  <a:txBody>
                    <a:bodyPr/>
                    <a:lstStyle/>
                    <a:p>
                      <a:pPr algn="ctr"/>
                      <a:r>
                        <a:rPr lang="en-US" sz="3200" b="1" dirty="0">
                          <a:solidFill>
                            <a:srgbClr val="005828"/>
                          </a:solidFill>
                        </a:rPr>
                        <a:t>Homologous Series 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944880">
                <a:tc>
                  <a:txBody>
                    <a:bodyPr/>
                    <a:lstStyle/>
                    <a:p>
                      <a:pPr algn="ctr"/>
                      <a:endParaRPr lang="en-US" sz="2800" b="1" dirty="0">
                        <a:solidFill>
                          <a:srgbClr val="005828"/>
                        </a:solidFill>
                      </a:endParaRPr>
                    </a:p>
                    <a:p>
                      <a:pPr algn="ctr"/>
                      <a:r>
                        <a:rPr lang="en-US" sz="2800" b="1" dirty="0" err="1">
                          <a:solidFill>
                            <a:srgbClr val="005828"/>
                          </a:solidFill>
                        </a:rPr>
                        <a:t>Aldehydes</a:t>
                      </a:r>
                      <a:endParaRPr lang="en-US" sz="2800" b="1" dirty="0">
                        <a:solidFill>
                          <a:srgbClr val="00582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800" b="1" kern="0" dirty="0">
                        <a:solidFill>
                          <a:srgbClr val="005828"/>
                        </a:solidFill>
                      </a:endParaRPr>
                    </a:p>
                    <a:p>
                      <a:pPr algn="ctr"/>
                      <a:r>
                        <a:rPr lang="en-US" sz="2800" b="1" kern="0" dirty="0">
                          <a:solidFill>
                            <a:srgbClr val="005828"/>
                          </a:solidFill>
                        </a:rPr>
                        <a:t>Alcohols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800" b="1" dirty="0">
                        <a:solidFill>
                          <a:srgbClr val="005828"/>
                        </a:solidFill>
                      </a:endParaRPr>
                    </a:p>
                    <a:p>
                      <a:pPr algn="ctr"/>
                      <a:r>
                        <a:rPr lang="en-US" sz="2800" b="1" dirty="0">
                          <a:solidFill>
                            <a:srgbClr val="005828"/>
                          </a:solidFill>
                        </a:rPr>
                        <a:t>Carboxylic acids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lnSpc>
                          <a:spcPct val="200000"/>
                        </a:lnSpc>
                      </a:pPr>
                      <a:r>
                        <a:rPr lang="en-US" sz="2800" dirty="0">
                          <a:solidFill>
                            <a:srgbClr val="005828"/>
                          </a:solidFill>
                        </a:rPr>
                        <a:t>HCHO</a:t>
                      </a:r>
                    </a:p>
                    <a:p>
                      <a:pPr algn="ctr">
                        <a:lnSpc>
                          <a:spcPct val="200000"/>
                        </a:lnSpc>
                      </a:pPr>
                      <a:r>
                        <a:rPr lang="en-US" sz="2800" dirty="0">
                          <a:solidFill>
                            <a:srgbClr val="005828"/>
                          </a:solidFill>
                        </a:rPr>
                        <a:t>CH</a:t>
                      </a:r>
                      <a:r>
                        <a:rPr lang="en-US" sz="2800" baseline="-25000" dirty="0">
                          <a:solidFill>
                            <a:srgbClr val="005828"/>
                          </a:solidFill>
                        </a:rPr>
                        <a:t>3</a:t>
                      </a:r>
                      <a:r>
                        <a:rPr lang="en-US" sz="2800" dirty="0">
                          <a:solidFill>
                            <a:srgbClr val="005828"/>
                          </a:solidFill>
                        </a:rPr>
                        <a:t>CHO</a:t>
                      </a:r>
                    </a:p>
                    <a:p>
                      <a:pPr algn="ctr">
                        <a:lnSpc>
                          <a:spcPct val="200000"/>
                        </a:lnSpc>
                      </a:pPr>
                      <a:r>
                        <a:rPr lang="en-US" sz="2800" dirty="0">
                          <a:solidFill>
                            <a:srgbClr val="005828"/>
                          </a:solidFill>
                        </a:rPr>
                        <a:t>C</a:t>
                      </a:r>
                      <a:r>
                        <a:rPr lang="en-US" sz="2800" baseline="-25000" dirty="0">
                          <a:solidFill>
                            <a:srgbClr val="005828"/>
                          </a:solidFill>
                        </a:rPr>
                        <a:t>2</a:t>
                      </a:r>
                      <a:r>
                        <a:rPr lang="en-US" sz="2800" dirty="0">
                          <a:solidFill>
                            <a:srgbClr val="005828"/>
                          </a:solidFill>
                        </a:rPr>
                        <a:t>H</a:t>
                      </a:r>
                      <a:r>
                        <a:rPr lang="en-US" sz="2800" baseline="-25000" dirty="0">
                          <a:solidFill>
                            <a:srgbClr val="005828"/>
                          </a:solidFill>
                        </a:rPr>
                        <a:t>5</a:t>
                      </a:r>
                      <a:r>
                        <a:rPr lang="en-US" sz="2800" dirty="0">
                          <a:solidFill>
                            <a:srgbClr val="005828"/>
                          </a:solidFill>
                        </a:rPr>
                        <a:t>CHO</a:t>
                      </a:r>
                    </a:p>
                    <a:p>
                      <a:pPr algn="ctr">
                        <a:lnSpc>
                          <a:spcPct val="200000"/>
                        </a:lnSpc>
                      </a:pPr>
                      <a:r>
                        <a:rPr lang="en-US" sz="2800" dirty="0">
                          <a:solidFill>
                            <a:srgbClr val="005828"/>
                          </a:solidFill>
                        </a:rPr>
                        <a:t>C</a:t>
                      </a:r>
                      <a:r>
                        <a:rPr lang="en-US" sz="2800" baseline="-25000" dirty="0">
                          <a:solidFill>
                            <a:srgbClr val="005828"/>
                          </a:solidFill>
                        </a:rPr>
                        <a:t>3</a:t>
                      </a:r>
                      <a:r>
                        <a:rPr lang="en-US" sz="2800" dirty="0">
                          <a:solidFill>
                            <a:srgbClr val="005828"/>
                          </a:solidFill>
                        </a:rPr>
                        <a:t>H</a:t>
                      </a:r>
                      <a:r>
                        <a:rPr lang="en-US" sz="2800" baseline="-25000" dirty="0">
                          <a:solidFill>
                            <a:srgbClr val="005828"/>
                          </a:solidFill>
                        </a:rPr>
                        <a:t>7</a:t>
                      </a:r>
                      <a:r>
                        <a:rPr lang="en-US" sz="2800" dirty="0">
                          <a:solidFill>
                            <a:srgbClr val="005828"/>
                          </a:solidFill>
                        </a:rPr>
                        <a:t>CHO</a:t>
                      </a:r>
                      <a:endParaRPr lang="en-US" baseline="-25000" dirty="0">
                        <a:solidFill>
                          <a:srgbClr val="00582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200000"/>
                        </a:lnSpc>
                      </a:pPr>
                      <a:r>
                        <a:rPr lang="en-US" sz="2800" kern="0" dirty="0">
                          <a:solidFill>
                            <a:srgbClr val="005828"/>
                          </a:solidFill>
                        </a:rPr>
                        <a:t>CH</a:t>
                      </a:r>
                      <a:r>
                        <a:rPr lang="en-US" sz="2800" kern="0" baseline="-25000" dirty="0">
                          <a:solidFill>
                            <a:srgbClr val="005828"/>
                          </a:solidFill>
                        </a:rPr>
                        <a:t>3</a:t>
                      </a:r>
                      <a:r>
                        <a:rPr lang="en-US" sz="2800" kern="0" dirty="0">
                          <a:solidFill>
                            <a:srgbClr val="005828"/>
                          </a:solidFill>
                        </a:rPr>
                        <a:t>OH</a:t>
                      </a:r>
                    </a:p>
                    <a:p>
                      <a:pPr algn="ctr">
                        <a:lnSpc>
                          <a:spcPct val="200000"/>
                        </a:lnSpc>
                      </a:pPr>
                      <a:r>
                        <a:rPr lang="en-US" sz="2800" kern="0" dirty="0">
                          <a:solidFill>
                            <a:srgbClr val="005828"/>
                          </a:solidFill>
                        </a:rPr>
                        <a:t>C</a:t>
                      </a:r>
                      <a:r>
                        <a:rPr lang="en-US" sz="2800" kern="0" baseline="-25000" dirty="0">
                          <a:solidFill>
                            <a:srgbClr val="005828"/>
                          </a:solidFill>
                        </a:rPr>
                        <a:t>2</a:t>
                      </a:r>
                      <a:r>
                        <a:rPr lang="en-US" sz="2800" kern="0" dirty="0">
                          <a:solidFill>
                            <a:srgbClr val="005828"/>
                          </a:solidFill>
                        </a:rPr>
                        <a:t>H</a:t>
                      </a:r>
                      <a:r>
                        <a:rPr lang="en-US" sz="2800" kern="0" baseline="-25000" dirty="0">
                          <a:solidFill>
                            <a:srgbClr val="005828"/>
                          </a:solidFill>
                        </a:rPr>
                        <a:t>5</a:t>
                      </a:r>
                      <a:r>
                        <a:rPr lang="en-US" sz="2800" kern="0" dirty="0">
                          <a:solidFill>
                            <a:srgbClr val="005828"/>
                          </a:solidFill>
                        </a:rPr>
                        <a:t>OH</a:t>
                      </a:r>
                    </a:p>
                    <a:p>
                      <a:pPr algn="ctr">
                        <a:lnSpc>
                          <a:spcPct val="200000"/>
                        </a:lnSpc>
                      </a:pPr>
                      <a:r>
                        <a:rPr lang="en-US" sz="2800" kern="0" dirty="0">
                          <a:solidFill>
                            <a:srgbClr val="005828"/>
                          </a:solidFill>
                        </a:rPr>
                        <a:t>C</a:t>
                      </a:r>
                      <a:r>
                        <a:rPr lang="en-US" sz="2800" kern="0" baseline="-25000" dirty="0">
                          <a:solidFill>
                            <a:srgbClr val="005828"/>
                          </a:solidFill>
                        </a:rPr>
                        <a:t>3</a:t>
                      </a:r>
                      <a:r>
                        <a:rPr lang="en-US" sz="2800" kern="0" dirty="0">
                          <a:solidFill>
                            <a:srgbClr val="005828"/>
                          </a:solidFill>
                        </a:rPr>
                        <a:t>H</a:t>
                      </a:r>
                      <a:r>
                        <a:rPr lang="en-US" sz="2800" kern="0" baseline="-25000" dirty="0">
                          <a:solidFill>
                            <a:srgbClr val="005828"/>
                          </a:solidFill>
                        </a:rPr>
                        <a:t>7</a:t>
                      </a:r>
                      <a:r>
                        <a:rPr lang="en-US" sz="2800" kern="0" dirty="0">
                          <a:solidFill>
                            <a:srgbClr val="005828"/>
                          </a:solidFill>
                        </a:rPr>
                        <a:t>OH</a:t>
                      </a:r>
                    </a:p>
                    <a:p>
                      <a:pPr marL="0" marR="0" indent="0" algn="ctr" defTabSz="914400" rtl="0" eaLnBrk="1" fontAlgn="auto" latinLnBrk="0" hangingPunct="1">
                        <a:lnSpc>
                          <a:spcPct val="200000"/>
                        </a:lnSpc>
                        <a:spcBef>
                          <a:spcPts val="0"/>
                        </a:spcBef>
                        <a:spcAft>
                          <a:spcPts val="0"/>
                        </a:spcAft>
                        <a:buClrTx/>
                        <a:buSzTx/>
                        <a:buFontTx/>
                        <a:buNone/>
                        <a:tabLst/>
                        <a:defRPr/>
                      </a:pPr>
                      <a:r>
                        <a:rPr lang="en-US" sz="2800" kern="0" dirty="0">
                          <a:solidFill>
                            <a:srgbClr val="005828"/>
                          </a:solidFill>
                        </a:rPr>
                        <a:t>C</a:t>
                      </a:r>
                      <a:r>
                        <a:rPr lang="en-US" sz="2800" kern="0" baseline="-25000" dirty="0">
                          <a:solidFill>
                            <a:srgbClr val="005828"/>
                          </a:solidFill>
                        </a:rPr>
                        <a:t>4</a:t>
                      </a:r>
                      <a:r>
                        <a:rPr lang="en-US" sz="2800" kern="0" dirty="0">
                          <a:solidFill>
                            <a:srgbClr val="005828"/>
                          </a:solidFill>
                        </a:rPr>
                        <a:t>H</a:t>
                      </a:r>
                      <a:r>
                        <a:rPr lang="en-US" sz="2800" kern="0" baseline="-25000" dirty="0">
                          <a:solidFill>
                            <a:srgbClr val="005828"/>
                          </a:solidFill>
                        </a:rPr>
                        <a:t>9</a:t>
                      </a:r>
                      <a:r>
                        <a:rPr lang="en-US" sz="2800" kern="0" dirty="0">
                          <a:solidFill>
                            <a:srgbClr val="005828"/>
                          </a:solidFill>
                        </a:rPr>
                        <a:t>OH</a:t>
                      </a:r>
                      <a:endParaRPr lang="en-US" kern="0" baseline="30000" dirty="0">
                        <a:solidFill>
                          <a:srgbClr val="00582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200000"/>
                        </a:lnSpc>
                      </a:pPr>
                      <a:r>
                        <a:rPr lang="en-US" sz="2800" kern="0" dirty="0">
                          <a:solidFill>
                            <a:srgbClr val="005828"/>
                          </a:solidFill>
                        </a:rPr>
                        <a:t>CH</a:t>
                      </a:r>
                      <a:r>
                        <a:rPr lang="en-US" sz="2800" kern="0" baseline="-25000" dirty="0">
                          <a:solidFill>
                            <a:srgbClr val="005828"/>
                          </a:solidFill>
                        </a:rPr>
                        <a:t>3</a:t>
                      </a:r>
                      <a:r>
                        <a:rPr lang="en-US" sz="2800" kern="0" dirty="0">
                          <a:solidFill>
                            <a:srgbClr val="005828"/>
                          </a:solidFill>
                        </a:rPr>
                        <a:t>COOH</a:t>
                      </a:r>
                    </a:p>
                    <a:p>
                      <a:pPr algn="ctr">
                        <a:lnSpc>
                          <a:spcPct val="200000"/>
                        </a:lnSpc>
                      </a:pPr>
                      <a:r>
                        <a:rPr lang="en-US" sz="2800" kern="0" dirty="0">
                          <a:solidFill>
                            <a:srgbClr val="005828"/>
                          </a:solidFill>
                        </a:rPr>
                        <a:t>C</a:t>
                      </a:r>
                      <a:r>
                        <a:rPr lang="en-US" sz="2800" kern="0" baseline="-25000" dirty="0">
                          <a:solidFill>
                            <a:srgbClr val="005828"/>
                          </a:solidFill>
                        </a:rPr>
                        <a:t>2</a:t>
                      </a:r>
                      <a:r>
                        <a:rPr lang="en-US" sz="2800" kern="0" dirty="0">
                          <a:solidFill>
                            <a:srgbClr val="005828"/>
                          </a:solidFill>
                        </a:rPr>
                        <a:t>H</a:t>
                      </a:r>
                      <a:r>
                        <a:rPr lang="en-US" sz="2800" kern="0" baseline="-25000" dirty="0">
                          <a:solidFill>
                            <a:srgbClr val="005828"/>
                          </a:solidFill>
                        </a:rPr>
                        <a:t>5</a:t>
                      </a:r>
                      <a:r>
                        <a:rPr lang="en-US" sz="2800" kern="0" dirty="0">
                          <a:solidFill>
                            <a:srgbClr val="005828"/>
                          </a:solidFill>
                        </a:rPr>
                        <a:t>COOH</a:t>
                      </a:r>
                    </a:p>
                    <a:p>
                      <a:pPr algn="ctr">
                        <a:lnSpc>
                          <a:spcPct val="200000"/>
                        </a:lnSpc>
                      </a:pPr>
                      <a:r>
                        <a:rPr lang="en-US" sz="2800" kern="0" dirty="0">
                          <a:solidFill>
                            <a:srgbClr val="005828"/>
                          </a:solidFill>
                        </a:rPr>
                        <a:t>C</a:t>
                      </a:r>
                      <a:r>
                        <a:rPr lang="en-US" sz="2800" kern="0" baseline="-25000" dirty="0">
                          <a:solidFill>
                            <a:srgbClr val="005828"/>
                          </a:solidFill>
                        </a:rPr>
                        <a:t>3</a:t>
                      </a:r>
                      <a:r>
                        <a:rPr lang="en-US" sz="2800" kern="0" dirty="0">
                          <a:solidFill>
                            <a:srgbClr val="005828"/>
                          </a:solidFill>
                        </a:rPr>
                        <a:t>H</a:t>
                      </a:r>
                      <a:r>
                        <a:rPr lang="en-US" sz="2800" kern="0" baseline="-25000" dirty="0">
                          <a:solidFill>
                            <a:srgbClr val="005828"/>
                          </a:solidFill>
                        </a:rPr>
                        <a:t>7</a:t>
                      </a:r>
                      <a:r>
                        <a:rPr lang="en-US" sz="2800" kern="0" dirty="0">
                          <a:solidFill>
                            <a:srgbClr val="005828"/>
                          </a:solidFill>
                        </a:rPr>
                        <a:t>COOH</a:t>
                      </a:r>
                    </a:p>
                    <a:p>
                      <a:pPr marL="0" marR="0" indent="0" algn="ctr" defTabSz="914400" rtl="0" eaLnBrk="1" fontAlgn="auto" latinLnBrk="0" hangingPunct="1">
                        <a:lnSpc>
                          <a:spcPct val="200000"/>
                        </a:lnSpc>
                        <a:spcBef>
                          <a:spcPts val="0"/>
                        </a:spcBef>
                        <a:spcAft>
                          <a:spcPts val="0"/>
                        </a:spcAft>
                        <a:buClrTx/>
                        <a:buSzTx/>
                        <a:buFontTx/>
                        <a:buNone/>
                        <a:tabLst/>
                        <a:defRPr/>
                      </a:pPr>
                      <a:r>
                        <a:rPr lang="en-US" sz="2800" kern="0" dirty="0">
                          <a:solidFill>
                            <a:srgbClr val="005828"/>
                          </a:solidFill>
                        </a:rPr>
                        <a:t>C</a:t>
                      </a:r>
                      <a:r>
                        <a:rPr lang="en-US" sz="2800" kern="0" baseline="-25000" dirty="0">
                          <a:solidFill>
                            <a:srgbClr val="005828"/>
                          </a:solidFill>
                        </a:rPr>
                        <a:t>4</a:t>
                      </a:r>
                      <a:r>
                        <a:rPr lang="en-US" sz="2800" kern="0" dirty="0">
                          <a:solidFill>
                            <a:srgbClr val="005828"/>
                          </a:solidFill>
                        </a:rPr>
                        <a:t>H</a:t>
                      </a:r>
                      <a:r>
                        <a:rPr lang="en-US" sz="2800" kern="0" baseline="-25000" dirty="0">
                          <a:solidFill>
                            <a:srgbClr val="005828"/>
                          </a:solidFill>
                        </a:rPr>
                        <a:t>9</a:t>
                      </a:r>
                      <a:r>
                        <a:rPr lang="en-US" sz="2800" kern="0" dirty="0">
                          <a:solidFill>
                            <a:srgbClr val="005828"/>
                          </a:solidFill>
                        </a:rPr>
                        <a:t>COOH</a:t>
                      </a:r>
                      <a:endParaRPr lang="en-US" dirty="0">
                        <a:solidFill>
                          <a:srgbClr val="00582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457200"/>
            <a:ext cx="8229600" cy="6400800"/>
          </a:xfrm>
        </p:spPr>
        <p:txBody>
          <a:bodyPr>
            <a:normAutofit fontScale="62500" lnSpcReduction="20000"/>
          </a:bodyPr>
          <a:lstStyle/>
          <a:p>
            <a:pPr algn="ctr">
              <a:buNone/>
            </a:pPr>
            <a:r>
              <a:rPr lang="en-US" sz="7300" b="1" u="sng" cap="small" dirty="0">
                <a:solidFill>
                  <a:srgbClr val="FF0000"/>
                </a:solidFill>
                <a:latin typeface="Arial" pitchFamily="34" charset="0"/>
                <a:cs typeface="Arial" pitchFamily="34" charset="0"/>
              </a:rPr>
              <a:t>allotropes of carbon</a:t>
            </a:r>
            <a:endParaRPr lang="en-US" sz="5100" b="1" u="sng" cap="small" dirty="0">
              <a:solidFill>
                <a:srgbClr val="FF0000"/>
              </a:solidFill>
              <a:latin typeface="Arial" pitchFamily="34" charset="0"/>
              <a:cs typeface="Arial" pitchFamily="34" charset="0"/>
            </a:endParaRPr>
          </a:p>
          <a:p>
            <a:pPr algn="ctr">
              <a:buNone/>
            </a:pPr>
            <a:endParaRPr lang="en-US" sz="5100" dirty="0">
              <a:solidFill>
                <a:srgbClr val="FF0000"/>
              </a:solidFill>
              <a:latin typeface="Arial" pitchFamily="34" charset="0"/>
              <a:cs typeface="Arial" pitchFamily="34" charset="0"/>
            </a:endParaRPr>
          </a:p>
          <a:p>
            <a:pPr algn="just"/>
            <a:r>
              <a:rPr lang="en-US" sz="4400" b="1" dirty="0">
                <a:solidFill>
                  <a:srgbClr val="005828"/>
                </a:solidFill>
                <a:latin typeface="Arial" pitchFamily="34" charset="0"/>
                <a:cs typeface="Arial" pitchFamily="34" charset="0"/>
              </a:rPr>
              <a:t>“The various physical forms in which an element can exist are called allotropes of the elements”.</a:t>
            </a:r>
            <a:endParaRPr lang="en-US" b="1" dirty="0">
              <a:solidFill>
                <a:srgbClr val="005828"/>
              </a:solidFill>
              <a:latin typeface="Arial" pitchFamily="34" charset="0"/>
              <a:cs typeface="Arial" pitchFamily="34" charset="0"/>
            </a:endParaRPr>
          </a:p>
          <a:p>
            <a:pPr algn="just">
              <a:buNone/>
            </a:pPr>
            <a:endParaRPr lang="en-US" dirty="0">
              <a:latin typeface="Arial" pitchFamily="34" charset="0"/>
              <a:cs typeface="Arial" pitchFamily="34" charset="0"/>
            </a:endParaRPr>
          </a:p>
          <a:p>
            <a:pPr algn="just"/>
            <a:r>
              <a:rPr lang="en-US" dirty="0">
                <a:latin typeface="Arial" pitchFamily="34" charset="0"/>
                <a:cs typeface="Arial" pitchFamily="34" charset="0"/>
              </a:rPr>
              <a:t>The carbon element exist in three solid forms called allotropes. They are</a:t>
            </a:r>
          </a:p>
          <a:p>
            <a:pPr algn="just"/>
            <a:endParaRPr lang="en-US" dirty="0">
              <a:latin typeface="Arial" pitchFamily="34" charset="0"/>
              <a:cs typeface="Arial" pitchFamily="34" charset="0"/>
            </a:endParaRPr>
          </a:p>
          <a:p>
            <a:pPr algn="just">
              <a:buNone/>
            </a:pPr>
            <a:r>
              <a:rPr lang="en-US" sz="3800" b="1" dirty="0">
                <a:solidFill>
                  <a:srgbClr val="005828"/>
                </a:solidFill>
                <a:latin typeface="Arial" pitchFamily="34" charset="0"/>
                <a:cs typeface="Arial" pitchFamily="34" charset="0"/>
              </a:rPr>
              <a:t>	1) Diamond		2) Graphite	 3) Buckminster fullerene</a:t>
            </a:r>
          </a:p>
          <a:p>
            <a:pPr algn="just">
              <a:buNone/>
            </a:pPr>
            <a:endParaRPr lang="en-US" dirty="0">
              <a:latin typeface="Arial" pitchFamily="34" charset="0"/>
              <a:cs typeface="Arial" pitchFamily="34" charset="0"/>
            </a:endParaRPr>
          </a:p>
          <a:p>
            <a:pPr algn="just"/>
            <a:r>
              <a:rPr lang="en-US" dirty="0">
                <a:latin typeface="Arial" pitchFamily="34" charset="0"/>
                <a:cs typeface="Arial" pitchFamily="34" charset="0"/>
              </a:rPr>
              <a:t>Diamond &amp; graphite are two common allotropes of carbon which are known to us for centuries, Buckminster fullerene is the new allotrope of carbon which has been discovered recently</a:t>
            </a:r>
          </a:p>
          <a:p>
            <a:pPr algn="just"/>
            <a:endParaRPr lang="en-US" dirty="0">
              <a:latin typeface="Arial" pitchFamily="34" charset="0"/>
              <a:cs typeface="Arial" pitchFamily="34" charset="0"/>
            </a:endParaRPr>
          </a:p>
          <a:p>
            <a:pPr algn="just"/>
            <a:r>
              <a:rPr lang="en-US" dirty="0">
                <a:latin typeface="Arial" pitchFamily="34" charset="0"/>
                <a:cs typeface="Arial" pitchFamily="34" charset="0"/>
              </a:rPr>
              <a:t>The properties of diamond &amp; graphite are well known but the properties of Buckminster fullerene are still being investigated.</a:t>
            </a:r>
          </a:p>
          <a:p>
            <a:pPr algn="just">
              <a:buNone/>
            </a:pPr>
            <a:endParaRPr lang="en-US" dirty="0">
              <a:latin typeface="Arial" pitchFamily="34" charset="0"/>
              <a:cs typeface="Arial" pitchFamily="34" charset="0"/>
            </a:endParaRPr>
          </a:p>
          <a:p>
            <a:pPr algn="just"/>
            <a:r>
              <a:rPr lang="en-US" dirty="0">
                <a:latin typeface="Arial" pitchFamily="34" charset="0"/>
                <a:cs typeface="Arial" pitchFamily="34" charset="0"/>
              </a:rPr>
              <a:t>All the allotropes of carbon burns on strong heating to form carbon dioxide, and the formed carbon dioxide gas if it pass through lime water. It turns to milky, It shows that all the allotropes of carbon contain carbon.</a:t>
            </a:r>
          </a:p>
          <a:p>
            <a:pPr algn="just"/>
            <a:endParaRPr lang="en-US" dirty="0">
              <a:latin typeface="Arial" pitchFamily="34" charset="0"/>
              <a:cs typeface="Arial"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457200"/>
            <a:ext cx="8229600" cy="6400800"/>
          </a:xfrm>
        </p:spPr>
        <p:txBody>
          <a:bodyPr>
            <a:normAutofit/>
          </a:bodyPr>
          <a:lstStyle/>
          <a:p>
            <a:pPr>
              <a:buNone/>
            </a:pPr>
            <a:r>
              <a:rPr lang="en-US" sz="5400" b="1" u="sng" cap="small" dirty="0">
                <a:solidFill>
                  <a:srgbClr val="FF0000"/>
                </a:solidFill>
              </a:rPr>
              <a:t>diamond</a:t>
            </a:r>
            <a:endParaRPr lang="en-US" sz="5400" dirty="0">
              <a:solidFill>
                <a:srgbClr val="FF0000"/>
              </a:solidFill>
            </a:endParaRPr>
          </a:p>
          <a:p>
            <a:pPr algn="just">
              <a:lnSpc>
                <a:spcPct val="210000"/>
              </a:lnSpc>
            </a:pPr>
            <a:r>
              <a:rPr lang="en-US" dirty="0"/>
              <a:t>Diamond is a </a:t>
            </a:r>
            <a:r>
              <a:rPr lang="en-US" dirty="0" err="1"/>
              <a:t>colourless</a:t>
            </a:r>
            <a:r>
              <a:rPr lang="en-US" dirty="0"/>
              <a:t> transparent substance having extraordinary brilliance.</a:t>
            </a:r>
          </a:p>
          <a:p>
            <a:pPr algn="just">
              <a:lnSpc>
                <a:spcPct val="210000"/>
              </a:lnSpc>
            </a:pPr>
            <a:r>
              <a:rPr lang="en-US" dirty="0"/>
              <a:t>Diamond is quite heavy and extremely hard </a:t>
            </a:r>
          </a:p>
          <a:p>
            <a:pPr algn="just">
              <a:lnSpc>
                <a:spcPct val="210000"/>
              </a:lnSpc>
            </a:pPr>
            <a:r>
              <a:rPr lang="en-US" dirty="0"/>
              <a:t>It is the hardest natural substance known in the nature</a:t>
            </a:r>
          </a:p>
          <a:p>
            <a:pPr algn="just">
              <a:lnSpc>
                <a:spcPct val="210000"/>
              </a:lnSpc>
            </a:pPr>
            <a:r>
              <a:rPr lang="en-US" dirty="0"/>
              <a:t>Diamond does not conduct electricity</a:t>
            </a:r>
            <a:endParaRPr lang="en-US" sz="2400" dirty="0"/>
          </a:p>
          <a:p>
            <a:pPr algn="just"/>
            <a:endParaRPr lang="en-US" sz="2400" dirty="0"/>
          </a:p>
          <a:p>
            <a:pPr algn="just">
              <a:buNone/>
            </a:pP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0"/>
            <a:ext cx="5257800" cy="6705600"/>
          </a:xfrm>
        </p:spPr>
        <p:txBody>
          <a:bodyPr>
            <a:normAutofit/>
          </a:bodyPr>
          <a:lstStyle/>
          <a:p>
            <a:pPr algn="just">
              <a:buNone/>
            </a:pPr>
            <a:r>
              <a:rPr lang="en-US" sz="2800" b="1" cap="small" dirty="0">
                <a:solidFill>
                  <a:srgbClr val="FF0000"/>
                </a:solidFill>
                <a:latin typeface="Arial" pitchFamily="34" charset="0"/>
                <a:cs typeface="Arial" pitchFamily="34" charset="0"/>
              </a:rPr>
              <a:t>	</a:t>
            </a:r>
            <a:r>
              <a:rPr lang="en-US" sz="2800" b="1" u="sng" cap="small" dirty="0">
                <a:solidFill>
                  <a:srgbClr val="FF0000"/>
                </a:solidFill>
                <a:latin typeface="Arial" pitchFamily="34" charset="0"/>
                <a:cs typeface="Arial" pitchFamily="34" charset="0"/>
              </a:rPr>
              <a:t>structure of diamond</a:t>
            </a:r>
          </a:p>
          <a:p>
            <a:pPr algn="just">
              <a:buNone/>
            </a:pPr>
            <a:endParaRPr lang="en-US" sz="2800" dirty="0"/>
          </a:p>
          <a:p>
            <a:pPr algn="just"/>
            <a:r>
              <a:rPr lang="en-US" sz="2400" dirty="0"/>
              <a:t>Each carbon atom in the diamond crystal is linked to four other carbon atoms by strong covalent bonds, the four surrounding Carbon atoms are at the four corners of  a regular tetra </a:t>
            </a:r>
            <a:r>
              <a:rPr lang="en-US" sz="2400" dirty="0" err="1"/>
              <a:t>hedron</a:t>
            </a:r>
            <a:r>
              <a:rPr lang="en-US" sz="2400" dirty="0"/>
              <a:t> and which are powerfully bonded to one another forms a network of covalent bonds, due to this diamond structure is very rigid. This rigid structure make it very hard, and also responsible for High density and  melting point.</a:t>
            </a:r>
          </a:p>
          <a:p>
            <a:pPr algn="just"/>
            <a:endParaRPr lang="en-US" dirty="0">
              <a:latin typeface="Arial" pitchFamily="34" charset="0"/>
              <a:cs typeface="Arial" pitchFamily="34" charset="0"/>
            </a:endParaRPr>
          </a:p>
          <a:p>
            <a:pPr algn="just"/>
            <a:endParaRPr lang="en-US" dirty="0">
              <a:latin typeface="Arial" pitchFamily="34" charset="0"/>
              <a:cs typeface="Arial" pitchFamily="34" charset="0"/>
            </a:endParaRPr>
          </a:p>
        </p:txBody>
      </p:sp>
      <p:pic>
        <p:nvPicPr>
          <p:cNvPr id="3" name="Picture 2" descr="F:\ECONTENT CHEMISTRY\main-qimg-221923eb12a73129bfeb0ae6600be850.jpg"/>
          <p:cNvPicPr>
            <a:picLocks noChangeAspect="1" noChangeArrowheads="1"/>
          </p:cNvPicPr>
          <p:nvPr/>
        </p:nvPicPr>
        <p:blipFill>
          <a:blip r:embed="rId2"/>
          <a:srcRect l="8676" r="18444" b="8571"/>
          <a:stretch>
            <a:fillRect/>
          </a:stretch>
        </p:blipFill>
        <p:spPr bwMode="auto">
          <a:xfrm>
            <a:off x="5338623" y="1066800"/>
            <a:ext cx="3576777" cy="3620712"/>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0"/>
            <a:ext cx="9144000" cy="7086600"/>
          </a:xfrm>
        </p:spPr>
        <p:txBody>
          <a:bodyPr>
            <a:normAutofit lnSpcReduction="10000"/>
          </a:bodyPr>
          <a:lstStyle/>
          <a:p>
            <a:pPr algn="just">
              <a:buNone/>
            </a:pPr>
            <a:endParaRPr lang="en-US" sz="1800" b="1" u="sng" cap="small" dirty="0">
              <a:solidFill>
                <a:srgbClr val="FF0000"/>
              </a:solidFill>
              <a:latin typeface="Arial" pitchFamily="34" charset="0"/>
              <a:cs typeface="Arial" pitchFamily="34" charset="0"/>
            </a:endParaRPr>
          </a:p>
          <a:p>
            <a:pPr algn="just"/>
            <a:r>
              <a:rPr lang="en-US" sz="2600" b="1" dirty="0">
                <a:solidFill>
                  <a:srgbClr val="456B56"/>
                </a:solidFill>
              </a:rPr>
              <a:t>Diamond is a non conductor of electricity</a:t>
            </a:r>
          </a:p>
          <a:p>
            <a:pPr algn="just">
              <a:buNone/>
            </a:pPr>
            <a:endParaRPr lang="en-US" sz="1500" b="1" dirty="0">
              <a:solidFill>
                <a:srgbClr val="456B56"/>
              </a:solidFill>
            </a:endParaRPr>
          </a:p>
          <a:p>
            <a:pPr algn="just"/>
            <a:r>
              <a:rPr lang="en-US" sz="2200" dirty="0"/>
              <a:t>Carbon atom has 4 valence electron in it. In a diamond crystal, each carbon atom is linked to 4 other carbon atoms by covalent bonds, and hence all the 4 valence electrons of each carbon atom are used up in forming the bonds. Since there are </a:t>
            </a:r>
            <a:r>
              <a:rPr lang="en-US" sz="2200" b="1" dirty="0">
                <a:solidFill>
                  <a:srgbClr val="006666"/>
                </a:solidFill>
              </a:rPr>
              <a:t>“ no free electrons”</a:t>
            </a:r>
            <a:r>
              <a:rPr lang="en-US" sz="2200" dirty="0"/>
              <a:t> in a diamond crystal, it does not conduct electricity.</a:t>
            </a:r>
          </a:p>
          <a:p>
            <a:pPr algn="just"/>
            <a:r>
              <a:rPr lang="en-US" sz="2200" dirty="0"/>
              <a:t>Diamonds can be made artificially by subjecting pure carbon to very high pressure &amp; temperature. These are called </a:t>
            </a:r>
            <a:r>
              <a:rPr lang="en-US" sz="2200" b="1" dirty="0">
                <a:solidFill>
                  <a:srgbClr val="005828"/>
                </a:solidFill>
              </a:rPr>
              <a:t>synthetic diamonds.</a:t>
            </a:r>
          </a:p>
          <a:p>
            <a:pPr algn="just"/>
            <a:r>
              <a:rPr lang="en-US" sz="2200" dirty="0"/>
              <a:t>synthetic diamonds are small but are otherwise indistinguishable from natural diamonds.</a:t>
            </a:r>
          </a:p>
          <a:p>
            <a:pPr algn="just">
              <a:buNone/>
            </a:pPr>
            <a:r>
              <a:rPr lang="en-US" sz="3600" b="1" u="sng" cap="small" dirty="0">
                <a:solidFill>
                  <a:srgbClr val="FF0000"/>
                </a:solidFill>
              </a:rPr>
              <a:t>uses of diamonds:</a:t>
            </a:r>
            <a:endParaRPr lang="en-US" sz="3600" dirty="0">
              <a:solidFill>
                <a:srgbClr val="FF0000"/>
              </a:solidFill>
            </a:endParaRPr>
          </a:p>
          <a:p>
            <a:pPr lvl="0"/>
            <a:r>
              <a:rPr lang="en-US" sz="2400" dirty="0"/>
              <a:t>In glass cutter</a:t>
            </a:r>
          </a:p>
          <a:p>
            <a:pPr lvl="0"/>
            <a:r>
              <a:rPr lang="en-US" sz="2400" dirty="0"/>
              <a:t>For making </a:t>
            </a:r>
            <a:r>
              <a:rPr lang="en-US" sz="2400" dirty="0" err="1"/>
              <a:t>Jewellery</a:t>
            </a:r>
            <a:r>
              <a:rPr lang="en-US" sz="2400" dirty="0"/>
              <a:t> </a:t>
            </a:r>
          </a:p>
          <a:p>
            <a:pPr lvl="0"/>
            <a:r>
              <a:rPr lang="en-US" sz="2400" dirty="0"/>
              <a:t>A sharp, diamond edged knife </a:t>
            </a:r>
            <a:r>
              <a:rPr lang="en-US" sz="2400" b="1" dirty="0">
                <a:solidFill>
                  <a:srgbClr val="005828"/>
                </a:solidFill>
              </a:rPr>
              <a:t>(called </a:t>
            </a:r>
            <a:r>
              <a:rPr lang="en-US" sz="2400" b="1" dirty="0" err="1">
                <a:solidFill>
                  <a:srgbClr val="005828"/>
                </a:solidFill>
              </a:rPr>
              <a:t>keratoma</a:t>
            </a:r>
            <a:r>
              <a:rPr lang="en-US" sz="2400" b="1" dirty="0">
                <a:solidFill>
                  <a:srgbClr val="005828"/>
                </a:solidFill>
              </a:rPr>
              <a:t>)</a:t>
            </a:r>
            <a:r>
              <a:rPr lang="en-US" sz="2400" dirty="0"/>
              <a:t> is used by eye surgeons to remove cataract from eye.</a:t>
            </a:r>
          </a:p>
          <a:p>
            <a:pPr lvl="0"/>
            <a:r>
              <a:rPr lang="en-US" sz="2400" dirty="0"/>
              <a:t>As diamond studded saws &amp; drill bits.</a:t>
            </a:r>
          </a:p>
          <a:p>
            <a:pPr algn="just"/>
            <a:endParaRPr lang="en-US" dirty="0">
              <a:latin typeface="Arial" pitchFamily="34" charset="0"/>
              <a:cs typeface="Arial" pitchFamily="34" charset="0"/>
            </a:endParaRPr>
          </a:p>
          <a:p>
            <a:pPr algn="just"/>
            <a:endParaRPr lang="en-US" dirty="0">
              <a:latin typeface="Arial" pitchFamily="34" charset="0"/>
              <a:cs typeface="Arial" pitchFamily="34" charset="0"/>
            </a:endParaRPr>
          </a:p>
        </p:txBody>
      </p:sp>
      <p:pic>
        <p:nvPicPr>
          <p:cNvPr id="75781" name="Picture 5" descr="F:\ECONTENT CHEMISTRY\1pcs-High-Quality-Diamond-Glass-Cutter-Alloy-Cutting-Wheel-Metal-Handle-Head-for-glass-mirror-tile.jpg"/>
          <p:cNvPicPr>
            <a:picLocks noChangeAspect="1" noChangeArrowheads="1"/>
          </p:cNvPicPr>
          <p:nvPr/>
        </p:nvPicPr>
        <p:blipFill>
          <a:blip r:embed="rId2" cstate="print"/>
          <a:srcRect l="22535" t="14085" r="23944"/>
          <a:stretch>
            <a:fillRect/>
          </a:stretch>
        </p:blipFill>
        <p:spPr bwMode="auto">
          <a:xfrm>
            <a:off x="3886200" y="3733800"/>
            <a:ext cx="978108" cy="1570120"/>
          </a:xfrm>
          <a:prstGeom prst="rect">
            <a:avLst/>
          </a:prstGeom>
          <a:noFill/>
        </p:spPr>
      </p:pic>
      <p:pic>
        <p:nvPicPr>
          <p:cNvPr id="75783" name="Picture 7"/>
          <p:cNvPicPr>
            <a:picLocks noChangeAspect="1" noChangeArrowheads="1"/>
          </p:cNvPicPr>
          <p:nvPr/>
        </p:nvPicPr>
        <p:blipFill>
          <a:blip r:embed="rId3"/>
          <a:srcRect/>
          <a:stretch>
            <a:fillRect/>
          </a:stretch>
        </p:blipFill>
        <p:spPr bwMode="auto">
          <a:xfrm>
            <a:off x="5029200" y="3886200"/>
            <a:ext cx="1376362" cy="1445793"/>
          </a:xfrm>
          <a:prstGeom prst="rect">
            <a:avLst/>
          </a:prstGeom>
          <a:noFill/>
          <a:ln w="9525">
            <a:noFill/>
            <a:miter lim="800000"/>
            <a:headEnd/>
            <a:tailEnd/>
          </a:ln>
          <a:effectLst/>
        </p:spPr>
      </p:pic>
      <p:pic>
        <p:nvPicPr>
          <p:cNvPr id="75784" name="Picture 8" descr="F:\ECONTENT CHEMISTRY\1267168_01_FRONT_600x600.jpg"/>
          <p:cNvPicPr>
            <a:picLocks noChangeAspect="1" noChangeArrowheads="1"/>
          </p:cNvPicPr>
          <p:nvPr/>
        </p:nvPicPr>
        <p:blipFill>
          <a:blip r:embed="rId4"/>
          <a:srcRect/>
          <a:stretch>
            <a:fillRect/>
          </a:stretch>
        </p:blipFill>
        <p:spPr bwMode="auto">
          <a:xfrm>
            <a:off x="6324600" y="3810000"/>
            <a:ext cx="1485900" cy="1485900"/>
          </a:xfrm>
          <a:prstGeom prst="rect">
            <a:avLst/>
          </a:prstGeom>
          <a:noFill/>
        </p:spPr>
      </p:pic>
      <p:pic>
        <p:nvPicPr>
          <p:cNvPr id="75785" name="Picture 9" descr="F:\ECONTENT CHEMISTRY\18-mm-diamond-core-drill-bit.jpg"/>
          <p:cNvPicPr>
            <a:picLocks noChangeAspect="1" noChangeArrowheads="1"/>
          </p:cNvPicPr>
          <p:nvPr/>
        </p:nvPicPr>
        <p:blipFill>
          <a:blip r:embed="rId5"/>
          <a:srcRect l="19444" t="9722" r="22222" b="4167"/>
          <a:stretch>
            <a:fillRect/>
          </a:stretch>
        </p:blipFill>
        <p:spPr bwMode="auto">
          <a:xfrm>
            <a:off x="7848600" y="3733800"/>
            <a:ext cx="1143000" cy="1687286"/>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0"/>
            <a:ext cx="9144000" cy="7696200"/>
          </a:xfrm>
        </p:spPr>
        <p:txBody>
          <a:bodyPr>
            <a:normAutofit fontScale="55000" lnSpcReduction="20000"/>
          </a:bodyPr>
          <a:lstStyle/>
          <a:p>
            <a:pPr algn="just">
              <a:buNone/>
            </a:pPr>
            <a:r>
              <a:rPr lang="en-US" sz="3600" b="1" u="sng" cap="small" dirty="0">
                <a:solidFill>
                  <a:srgbClr val="FF0000"/>
                </a:solidFill>
              </a:rPr>
              <a:t>GRAPHITE</a:t>
            </a:r>
            <a:endParaRPr lang="en-US" sz="3600" dirty="0">
              <a:solidFill>
                <a:srgbClr val="FF0000"/>
              </a:solidFill>
            </a:endParaRPr>
          </a:p>
          <a:p>
            <a:pPr algn="just"/>
            <a:endParaRPr lang="en-US" sz="2900" dirty="0"/>
          </a:p>
          <a:p>
            <a:pPr algn="just"/>
            <a:endParaRPr lang="en-US" sz="2900" dirty="0"/>
          </a:p>
          <a:p>
            <a:pPr algn="just"/>
            <a:endParaRPr lang="en-US" sz="2900" dirty="0"/>
          </a:p>
          <a:p>
            <a:pPr algn="just"/>
            <a:endParaRPr lang="en-US" sz="2900" dirty="0"/>
          </a:p>
          <a:p>
            <a:pPr algn="just"/>
            <a:endParaRPr lang="en-US" sz="2900" dirty="0"/>
          </a:p>
          <a:p>
            <a:pPr algn="just"/>
            <a:endParaRPr lang="en-US" sz="2900" dirty="0"/>
          </a:p>
          <a:p>
            <a:pPr algn="just">
              <a:buNone/>
            </a:pPr>
            <a:r>
              <a:rPr lang="en-US" sz="2900" b="1" cap="small" dirty="0">
                <a:solidFill>
                  <a:srgbClr val="FF0000"/>
                </a:solidFill>
              </a:rPr>
              <a:t>	</a:t>
            </a:r>
            <a:r>
              <a:rPr lang="en-US" sz="2900" b="1" u="sng" cap="small" dirty="0">
                <a:solidFill>
                  <a:srgbClr val="FF0000"/>
                </a:solidFill>
              </a:rPr>
              <a:t>GRAPHITE STRUCTURE</a:t>
            </a:r>
            <a:endParaRPr lang="en-US" sz="4600" dirty="0"/>
          </a:p>
          <a:p>
            <a:pPr algn="just"/>
            <a:r>
              <a:rPr lang="en-US" sz="2900" dirty="0"/>
              <a:t>Each carbon atoms in a graphite layer is joined to three other carbon atoms by strong covalent bonds to form flat hexagonal rings  structure called </a:t>
            </a:r>
            <a:r>
              <a:rPr lang="en-US" sz="3400" b="1" dirty="0">
                <a:solidFill>
                  <a:srgbClr val="006666"/>
                </a:solidFill>
              </a:rPr>
              <a:t>”Array”</a:t>
            </a:r>
            <a:r>
              <a:rPr lang="en-US" sz="2900" dirty="0"/>
              <a:t>. The various layers of carbon atoms in graphite are quite far apart so that no covalent bonds can exist between them. The various layers of carbon atoms in graphite are held together by weak Vander </a:t>
            </a:r>
            <a:r>
              <a:rPr lang="en-US" sz="2900" dirty="0" err="1"/>
              <a:t>waals</a:t>
            </a:r>
            <a:r>
              <a:rPr lang="en-US" sz="2900" dirty="0"/>
              <a:t> forces. Since the various layers of carbon atoms in graphite are joined by weak forces. They can slide over one another.</a:t>
            </a:r>
          </a:p>
          <a:p>
            <a:pPr algn="just"/>
            <a:endParaRPr lang="en-US" sz="1000" dirty="0"/>
          </a:p>
          <a:p>
            <a:pPr algn="just"/>
            <a:r>
              <a:rPr lang="en-US" sz="2900" dirty="0"/>
              <a:t>Due to the sheet like structure graphite is a comparatively soft substance. It is the softness of graphite which makes it useful as a dry lubricant for machine parts.</a:t>
            </a:r>
          </a:p>
          <a:p>
            <a:pPr algn="just"/>
            <a:endParaRPr lang="en-US" sz="1600" dirty="0"/>
          </a:p>
          <a:p>
            <a:pPr algn="just"/>
            <a:r>
              <a:rPr lang="en-US" sz="2900" dirty="0"/>
              <a:t>Graphite is a good conductor of electricity it is because in a graphite crystal. Each carbon atoms is joined to only three other carbon atoms by covalent bonds, Thus only the three valence electrons of each carbon atoms in graphite are used in bond formation. The fourth valence electron of each carbon atom is</a:t>
            </a:r>
            <a:r>
              <a:rPr lang="en-US" sz="3400" b="1" dirty="0">
                <a:solidFill>
                  <a:srgbClr val="006666"/>
                </a:solidFill>
              </a:rPr>
              <a:t> “free”</a:t>
            </a:r>
            <a:r>
              <a:rPr lang="en-US" sz="2900" dirty="0"/>
              <a:t> to move</a:t>
            </a:r>
          </a:p>
          <a:p>
            <a:pPr algn="just"/>
            <a:endParaRPr lang="en-US" sz="1400" dirty="0"/>
          </a:p>
          <a:p>
            <a:pPr algn="just"/>
            <a:r>
              <a:rPr lang="en-US" sz="2900" dirty="0"/>
              <a:t>Due to the “presence of free electrons” in a graphite crystal, it conducts electricity.</a:t>
            </a:r>
          </a:p>
          <a:p>
            <a:pPr algn="just"/>
            <a:endParaRPr lang="en-US" sz="1400" dirty="0"/>
          </a:p>
          <a:p>
            <a:pPr algn="just"/>
            <a:r>
              <a:rPr lang="en-US" sz="2900" dirty="0"/>
              <a:t>Like diamond, graphite also has very high melting point.</a:t>
            </a:r>
            <a:endParaRPr lang="en-US" sz="2600" dirty="0"/>
          </a:p>
          <a:p>
            <a:pPr algn="just"/>
            <a:endParaRPr lang="en-US" sz="2400" dirty="0"/>
          </a:p>
          <a:p>
            <a:pPr algn="just"/>
            <a:endParaRPr lang="en-US" dirty="0">
              <a:latin typeface="Arial" pitchFamily="34" charset="0"/>
              <a:cs typeface="Arial" pitchFamily="34" charset="0"/>
            </a:endParaRPr>
          </a:p>
          <a:p>
            <a:pPr algn="just"/>
            <a:endParaRPr lang="en-US" dirty="0">
              <a:latin typeface="Arial" pitchFamily="34" charset="0"/>
              <a:cs typeface="Arial" pitchFamily="34" charset="0"/>
            </a:endParaRPr>
          </a:p>
        </p:txBody>
      </p:sp>
      <p:sp>
        <p:nvSpPr>
          <p:cNvPr id="7" name="Rectangle 6"/>
          <p:cNvSpPr/>
          <p:nvPr/>
        </p:nvSpPr>
        <p:spPr>
          <a:xfrm>
            <a:off x="304800" y="533400"/>
            <a:ext cx="4648200" cy="1569660"/>
          </a:xfrm>
          <a:prstGeom prst="rect">
            <a:avLst/>
          </a:prstGeom>
        </p:spPr>
        <p:txBody>
          <a:bodyPr wrap="square">
            <a:spAutoFit/>
          </a:bodyPr>
          <a:lstStyle/>
          <a:p>
            <a:pPr algn="just"/>
            <a:r>
              <a:rPr lang="en-US" sz="2400" dirty="0"/>
              <a:t>The structure of graphite is very different from that of diamond. A graphite crystal consists of layers of Carbon atoms. </a:t>
            </a:r>
          </a:p>
        </p:txBody>
      </p:sp>
      <p:pic>
        <p:nvPicPr>
          <p:cNvPr id="26" name="Picture 25" descr="F:\ECONTENT CHEMISTRY\molecular-structure-of-carbon-atoms-in-graphite.png"/>
          <p:cNvPicPr/>
          <p:nvPr/>
        </p:nvPicPr>
        <p:blipFill>
          <a:blip r:embed="rId2"/>
          <a:srcRect/>
          <a:stretch>
            <a:fillRect/>
          </a:stretch>
        </p:blipFill>
        <p:spPr bwMode="auto">
          <a:xfrm>
            <a:off x="4924976" y="381000"/>
            <a:ext cx="3190324" cy="1997938"/>
          </a:xfrm>
          <a:prstGeom prst="rect">
            <a:avLst/>
          </a:prstGeom>
          <a:noFill/>
          <a:ln w="9525">
            <a:noFill/>
            <a:miter lim="800000"/>
            <a:headEnd/>
            <a:tailEnd/>
          </a:ln>
        </p:spPr>
      </p:pic>
      <p:grpSp>
        <p:nvGrpSpPr>
          <p:cNvPr id="76802" name="Group 2"/>
          <p:cNvGrpSpPr>
            <a:grpSpLocks/>
          </p:cNvGrpSpPr>
          <p:nvPr/>
        </p:nvGrpSpPr>
        <p:grpSpPr bwMode="auto">
          <a:xfrm>
            <a:off x="5562600" y="609600"/>
            <a:ext cx="1897062" cy="1347787"/>
            <a:chOff x="7583" y="11485"/>
            <a:chExt cx="2986" cy="2123"/>
          </a:xfrm>
        </p:grpSpPr>
        <p:grpSp>
          <p:nvGrpSpPr>
            <p:cNvPr id="76803" name="Group 3"/>
            <p:cNvGrpSpPr>
              <a:grpSpLocks/>
            </p:cNvGrpSpPr>
            <p:nvPr/>
          </p:nvGrpSpPr>
          <p:grpSpPr bwMode="auto">
            <a:xfrm>
              <a:off x="7583" y="11485"/>
              <a:ext cx="2986" cy="625"/>
              <a:chOff x="7583" y="11485"/>
              <a:chExt cx="2986" cy="625"/>
            </a:xfrm>
          </p:grpSpPr>
          <p:grpSp>
            <p:nvGrpSpPr>
              <p:cNvPr id="76804" name="Group 4"/>
              <p:cNvGrpSpPr>
                <a:grpSpLocks/>
              </p:cNvGrpSpPr>
              <p:nvPr/>
            </p:nvGrpSpPr>
            <p:grpSpPr bwMode="auto">
              <a:xfrm>
                <a:off x="7583" y="11485"/>
                <a:ext cx="1786" cy="618"/>
                <a:chOff x="7583" y="11485"/>
                <a:chExt cx="1786" cy="618"/>
              </a:xfrm>
            </p:grpSpPr>
            <p:grpSp>
              <p:nvGrpSpPr>
                <p:cNvPr id="76805" name="Group 5"/>
                <p:cNvGrpSpPr>
                  <a:grpSpLocks/>
                </p:cNvGrpSpPr>
                <p:nvPr/>
              </p:nvGrpSpPr>
              <p:grpSpPr bwMode="auto">
                <a:xfrm>
                  <a:off x="7583" y="11670"/>
                  <a:ext cx="613" cy="433"/>
                  <a:chOff x="7583" y="11670"/>
                  <a:chExt cx="613" cy="433"/>
                </a:xfrm>
              </p:grpSpPr>
              <p:cxnSp>
                <p:nvCxnSpPr>
                  <p:cNvPr id="76806" name="AutoShape 6"/>
                  <p:cNvCxnSpPr>
                    <a:cxnSpLocks noChangeShapeType="1"/>
                  </p:cNvCxnSpPr>
                  <p:nvPr/>
                </p:nvCxnSpPr>
                <p:spPr bwMode="auto">
                  <a:xfrm>
                    <a:off x="7583" y="11670"/>
                    <a:ext cx="541" cy="0"/>
                  </a:xfrm>
                  <a:prstGeom prst="straightConnector1">
                    <a:avLst/>
                  </a:prstGeom>
                  <a:noFill/>
                  <a:ln w="9525">
                    <a:solidFill>
                      <a:srgbClr val="000000"/>
                    </a:solidFill>
                    <a:round/>
                    <a:headEnd/>
                    <a:tailEnd/>
                  </a:ln>
                </p:spPr>
              </p:cxnSp>
              <p:cxnSp>
                <p:nvCxnSpPr>
                  <p:cNvPr id="76807" name="AutoShape 7"/>
                  <p:cNvCxnSpPr>
                    <a:cxnSpLocks noChangeShapeType="1"/>
                  </p:cNvCxnSpPr>
                  <p:nvPr/>
                </p:nvCxnSpPr>
                <p:spPr bwMode="auto">
                  <a:xfrm>
                    <a:off x="7655" y="12103"/>
                    <a:ext cx="541" cy="0"/>
                  </a:xfrm>
                  <a:prstGeom prst="straightConnector1">
                    <a:avLst/>
                  </a:prstGeom>
                  <a:noFill/>
                  <a:ln w="9525">
                    <a:solidFill>
                      <a:srgbClr val="000000"/>
                    </a:solidFill>
                    <a:round/>
                    <a:headEnd/>
                    <a:tailEnd/>
                  </a:ln>
                </p:spPr>
              </p:cxnSp>
            </p:grpSp>
            <p:cxnSp>
              <p:nvCxnSpPr>
                <p:cNvPr id="76808" name="AutoShape 8"/>
                <p:cNvCxnSpPr>
                  <a:cxnSpLocks noChangeShapeType="1"/>
                </p:cNvCxnSpPr>
                <p:nvPr/>
              </p:nvCxnSpPr>
              <p:spPr bwMode="auto">
                <a:xfrm>
                  <a:off x="8756" y="11485"/>
                  <a:ext cx="541" cy="0"/>
                </a:xfrm>
                <a:prstGeom prst="straightConnector1">
                  <a:avLst/>
                </a:prstGeom>
                <a:noFill/>
                <a:ln w="9525">
                  <a:solidFill>
                    <a:srgbClr val="000000"/>
                  </a:solidFill>
                  <a:round/>
                  <a:headEnd/>
                  <a:tailEnd/>
                </a:ln>
              </p:spPr>
            </p:cxnSp>
            <p:cxnSp>
              <p:nvCxnSpPr>
                <p:cNvPr id="76809" name="AutoShape 9"/>
                <p:cNvCxnSpPr>
                  <a:cxnSpLocks noChangeShapeType="1"/>
                </p:cNvCxnSpPr>
                <p:nvPr/>
              </p:nvCxnSpPr>
              <p:spPr bwMode="auto">
                <a:xfrm>
                  <a:off x="8828" y="11918"/>
                  <a:ext cx="541" cy="0"/>
                </a:xfrm>
                <a:prstGeom prst="straightConnector1">
                  <a:avLst/>
                </a:prstGeom>
                <a:noFill/>
                <a:ln w="9525">
                  <a:solidFill>
                    <a:srgbClr val="000000"/>
                  </a:solidFill>
                  <a:round/>
                  <a:headEnd/>
                  <a:tailEnd/>
                </a:ln>
              </p:spPr>
            </p:cxnSp>
          </p:grpSp>
          <p:grpSp>
            <p:nvGrpSpPr>
              <p:cNvPr id="76810" name="Group 10"/>
              <p:cNvGrpSpPr>
                <a:grpSpLocks/>
              </p:cNvGrpSpPr>
              <p:nvPr/>
            </p:nvGrpSpPr>
            <p:grpSpPr bwMode="auto">
              <a:xfrm>
                <a:off x="9956" y="11677"/>
                <a:ext cx="613" cy="433"/>
                <a:chOff x="9956" y="11677"/>
                <a:chExt cx="613" cy="433"/>
              </a:xfrm>
            </p:grpSpPr>
            <p:cxnSp>
              <p:nvCxnSpPr>
                <p:cNvPr id="76811" name="AutoShape 11"/>
                <p:cNvCxnSpPr>
                  <a:cxnSpLocks noChangeShapeType="1"/>
                </p:cNvCxnSpPr>
                <p:nvPr/>
              </p:nvCxnSpPr>
              <p:spPr bwMode="auto">
                <a:xfrm>
                  <a:off x="9956" y="11677"/>
                  <a:ext cx="541" cy="0"/>
                </a:xfrm>
                <a:prstGeom prst="straightConnector1">
                  <a:avLst/>
                </a:prstGeom>
                <a:noFill/>
                <a:ln w="9525">
                  <a:solidFill>
                    <a:srgbClr val="000000"/>
                  </a:solidFill>
                  <a:round/>
                  <a:headEnd/>
                  <a:tailEnd/>
                </a:ln>
              </p:spPr>
            </p:cxnSp>
            <p:cxnSp>
              <p:nvCxnSpPr>
                <p:cNvPr id="76812" name="AutoShape 12"/>
                <p:cNvCxnSpPr>
                  <a:cxnSpLocks noChangeShapeType="1"/>
                </p:cNvCxnSpPr>
                <p:nvPr/>
              </p:nvCxnSpPr>
              <p:spPr bwMode="auto">
                <a:xfrm>
                  <a:off x="10028" y="12110"/>
                  <a:ext cx="541" cy="0"/>
                </a:xfrm>
                <a:prstGeom prst="straightConnector1">
                  <a:avLst/>
                </a:prstGeom>
                <a:noFill/>
                <a:ln w="9525">
                  <a:solidFill>
                    <a:srgbClr val="000000"/>
                  </a:solidFill>
                  <a:round/>
                  <a:headEnd/>
                  <a:tailEnd/>
                </a:ln>
              </p:spPr>
            </p:cxnSp>
          </p:grpSp>
        </p:grpSp>
        <p:grpSp>
          <p:nvGrpSpPr>
            <p:cNvPr id="76813" name="Group 13"/>
            <p:cNvGrpSpPr>
              <a:grpSpLocks/>
            </p:cNvGrpSpPr>
            <p:nvPr/>
          </p:nvGrpSpPr>
          <p:grpSpPr bwMode="auto">
            <a:xfrm>
              <a:off x="7583" y="12983"/>
              <a:ext cx="2986" cy="625"/>
              <a:chOff x="7583" y="11485"/>
              <a:chExt cx="2986" cy="625"/>
            </a:xfrm>
          </p:grpSpPr>
          <p:grpSp>
            <p:nvGrpSpPr>
              <p:cNvPr id="76814" name="Group 14"/>
              <p:cNvGrpSpPr>
                <a:grpSpLocks/>
              </p:cNvGrpSpPr>
              <p:nvPr/>
            </p:nvGrpSpPr>
            <p:grpSpPr bwMode="auto">
              <a:xfrm>
                <a:off x="7583" y="11485"/>
                <a:ext cx="1786" cy="618"/>
                <a:chOff x="7583" y="11485"/>
                <a:chExt cx="1786" cy="618"/>
              </a:xfrm>
            </p:grpSpPr>
            <p:grpSp>
              <p:nvGrpSpPr>
                <p:cNvPr id="76815" name="Group 15"/>
                <p:cNvGrpSpPr>
                  <a:grpSpLocks/>
                </p:cNvGrpSpPr>
                <p:nvPr/>
              </p:nvGrpSpPr>
              <p:grpSpPr bwMode="auto">
                <a:xfrm>
                  <a:off x="7583" y="11670"/>
                  <a:ext cx="613" cy="433"/>
                  <a:chOff x="7583" y="11670"/>
                  <a:chExt cx="613" cy="433"/>
                </a:xfrm>
              </p:grpSpPr>
              <p:cxnSp>
                <p:nvCxnSpPr>
                  <p:cNvPr id="76816" name="AutoShape 16"/>
                  <p:cNvCxnSpPr>
                    <a:cxnSpLocks noChangeShapeType="1"/>
                  </p:cNvCxnSpPr>
                  <p:nvPr/>
                </p:nvCxnSpPr>
                <p:spPr bwMode="auto">
                  <a:xfrm>
                    <a:off x="7583" y="11670"/>
                    <a:ext cx="541" cy="0"/>
                  </a:xfrm>
                  <a:prstGeom prst="straightConnector1">
                    <a:avLst/>
                  </a:prstGeom>
                  <a:noFill/>
                  <a:ln w="9525">
                    <a:solidFill>
                      <a:srgbClr val="000000"/>
                    </a:solidFill>
                    <a:round/>
                    <a:headEnd/>
                    <a:tailEnd/>
                  </a:ln>
                </p:spPr>
              </p:cxnSp>
              <p:cxnSp>
                <p:nvCxnSpPr>
                  <p:cNvPr id="76817" name="AutoShape 17"/>
                  <p:cNvCxnSpPr>
                    <a:cxnSpLocks noChangeShapeType="1"/>
                  </p:cNvCxnSpPr>
                  <p:nvPr/>
                </p:nvCxnSpPr>
                <p:spPr bwMode="auto">
                  <a:xfrm>
                    <a:off x="7655" y="12103"/>
                    <a:ext cx="541" cy="0"/>
                  </a:xfrm>
                  <a:prstGeom prst="straightConnector1">
                    <a:avLst/>
                  </a:prstGeom>
                  <a:noFill/>
                  <a:ln w="9525">
                    <a:solidFill>
                      <a:srgbClr val="000000"/>
                    </a:solidFill>
                    <a:round/>
                    <a:headEnd/>
                    <a:tailEnd/>
                  </a:ln>
                </p:spPr>
              </p:cxnSp>
            </p:grpSp>
            <p:cxnSp>
              <p:nvCxnSpPr>
                <p:cNvPr id="76818" name="AutoShape 18"/>
                <p:cNvCxnSpPr>
                  <a:cxnSpLocks noChangeShapeType="1"/>
                </p:cNvCxnSpPr>
                <p:nvPr/>
              </p:nvCxnSpPr>
              <p:spPr bwMode="auto">
                <a:xfrm>
                  <a:off x="8756" y="11485"/>
                  <a:ext cx="541" cy="0"/>
                </a:xfrm>
                <a:prstGeom prst="straightConnector1">
                  <a:avLst/>
                </a:prstGeom>
                <a:noFill/>
                <a:ln w="9525">
                  <a:solidFill>
                    <a:srgbClr val="000000"/>
                  </a:solidFill>
                  <a:round/>
                  <a:headEnd/>
                  <a:tailEnd/>
                </a:ln>
              </p:spPr>
            </p:cxnSp>
            <p:cxnSp>
              <p:nvCxnSpPr>
                <p:cNvPr id="76819" name="AutoShape 19"/>
                <p:cNvCxnSpPr>
                  <a:cxnSpLocks noChangeShapeType="1"/>
                </p:cNvCxnSpPr>
                <p:nvPr/>
              </p:nvCxnSpPr>
              <p:spPr bwMode="auto">
                <a:xfrm>
                  <a:off x="8828" y="11918"/>
                  <a:ext cx="541" cy="0"/>
                </a:xfrm>
                <a:prstGeom prst="straightConnector1">
                  <a:avLst/>
                </a:prstGeom>
                <a:noFill/>
                <a:ln w="9525">
                  <a:solidFill>
                    <a:srgbClr val="000000"/>
                  </a:solidFill>
                  <a:round/>
                  <a:headEnd/>
                  <a:tailEnd/>
                </a:ln>
              </p:spPr>
            </p:cxnSp>
          </p:grpSp>
          <p:grpSp>
            <p:nvGrpSpPr>
              <p:cNvPr id="76820" name="Group 20"/>
              <p:cNvGrpSpPr>
                <a:grpSpLocks/>
              </p:cNvGrpSpPr>
              <p:nvPr/>
            </p:nvGrpSpPr>
            <p:grpSpPr bwMode="auto">
              <a:xfrm>
                <a:off x="9956" y="11677"/>
                <a:ext cx="613" cy="433"/>
                <a:chOff x="9956" y="11677"/>
                <a:chExt cx="613" cy="433"/>
              </a:xfrm>
            </p:grpSpPr>
            <p:cxnSp>
              <p:nvCxnSpPr>
                <p:cNvPr id="76821" name="AutoShape 21"/>
                <p:cNvCxnSpPr>
                  <a:cxnSpLocks noChangeShapeType="1"/>
                </p:cNvCxnSpPr>
                <p:nvPr/>
              </p:nvCxnSpPr>
              <p:spPr bwMode="auto">
                <a:xfrm>
                  <a:off x="9956" y="11677"/>
                  <a:ext cx="541" cy="0"/>
                </a:xfrm>
                <a:prstGeom prst="straightConnector1">
                  <a:avLst/>
                </a:prstGeom>
                <a:noFill/>
                <a:ln w="9525">
                  <a:solidFill>
                    <a:srgbClr val="000000"/>
                  </a:solidFill>
                  <a:round/>
                  <a:headEnd/>
                  <a:tailEnd/>
                </a:ln>
              </p:spPr>
            </p:cxnSp>
            <p:cxnSp>
              <p:nvCxnSpPr>
                <p:cNvPr id="76822" name="AutoShape 22"/>
                <p:cNvCxnSpPr>
                  <a:cxnSpLocks noChangeShapeType="1"/>
                </p:cNvCxnSpPr>
                <p:nvPr/>
              </p:nvCxnSpPr>
              <p:spPr bwMode="auto">
                <a:xfrm>
                  <a:off x="10028" y="12110"/>
                  <a:ext cx="541" cy="0"/>
                </a:xfrm>
                <a:prstGeom prst="straightConnector1">
                  <a:avLst/>
                </a:prstGeom>
                <a:noFill/>
                <a:ln w="9525">
                  <a:solidFill>
                    <a:srgbClr val="000000"/>
                  </a:solidFill>
                  <a:round/>
                  <a:headEnd/>
                  <a:tailEnd/>
                </a:ln>
              </p:spPr>
            </p:cxnSp>
          </p:grpSp>
        </p:gr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0"/>
            <a:ext cx="9144000" cy="6126163"/>
          </a:xfrm>
        </p:spPr>
        <p:txBody>
          <a:bodyPr>
            <a:normAutofit/>
          </a:bodyPr>
          <a:lstStyle/>
          <a:p>
            <a:pPr>
              <a:buNone/>
            </a:pPr>
            <a:r>
              <a:rPr lang="en-US" b="1" u="sng" dirty="0">
                <a:solidFill>
                  <a:srgbClr val="FF0000"/>
                </a:solidFill>
                <a:latin typeface="Arial" pitchFamily="34" charset="0"/>
                <a:cs typeface="Arial" pitchFamily="34" charset="0"/>
              </a:rPr>
              <a:t>USES OF GRAPHITE</a:t>
            </a:r>
            <a:endParaRPr lang="en-US" dirty="0">
              <a:solidFill>
                <a:srgbClr val="FF0000"/>
              </a:solidFill>
              <a:latin typeface="Arial" pitchFamily="34" charset="0"/>
              <a:cs typeface="Arial" pitchFamily="34" charset="0"/>
            </a:endParaRPr>
          </a:p>
          <a:p>
            <a:pPr lvl="0"/>
            <a:endParaRPr lang="en-US" sz="2400" dirty="0">
              <a:latin typeface="Arial" pitchFamily="34" charset="0"/>
              <a:cs typeface="Arial" pitchFamily="34" charset="0"/>
            </a:endParaRPr>
          </a:p>
          <a:p>
            <a:pPr lvl="0"/>
            <a:r>
              <a:rPr lang="en-US" sz="2400" dirty="0">
                <a:latin typeface="Arial" pitchFamily="34" charset="0"/>
                <a:cs typeface="Arial" pitchFamily="34" charset="0"/>
              </a:rPr>
              <a:t>Due to its softness used as lubricants both dry and wet forms</a:t>
            </a:r>
          </a:p>
          <a:p>
            <a:pPr lvl="0">
              <a:buNone/>
            </a:pPr>
            <a:endParaRPr lang="en-US" sz="2400" dirty="0">
              <a:latin typeface="Arial" pitchFamily="34" charset="0"/>
              <a:cs typeface="Arial" pitchFamily="34" charset="0"/>
            </a:endParaRPr>
          </a:p>
          <a:p>
            <a:pPr lvl="0"/>
            <a:r>
              <a:rPr lang="en-US" sz="2400" dirty="0">
                <a:latin typeface="Arial" pitchFamily="34" charset="0"/>
                <a:cs typeface="Arial" pitchFamily="34" charset="0"/>
              </a:rPr>
              <a:t>Graphite is good conductor of electricity due to which graphite is used for making carbon or graphite electrode in dry cells &amp; electric arcs.</a:t>
            </a:r>
          </a:p>
          <a:p>
            <a:pPr lvl="0"/>
            <a:endParaRPr lang="en-US" sz="2400" dirty="0">
              <a:latin typeface="Arial" pitchFamily="34" charset="0"/>
              <a:cs typeface="Arial" pitchFamily="34" charset="0"/>
            </a:endParaRPr>
          </a:p>
          <a:p>
            <a:pPr lvl="0"/>
            <a:r>
              <a:rPr lang="en-US" sz="2400" dirty="0">
                <a:latin typeface="Arial" pitchFamily="34" charset="0"/>
                <a:cs typeface="Arial" pitchFamily="34" charset="0"/>
              </a:rPr>
              <a:t>Graphite is used in making pencil leads.</a:t>
            </a:r>
          </a:p>
          <a:p>
            <a:pPr algn="just"/>
            <a:endParaRPr lang="en-US" sz="2400" dirty="0">
              <a:latin typeface="Arial" pitchFamily="34" charset="0"/>
              <a:cs typeface="Arial" pitchFamily="34" charset="0"/>
            </a:endParaRPr>
          </a:p>
          <a:p>
            <a:pPr algn="just"/>
            <a:endParaRPr lang="en-US" dirty="0">
              <a:latin typeface="Arial" pitchFamily="34" charset="0"/>
              <a:cs typeface="Arial" pitchFamily="34" charset="0"/>
            </a:endParaRPr>
          </a:p>
          <a:p>
            <a:pPr algn="just"/>
            <a:endParaRPr lang="en-US" dirty="0">
              <a:latin typeface="Arial" pitchFamily="34" charset="0"/>
              <a:cs typeface="Arial"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0"/>
            <a:ext cx="9144000" cy="7696200"/>
          </a:xfrm>
        </p:spPr>
        <p:txBody>
          <a:bodyPr>
            <a:normAutofit lnSpcReduction="10000"/>
          </a:bodyPr>
          <a:lstStyle/>
          <a:p>
            <a:pPr algn="ctr">
              <a:buNone/>
            </a:pPr>
            <a:r>
              <a:rPr lang="en-US" b="1" u="sng" cap="small" dirty="0">
                <a:solidFill>
                  <a:srgbClr val="FF0000"/>
                </a:solidFill>
              </a:rPr>
              <a:t>BUCK MINISTER FULLERENE</a:t>
            </a:r>
          </a:p>
          <a:p>
            <a:endParaRPr lang="en-US" sz="2600" dirty="0"/>
          </a:p>
          <a:p>
            <a:endParaRPr lang="en-US" sz="2600" dirty="0"/>
          </a:p>
          <a:p>
            <a:endParaRPr lang="en-US" sz="2600" dirty="0"/>
          </a:p>
          <a:p>
            <a:endParaRPr lang="en-US" sz="2600" dirty="0"/>
          </a:p>
          <a:p>
            <a:endParaRPr lang="en-US" sz="1800" dirty="0"/>
          </a:p>
          <a:p>
            <a:pPr algn="just"/>
            <a:r>
              <a:rPr lang="en-US" sz="2600" dirty="0"/>
              <a:t>It is a dark solid at room temperature</a:t>
            </a:r>
          </a:p>
          <a:p>
            <a:pPr algn="just"/>
            <a:r>
              <a:rPr lang="en-US" sz="2600" dirty="0"/>
              <a:t>It differs from the other two allotropes of carbon, diamond &amp; graphite are giant molecules which consists of an unending network of carbon atoms but buckminsterfullerene is very small molecule made up of only 60 carbon atoms.</a:t>
            </a:r>
          </a:p>
          <a:p>
            <a:pPr algn="just"/>
            <a:r>
              <a:rPr lang="en-US" sz="2600" dirty="0"/>
              <a:t>Diamond is extremely hard where as graphite is soft. On the other hand, buckminsterfullerene is neither very hard nor soft.</a:t>
            </a:r>
          </a:p>
          <a:p>
            <a:pPr algn="just"/>
            <a:r>
              <a:rPr lang="en-US" sz="2600" dirty="0"/>
              <a:t>Other properties of buckminsterfullerene are still being investigated. </a:t>
            </a:r>
          </a:p>
          <a:p>
            <a:pPr algn="just"/>
            <a:endParaRPr lang="en-US" sz="2400" dirty="0">
              <a:latin typeface="Arial" pitchFamily="34" charset="0"/>
              <a:cs typeface="Arial" pitchFamily="34" charset="0"/>
            </a:endParaRPr>
          </a:p>
          <a:p>
            <a:pPr algn="just"/>
            <a:endParaRPr lang="en-US" dirty="0">
              <a:latin typeface="Arial" pitchFamily="34" charset="0"/>
              <a:cs typeface="Arial" pitchFamily="34" charset="0"/>
            </a:endParaRPr>
          </a:p>
          <a:p>
            <a:pPr algn="just"/>
            <a:endParaRPr lang="en-US" dirty="0">
              <a:latin typeface="Arial" pitchFamily="34" charset="0"/>
              <a:cs typeface="Arial" pitchFamily="34" charset="0"/>
            </a:endParaRPr>
          </a:p>
        </p:txBody>
      </p:sp>
      <p:pic>
        <p:nvPicPr>
          <p:cNvPr id="70658" name="Picture 2" descr="F:\ECONTENT CHEMISTRY\IMAGES\images.jpeg"/>
          <p:cNvPicPr>
            <a:picLocks noChangeAspect="1" noChangeArrowheads="1"/>
          </p:cNvPicPr>
          <p:nvPr/>
        </p:nvPicPr>
        <p:blipFill>
          <a:blip r:embed="rId2"/>
          <a:srcRect/>
          <a:stretch>
            <a:fillRect/>
          </a:stretch>
        </p:blipFill>
        <p:spPr bwMode="auto">
          <a:xfrm>
            <a:off x="6096000" y="685800"/>
            <a:ext cx="2667000" cy="2400300"/>
          </a:xfrm>
          <a:prstGeom prst="rect">
            <a:avLst/>
          </a:prstGeom>
          <a:noFill/>
        </p:spPr>
      </p:pic>
      <p:sp>
        <p:nvSpPr>
          <p:cNvPr id="4" name="Rectangle 3"/>
          <p:cNvSpPr/>
          <p:nvPr/>
        </p:nvSpPr>
        <p:spPr>
          <a:xfrm>
            <a:off x="304800" y="685800"/>
            <a:ext cx="5562600" cy="1815882"/>
          </a:xfrm>
          <a:prstGeom prst="rect">
            <a:avLst/>
          </a:prstGeom>
        </p:spPr>
        <p:txBody>
          <a:bodyPr wrap="square">
            <a:spAutoFit/>
          </a:bodyPr>
          <a:lstStyle/>
          <a:p>
            <a:pPr algn="just"/>
            <a:r>
              <a:rPr lang="en-US" sz="2800" dirty="0"/>
              <a:t>Buckminster fullerene is an allotrope of carbon containing clusters of 60 carbon atoms joined together to form spherical molecules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US" b="1" dirty="0">
                <a:solidFill>
                  <a:srgbClr val="FF0000"/>
                </a:solidFill>
              </a:rPr>
              <a:t>Deleted Portion</a:t>
            </a:r>
            <a:endParaRPr lang="en-IN" b="1" dirty="0">
              <a:solidFill>
                <a:srgbClr val="FF0000"/>
              </a:solidFill>
            </a:endParaRPr>
          </a:p>
        </p:txBody>
      </p:sp>
      <p:sp>
        <p:nvSpPr>
          <p:cNvPr id="3" name="Content Placeholder 2"/>
          <p:cNvSpPr>
            <a:spLocks noGrp="1"/>
          </p:cNvSpPr>
          <p:nvPr>
            <p:ph idx="1"/>
          </p:nvPr>
        </p:nvSpPr>
        <p:spPr>
          <a:xfrm>
            <a:off x="457200" y="1371601"/>
            <a:ext cx="8229600" cy="4191000"/>
          </a:xfrm>
        </p:spPr>
        <p:txBody>
          <a:bodyPr>
            <a:normAutofit/>
          </a:bodyPr>
          <a:lstStyle/>
          <a:p>
            <a:pPr algn="just">
              <a:buNone/>
            </a:pPr>
            <a:r>
              <a:rPr lang="en-US" sz="4800" b="1" dirty="0">
                <a:solidFill>
                  <a:srgbClr val="005828"/>
                </a:solidFill>
              </a:rPr>
              <a:t>	The content in the slide no. from 47 - 59deleted for the academic year 2020-2021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Chemical Properties of Carbon Compounds</a:t>
            </a:r>
            <a:endParaRPr lang="en-IN" dirty="0"/>
          </a:p>
        </p:txBody>
      </p:sp>
      <p:sp>
        <p:nvSpPr>
          <p:cNvPr id="3" name="Content Placeholder 2"/>
          <p:cNvSpPr>
            <a:spLocks noGrp="1"/>
          </p:cNvSpPr>
          <p:nvPr>
            <p:ph idx="1"/>
          </p:nvPr>
        </p:nvSpPr>
        <p:spPr/>
        <p:txBody>
          <a:bodyPr anchor="t"/>
          <a:lstStyle/>
          <a:p>
            <a:r>
              <a:rPr lang="en-US" dirty="0"/>
              <a:t>Combustion-Burning in oxygen</a:t>
            </a:r>
          </a:p>
          <a:p>
            <a:r>
              <a:rPr lang="en-US" dirty="0"/>
              <a:t>Gives oxides</a:t>
            </a:r>
          </a:p>
          <a:p>
            <a:r>
              <a:rPr lang="en-US" dirty="0"/>
              <a:t>Exothermic-produces heat and also light</a:t>
            </a:r>
          </a:p>
          <a:p>
            <a:r>
              <a:rPr lang="en-US" dirty="0"/>
              <a:t>Saturated compounds give a clean flame while unsaturated compounds give sooty flame</a:t>
            </a:r>
            <a:endParaRPr lang="en-IN" dirty="0"/>
          </a:p>
        </p:txBody>
      </p:sp>
      <p:pic>
        <p:nvPicPr>
          <p:cNvPr id="3075" name="Picture 3"/>
          <p:cNvPicPr>
            <a:picLocks noChangeAspect="1" noChangeArrowheads="1"/>
          </p:cNvPicPr>
          <p:nvPr/>
        </p:nvPicPr>
        <p:blipFill>
          <a:blip r:embed="rId2" cstate="print"/>
          <a:srcRect/>
          <a:stretch>
            <a:fillRect/>
          </a:stretch>
        </p:blipFill>
        <p:spPr bwMode="auto">
          <a:xfrm>
            <a:off x="609600" y="4724400"/>
            <a:ext cx="8153400" cy="14859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Oxidation</a:t>
            </a:r>
            <a:endParaRPr lang="en-IN" dirty="0"/>
          </a:p>
        </p:txBody>
      </p:sp>
      <p:sp>
        <p:nvSpPr>
          <p:cNvPr id="3" name="Content Placeholder 2"/>
          <p:cNvSpPr>
            <a:spLocks noGrp="1"/>
          </p:cNvSpPr>
          <p:nvPr>
            <p:ph idx="1"/>
          </p:nvPr>
        </p:nvSpPr>
        <p:spPr/>
        <p:txBody>
          <a:bodyPr/>
          <a:lstStyle/>
          <a:p>
            <a:r>
              <a:rPr lang="en-US" dirty="0"/>
              <a:t>Oxidation –Addition of oxygen</a:t>
            </a:r>
          </a:p>
          <a:p>
            <a:pPr>
              <a:buNone/>
            </a:pPr>
            <a:r>
              <a:rPr lang="en-US" dirty="0"/>
              <a:t>Example </a:t>
            </a:r>
            <a:endParaRPr lang="en-IN" dirty="0"/>
          </a:p>
        </p:txBody>
      </p:sp>
      <p:pic>
        <p:nvPicPr>
          <p:cNvPr id="4098" name="Picture 2"/>
          <p:cNvPicPr>
            <a:picLocks noChangeAspect="1" noChangeArrowheads="1"/>
          </p:cNvPicPr>
          <p:nvPr/>
        </p:nvPicPr>
        <p:blipFill>
          <a:blip r:embed="rId2" cstate="print"/>
          <a:srcRect/>
          <a:stretch>
            <a:fillRect/>
          </a:stretch>
        </p:blipFill>
        <p:spPr bwMode="auto">
          <a:xfrm>
            <a:off x="914400" y="4419600"/>
            <a:ext cx="7239000" cy="121920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Reactions</a:t>
            </a:r>
            <a:endParaRPr lang="en-IN" dirty="0"/>
          </a:p>
        </p:txBody>
      </p:sp>
      <p:sp>
        <p:nvSpPr>
          <p:cNvPr id="3" name="Content Placeholder 2"/>
          <p:cNvSpPr>
            <a:spLocks noGrp="1"/>
          </p:cNvSpPr>
          <p:nvPr>
            <p:ph idx="1"/>
          </p:nvPr>
        </p:nvSpPr>
        <p:spPr/>
        <p:txBody>
          <a:bodyPr anchor="t">
            <a:normAutofit/>
          </a:bodyPr>
          <a:lstStyle/>
          <a:p>
            <a:r>
              <a:rPr lang="en-US" dirty="0"/>
              <a:t>A molecule add to another molecule by breaking of bonds</a:t>
            </a:r>
          </a:p>
          <a:p>
            <a:r>
              <a:rPr lang="en-US" dirty="0"/>
              <a:t>Unsaturated hydrocarbon add hydrogen in presence of catalyst such as Palladium or Nickel</a:t>
            </a:r>
          </a:p>
          <a:p>
            <a:endParaRPr lang="en-US" dirty="0"/>
          </a:p>
          <a:p>
            <a:endParaRPr lang="en-US" dirty="0"/>
          </a:p>
          <a:p>
            <a:endParaRPr lang="en-US" dirty="0"/>
          </a:p>
          <a:p>
            <a:r>
              <a:rPr lang="en-US" dirty="0"/>
              <a:t>This reaction is used in the hydrogenation of vegetable oils</a:t>
            </a:r>
            <a:endParaRPr lang="en-IN" dirty="0"/>
          </a:p>
        </p:txBody>
      </p:sp>
      <p:pic>
        <p:nvPicPr>
          <p:cNvPr id="5122" name="Picture 2"/>
          <p:cNvPicPr>
            <a:picLocks noChangeAspect="1" noChangeArrowheads="1"/>
          </p:cNvPicPr>
          <p:nvPr/>
        </p:nvPicPr>
        <p:blipFill>
          <a:blip r:embed="rId2" cstate="print"/>
          <a:srcRect/>
          <a:stretch>
            <a:fillRect/>
          </a:stretch>
        </p:blipFill>
        <p:spPr bwMode="auto">
          <a:xfrm>
            <a:off x="914400" y="3505200"/>
            <a:ext cx="6553200" cy="121920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Substitution reactions</a:t>
            </a:r>
            <a:endParaRPr lang="en-IN" dirty="0"/>
          </a:p>
        </p:txBody>
      </p:sp>
      <p:sp>
        <p:nvSpPr>
          <p:cNvPr id="3" name="Content Placeholder 2"/>
          <p:cNvSpPr>
            <a:spLocks noGrp="1"/>
          </p:cNvSpPr>
          <p:nvPr>
            <p:ph idx="1"/>
          </p:nvPr>
        </p:nvSpPr>
        <p:spPr/>
        <p:txBody>
          <a:bodyPr anchor="t"/>
          <a:lstStyle/>
          <a:p>
            <a:r>
              <a:rPr lang="en-US" dirty="0"/>
              <a:t>An atom or a group replaces another atom or group in a compound</a:t>
            </a:r>
            <a:endParaRPr lang="en-IN" dirty="0"/>
          </a:p>
        </p:txBody>
      </p:sp>
      <p:pic>
        <p:nvPicPr>
          <p:cNvPr id="6146" name="Picture 2"/>
          <p:cNvPicPr>
            <a:picLocks noChangeAspect="1" noChangeArrowheads="1"/>
          </p:cNvPicPr>
          <p:nvPr/>
        </p:nvPicPr>
        <p:blipFill>
          <a:blip r:embed="rId2" cstate="print"/>
          <a:srcRect/>
          <a:stretch>
            <a:fillRect/>
          </a:stretch>
        </p:blipFill>
        <p:spPr bwMode="auto">
          <a:xfrm>
            <a:off x="838200" y="3124200"/>
            <a:ext cx="7467600" cy="121920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ETHANOL-CH</a:t>
            </a:r>
            <a:r>
              <a:rPr lang="en-US" baseline="-25000" dirty="0"/>
              <a:t>3</a:t>
            </a:r>
            <a:r>
              <a:rPr lang="en-US" dirty="0"/>
              <a:t>CH</a:t>
            </a:r>
            <a:r>
              <a:rPr lang="en-US" baseline="-25000" dirty="0"/>
              <a:t>2</a:t>
            </a:r>
            <a:r>
              <a:rPr lang="en-US" dirty="0"/>
              <a:t>OH</a:t>
            </a:r>
            <a:endParaRPr lang="en-IN" dirty="0"/>
          </a:p>
        </p:txBody>
      </p:sp>
      <p:sp>
        <p:nvSpPr>
          <p:cNvPr id="3" name="Content Placeholder 2"/>
          <p:cNvSpPr>
            <a:spLocks noGrp="1"/>
          </p:cNvSpPr>
          <p:nvPr>
            <p:ph idx="1"/>
          </p:nvPr>
        </p:nvSpPr>
        <p:spPr/>
        <p:txBody>
          <a:bodyPr/>
          <a:lstStyle/>
          <a:p>
            <a:r>
              <a:rPr lang="en-US" dirty="0"/>
              <a:t>Ethanol is a liquid at room temperature</a:t>
            </a:r>
          </a:p>
          <a:p>
            <a:r>
              <a:rPr lang="en-US" dirty="0"/>
              <a:t>It is the active ingredient of all alcoholic drinks</a:t>
            </a:r>
          </a:p>
          <a:p>
            <a:r>
              <a:rPr lang="en-US" dirty="0"/>
              <a:t>It is a good solvent-therefore it is used in medicines such as Tincture of Iodine , Cough syrups , Tonic…</a:t>
            </a:r>
            <a:endParaRPr lang="en-I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Reactions</a:t>
            </a:r>
            <a:endParaRPr lang="en-IN" dirty="0"/>
          </a:p>
        </p:txBody>
      </p:sp>
      <p:sp>
        <p:nvSpPr>
          <p:cNvPr id="3" name="Content Placeholder 2"/>
          <p:cNvSpPr>
            <a:spLocks noGrp="1"/>
          </p:cNvSpPr>
          <p:nvPr>
            <p:ph idx="1"/>
          </p:nvPr>
        </p:nvSpPr>
        <p:spPr/>
        <p:txBody>
          <a:bodyPr anchor="t"/>
          <a:lstStyle/>
          <a:p>
            <a:r>
              <a:rPr lang="en-US" dirty="0"/>
              <a:t>With sodium-</a:t>
            </a:r>
          </a:p>
          <a:p>
            <a:endParaRPr lang="en-US" dirty="0"/>
          </a:p>
          <a:p>
            <a:endParaRPr lang="en-US" dirty="0"/>
          </a:p>
          <a:p>
            <a:r>
              <a:rPr lang="en-US" dirty="0"/>
              <a:t>Reaction to give unsaturated Hydrocarbon-with </a:t>
            </a:r>
            <a:r>
              <a:rPr lang="en-US" dirty="0" err="1"/>
              <a:t>conc</a:t>
            </a:r>
            <a:r>
              <a:rPr lang="en-US" dirty="0"/>
              <a:t> H</a:t>
            </a:r>
            <a:r>
              <a:rPr lang="en-US" baseline="-25000" dirty="0"/>
              <a:t>2</a:t>
            </a:r>
            <a:r>
              <a:rPr lang="en-US" dirty="0"/>
              <a:t>SO</a:t>
            </a:r>
            <a:r>
              <a:rPr lang="en-US" baseline="-25000" dirty="0"/>
              <a:t>4</a:t>
            </a:r>
            <a:r>
              <a:rPr lang="en-US" dirty="0"/>
              <a:t> at 443K</a:t>
            </a:r>
          </a:p>
          <a:p>
            <a:pPr lvl="1"/>
            <a:r>
              <a:rPr lang="en-US" dirty="0"/>
              <a:t>Involve removal of water and is called Dehydration</a:t>
            </a:r>
            <a:endParaRPr lang="en-IN" dirty="0"/>
          </a:p>
        </p:txBody>
      </p:sp>
      <p:pic>
        <p:nvPicPr>
          <p:cNvPr id="7170" name="Picture 2"/>
          <p:cNvPicPr>
            <a:picLocks noChangeAspect="1" noChangeArrowheads="1"/>
          </p:cNvPicPr>
          <p:nvPr/>
        </p:nvPicPr>
        <p:blipFill>
          <a:blip r:embed="rId2" cstate="print"/>
          <a:srcRect/>
          <a:stretch>
            <a:fillRect/>
          </a:stretch>
        </p:blipFill>
        <p:spPr bwMode="auto">
          <a:xfrm>
            <a:off x="1143000" y="2209800"/>
            <a:ext cx="6705600" cy="1309688"/>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1219200" y="5638800"/>
            <a:ext cx="7162800" cy="99060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Ethanoic</a:t>
            </a:r>
            <a:r>
              <a:rPr lang="en-US" dirty="0"/>
              <a:t> acid -CH</a:t>
            </a:r>
            <a:r>
              <a:rPr lang="en-US" baseline="-25000" dirty="0"/>
              <a:t>3</a:t>
            </a:r>
            <a:r>
              <a:rPr lang="en-US" dirty="0"/>
              <a:t>COOH</a:t>
            </a:r>
            <a:endParaRPr lang="en-IN" dirty="0"/>
          </a:p>
        </p:txBody>
      </p:sp>
      <p:sp>
        <p:nvSpPr>
          <p:cNvPr id="3" name="Content Placeholder 2"/>
          <p:cNvSpPr>
            <a:spLocks noGrp="1"/>
          </p:cNvSpPr>
          <p:nvPr>
            <p:ph idx="1"/>
          </p:nvPr>
        </p:nvSpPr>
        <p:spPr/>
        <p:txBody>
          <a:bodyPr/>
          <a:lstStyle/>
          <a:p>
            <a:r>
              <a:rPr lang="en-US" dirty="0"/>
              <a:t>Commonly  known as Acetic acid</a:t>
            </a:r>
          </a:p>
          <a:p>
            <a:r>
              <a:rPr lang="en-US" dirty="0"/>
              <a:t>5-10%solution of acetic acid is called Vinegar</a:t>
            </a:r>
          </a:p>
          <a:p>
            <a:r>
              <a:rPr lang="en-US" dirty="0"/>
              <a:t>Vinegar is a preservative for pickles</a:t>
            </a:r>
          </a:p>
          <a:p>
            <a:r>
              <a:rPr lang="en-US" dirty="0"/>
              <a:t>Its melting point is 290K</a:t>
            </a:r>
          </a:p>
          <a:p>
            <a:pPr lvl="1"/>
            <a:r>
              <a:rPr lang="en-US" dirty="0"/>
              <a:t>It freezes in cold climate-therefore known as Glacial acetic acid</a:t>
            </a:r>
          </a:p>
          <a:p>
            <a:r>
              <a:rPr lang="en-US" dirty="0"/>
              <a:t>It is a weak acid</a:t>
            </a:r>
            <a:endParaRPr lang="en-I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Reactions</a:t>
            </a:r>
            <a:endParaRPr lang="en-IN" dirty="0"/>
          </a:p>
        </p:txBody>
      </p:sp>
      <p:sp>
        <p:nvSpPr>
          <p:cNvPr id="3" name="Content Placeholder 2"/>
          <p:cNvSpPr>
            <a:spLocks noGrp="1"/>
          </p:cNvSpPr>
          <p:nvPr>
            <p:ph idx="1"/>
          </p:nvPr>
        </p:nvSpPr>
        <p:spPr/>
        <p:txBody>
          <a:bodyPr anchor="t"/>
          <a:lstStyle/>
          <a:p>
            <a:r>
              <a:rPr lang="en-US" dirty="0" err="1"/>
              <a:t>Esterification</a:t>
            </a:r>
            <a:r>
              <a:rPr lang="en-US" dirty="0"/>
              <a:t> –Reaction with Alcohols</a:t>
            </a:r>
          </a:p>
          <a:p>
            <a:pPr lvl="1"/>
            <a:r>
              <a:rPr lang="en-US" dirty="0"/>
              <a:t>Esters which are fruit smelling substances are formed</a:t>
            </a:r>
            <a:endParaRPr lang="en-IN" dirty="0"/>
          </a:p>
        </p:txBody>
      </p:sp>
      <p:pic>
        <p:nvPicPr>
          <p:cNvPr id="8194" name="Picture 2"/>
          <p:cNvPicPr>
            <a:picLocks noChangeAspect="1" noChangeArrowheads="1"/>
          </p:cNvPicPr>
          <p:nvPr/>
        </p:nvPicPr>
        <p:blipFill>
          <a:blip r:embed="rId2" cstate="print"/>
          <a:srcRect/>
          <a:stretch>
            <a:fillRect/>
          </a:stretch>
        </p:blipFill>
        <p:spPr bwMode="auto">
          <a:xfrm>
            <a:off x="609600" y="3124200"/>
            <a:ext cx="8001000" cy="1371600"/>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Reaction with a base</a:t>
            </a:r>
            <a:endParaRPr lang="en-IN" dirty="0"/>
          </a:p>
        </p:txBody>
      </p:sp>
      <p:pic>
        <p:nvPicPr>
          <p:cNvPr id="9218" name="Picture 2"/>
          <p:cNvPicPr>
            <a:picLocks noGrp="1" noChangeAspect="1" noChangeArrowheads="1"/>
          </p:cNvPicPr>
          <p:nvPr>
            <p:ph idx="1"/>
          </p:nvPr>
        </p:nvPicPr>
        <p:blipFill>
          <a:blip r:embed="rId2" cstate="print"/>
          <a:srcRect/>
          <a:stretch>
            <a:fillRect/>
          </a:stretch>
        </p:blipFill>
        <p:spPr bwMode="auto">
          <a:xfrm>
            <a:off x="0" y="2057400"/>
            <a:ext cx="9144000" cy="2005806"/>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Reaction with Carbonates and Bicarbonates</a:t>
            </a:r>
            <a:endParaRPr lang="en-IN" dirty="0"/>
          </a:p>
        </p:txBody>
      </p:sp>
      <p:pic>
        <p:nvPicPr>
          <p:cNvPr id="10242" name="Picture 2"/>
          <p:cNvPicPr>
            <a:picLocks noGrp="1" noChangeAspect="1" noChangeArrowheads="1"/>
          </p:cNvPicPr>
          <p:nvPr>
            <p:ph idx="1"/>
          </p:nvPr>
        </p:nvPicPr>
        <p:blipFill>
          <a:blip r:embed="rId2" cstate="print"/>
          <a:srcRect/>
          <a:stretch>
            <a:fillRect/>
          </a:stretch>
        </p:blipFill>
        <p:spPr bwMode="auto">
          <a:xfrm>
            <a:off x="0" y="2057400"/>
            <a:ext cx="9144000" cy="198120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SOAPS</a:t>
            </a:r>
            <a:endParaRPr lang="en-IN" dirty="0"/>
          </a:p>
        </p:txBody>
      </p:sp>
      <p:sp>
        <p:nvSpPr>
          <p:cNvPr id="3" name="Content Placeholder 2"/>
          <p:cNvSpPr>
            <a:spLocks noGrp="1"/>
          </p:cNvSpPr>
          <p:nvPr>
            <p:ph idx="1"/>
          </p:nvPr>
        </p:nvSpPr>
        <p:spPr/>
        <p:txBody>
          <a:bodyPr/>
          <a:lstStyle/>
          <a:p>
            <a:r>
              <a:rPr lang="en-US" dirty="0"/>
              <a:t>Soaps are sodium or potassium salts of fatty acids</a:t>
            </a:r>
            <a:endParaRPr lang="en-I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1" y="-152400"/>
            <a:ext cx="9144000" cy="1981200"/>
          </a:xfrm>
          <a:prstGeom prst="rect">
            <a:avLst/>
          </a:prstGeom>
          <a:noFill/>
          <a:ln w="9525">
            <a:noFill/>
            <a:miter lim="800000"/>
            <a:headEnd/>
            <a:tailEnd/>
          </a:ln>
        </p:spPr>
      </p:pic>
      <p:pic>
        <p:nvPicPr>
          <p:cNvPr id="2052" name="Picture 4"/>
          <p:cNvPicPr>
            <a:picLocks noGrp="1" noChangeAspect="1" noChangeArrowheads="1"/>
          </p:cNvPicPr>
          <p:nvPr>
            <p:ph idx="1"/>
          </p:nvPr>
        </p:nvPicPr>
        <p:blipFill>
          <a:blip r:embed="rId3" cstate="print"/>
          <a:srcRect/>
          <a:stretch>
            <a:fillRect/>
          </a:stretch>
        </p:blipFill>
        <p:spPr bwMode="auto">
          <a:xfrm>
            <a:off x="2238375" y="1952625"/>
            <a:ext cx="6829425" cy="1095375"/>
          </a:xfrm>
          <a:prstGeom prst="rect">
            <a:avLst/>
          </a:prstGeom>
          <a:noFill/>
          <a:ln w="9525">
            <a:noFill/>
            <a:miter lim="800000"/>
            <a:headEnd/>
            <a:tailEnd/>
          </a:ln>
        </p:spPr>
      </p:pic>
      <p:pic>
        <p:nvPicPr>
          <p:cNvPr id="2053" name="Picture 5" descr="C:\Users\lal\Desktop\micelle-formation.gif"/>
          <p:cNvPicPr>
            <a:picLocks noChangeAspect="1" noChangeArrowheads="1"/>
          </p:cNvPicPr>
          <p:nvPr/>
        </p:nvPicPr>
        <p:blipFill>
          <a:blip r:embed="rId4" cstate="print"/>
          <a:srcRect/>
          <a:stretch>
            <a:fillRect/>
          </a:stretch>
        </p:blipFill>
        <p:spPr bwMode="auto">
          <a:xfrm>
            <a:off x="5057775" y="3429000"/>
            <a:ext cx="3400425" cy="2514600"/>
          </a:xfrm>
          <a:prstGeom prst="rect">
            <a:avLst/>
          </a:prstGeom>
          <a:noFill/>
        </p:spPr>
      </p:pic>
      <p:pic>
        <p:nvPicPr>
          <p:cNvPr id="2054" name="Picture 6"/>
          <p:cNvPicPr>
            <a:picLocks noChangeAspect="1" noChangeArrowheads="1"/>
          </p:cNvPicPr>
          <p:nvPr/>
        </p:nvPicPr>
        <p:blipFill>
          <a:blip r:embed="rId5" cstate="print"/>
          <a:srcRect/>
          <a:stretch>
            <a:fillRect/>
          </a:stretch>
        </p:blipFill>
        <p:spPr bwMode="auto">
          <a:xfrm>
            <a:off x="304800" y="3200400"/>
            <a:ext cx="4114800" cy="2781300"/>
          </a:xfrm>
          <a:prstGeom prst="rect">
            <a:avLst/>
          </a:prstGeom>
          <a:noFill/>
          <a:ln w="9525">
            <a:noFill/>
            <a:miter lim="800000"/>
            <a:headEnd/>
            <a:tailEnd/>
          </a:ln>
        </p:spPr>
      </p:pic>
      <p:sp>
        <p:nvSpPr>
          <p:cNvPr id="10" name="TextBox 9"/>
          <p:cNvSpPr txBox="1"/>
          <p:nvPr/>
        </p:nvSpPr>
        <p:spPr>
          <a:xfrm>
            <a:off x="304800" y="6031468"/>
            <a:ext cx="4114800" cy="369332"/>
          </a:xfrm>
          <a:prstGeom prst="rect">
            <a:avLst/>
          </a:prstGeom>
          <a:noFill/>
        </p:spPr>
        <p:txBody>
          <a:bodyPr wrap="square" rtlCol="0">
            <a:spAutoFit/>
          </a:bodyPr>
          <a:lstStyle/>
          <a:p>
            <a:r>
              <a:rPr lang="en-US" dirty="0"/>
              <a:t>Arrangement of stearate ion at low conc</a:t>
            </a:r>
            <a:r>
              <a:rPr lang="en-US" baseline="30000" dirty="0"/>
              <a:t>n</a:t>
            </a:r>
            <a:endParaRPr lang="en-IN" dirty="0"/>
          </a:p>
        </p:txBody>
      </p:sp>
      <p:sp>
        <p:nvSpPr>
          <p:cNvPr id="11" name="TextBox 10"/>
          <p:cNvSpPr txBox="1"/>
          <p:nvPr/>
        </p:nvSpPr>
        <p:spPr>
          <a:xfrm>
            <a:off x="4800600" y="6019800"/>
            <a:ext cx="4114800" cy="369332"/>
          </a:xfrm>
          <a:prstGeom prst="rect">
            <a:avLst/>
          </a:prstGeom>
          <a:noFill/>
        </p:spPr>
        <p:txBody>
          <a:bodyPr wrap="square" rtlCol="0">
            <a:spAutoFit/>
          </a:bodyPr>
          <a:lstStyle/>
          <a:p>
            <a:r>
              <a:rPr lang="en-US" dirty="0"/>
              <a:t>Arrangement of stearate ion above CMC</a:t>
            </a:r>
            <a:endParaRPr lang="en-I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Cleansing Action of Soap</a:t>
            </a:r>
            <a:endParaRPr lang="en-IN" dirty="0"/>
          </a:p>
        </p:txBody>
      </p:sp>
      <p:sp>
        <p:nvSpPr>
          <p:cNvPr id="3" name="Content Placeholder 2"/>
          <p:cNvSpPr>
            <a:spLocks noGrp="1"/>
          </p:cNvSpPr>
          <p:nvPr>
            <p:ph idx="1"/>
          </p:nvPr>
        </p:nvSpPr>
        <p:spPr/>
        <p:txBody>
          <a:bodyPr anchor="t"/>
          <a:lstStyle/>
          <a:p>
            <a:pPr algn="l"/>
            <a:r>
              <a:rPr lang="en-IN" dirty="0"/>
              <a:t>Oil and grease are absorbed into the hydrophobic centers of soap micelles and are washed away.</a:t>
            </a:r>
            <a:br>
              <a:rPr lang="en-IN" dirty="0"/>
            </a:br>
            <a:endParaRPr lang="en-IN" dirty="0"/>
          </a:p>
        </p:txBody>
      </p:sp>
      <p:pic>
        <p:nvPicPr>
          <p:cNvPr id="3074" name="Picture 2" descr="C:\Users\lal\Desktop\img69.jpeg"/>
          <p:cNvPicPr>
            <a:picLocks noChangeAspect="1" noChangeArrowheads="1"/>
          </p:cNvPicPr>
          <p:nvPr/>
        </p:nvPicPr>
        <p:blipFill>
          <a:blip r:embed="rId2" cstate="print"/>
          <a:srcRect/>
          <a:stretch>
            <a:fillRect/>
          </a:stretch>
        </p:blipFill>
        <p:spPr bwMode="auto">
          <a:xfrm>
            <a:off x="533400" y="3667125"/>
            <a:ext cx="2209800" cy="2276475"/>
          </a:xfrm>
          <a:prstGeom prst="rect">
            <a:avLst/>
          </a:prstGeom>
          <a:noFill/>
        </p:spPr>
      </p:pic>
      <p:pic>
        <p:nvPicPr>
          <p:cNvPr id="3075" name="Picture 3" descr="C:\Users\lal\Desktop\img70.jpeg"/>
          <p:cNvPicPr>
            <a:picLocks noChangeAspect="1" noChangeArrowheads="1"/>
          </p:cNvPicPr>
          <p:nvPr/>
        </p:nvPicPr>
        <p:blipFill>
          <a:blip r:embed="rId3" cstate="print"/>
          <a:srcRect/>
          <a:stretch>
            <a:fillRect/>
          </a:stretch>
        </p:blipFill>
        <p:spPr bwMode="auto">
          <a:xfrm>
            <a:off x="3276600" y="3581400"/>
            <a:ext cx="2438400" cy="2076450"/>
          </a:xfrm>
          <a:prstGeom prst="rect">
            <a:avLst/>
          </a:prstGeom>
          <a:noFill/>
        </p:spPr>
      </p:pic>
      <p:pic>
        <p:nvPicPr>
          <p:cNvPr id="3076" name="Picture 4" descr="C:\Users\lal\Desktop\cleansing-action-soap.jpeg"/>
          <p:cNvPicPr>
            <a:picLocks noChangeAspect="1" noChangeArrowheads="1"/>
          </p:cNvPicPr>
          <p:nvPr/>
        </p:nvPicPr>
        <p:blipFill>
          <a:blip r:embed="rId4" cstate="print"/>
          <a:srcRect/>
          <a:stretch>
            <a:fillRect/>
          </a:stretch>
        </p:blipFill>
        <p:spPr bwMode="auto">
          <a:xfrm>
            <a:off x="6019800" y="3352800"/>
            <a:ext cx="2895599" cy="2743200"/>
          </a:xfrm>
          <a:prstGeom prst="rect">
            <a:avLst/>
          </a:prstGeom>
          <a:noFill/>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1281</TotalTime>
  <Words>2814</Words>
  <Application>Microsoft Office PowerPoint</Application>
  <PresentationFormat>On-screen Show (4:3)</PresentationFormat>
  <Paragraphs>434</Paragraphs>
  <Slides>53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Arial</vt:lpstr>
      <vt:lpstr>Calibri</vt:lpstr>
      <vt:lpstr>Times New Roman</vt:lpstr>
      <vt:lpstr>Trebuchet MS</vt:lpstr>
      <vt:lpstr>Wingdings</vt:lpstr>
      <vt:lpstr>Wingdings 3</vt:lpstr>
      <vt:lpstr>Facet</vt:lpstr>
      <vt:lpstr>PowerPoint Presentation</vt:lpstr>
      <vt:lpstr>Importance of carbon compounds</vt:lpstr>
      <vt:lpstr>PowerPoint Presentation</vt:lpstr>
      <vt:lpstr>Why study of Carbon Compounds is a separate branch of Chemistry?</vt:lpstr>
      <vt:lpstr>Reason for the wastness in number of carbon compounds</vt:lpstr>
      <vt:lpstr>Bonding in carbon compounds-Covalent bonding</vt:lpstr>
      <vt:lpstr>PowerPoint Presentation</vt:lpstr>
      <vt:lpstr>Formation of Covalent Bond</vt:lpstr>
      <vt:lpstr>Formation of Single Bond</vt:lpstr>
      <vt:lpstr>Formation of Double Covalent Bond</vt:lpstr>
      <vt:lpstr>Formation of Triple Covalent Bond</vt:lpstr>
      <vt:lpstr>Carbon atom can form multiple  covalent bonds </vt:lpstr>
      <vt:lpstr>Catenation</vt:lpstr>
      <vt:lpstr>PowerPoint Presentation</vt:lpstr>
      <vt:lpstr>Isomerism</vt:lpstr>
      <vt:lpstr>Isomerism</vt:lpstr>
      <vt:lpstr>PowerPoint Presentation</vt:lpstr>
      <vt:lpstr>Isomers of Hexane</vt:lpstr>
      <vt:lpstr>Hydrocarbons</vt:lpstr>
      <vt:lpstr>Classification of Hydrocarbons</vt:lpstr>
      <vt:lpstr>PowerPoint Presentation</vt:lpstr>
      <vt:lpstr>PowerPoint Presentation</vt:lpstr>
      <vt:lpstr>PowerPoint Presentation</vt:lpstr>
      <vt:lpstr>PowerPoint Presentation</vt:lpstr>
      <vt:lpstr>Nomenclature of open chain Hydrocarbons</vt:lpstr>
      <vt:lpstr> ‘Alk ‘ part</vt:lpstr>
      <vt:lpstr>Primary Suffix</vt:lpstr>
      <vt:lpstr>PowerPoint Presentation</vt:lpstr>
      <vt:lpstr>PowerPoint Presentation</vt:lpstr>
      <vt:lpstr>Nomenclature of compounds  containing functional group</vt:lpstr>
      <vt:lpstr>Homologous Series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Deleted Portion</vt:lpstr>
      <vt:lpstr>Chemical Properties of Carbon Compounds</vt:lpstr>
      <vt:lpstr>Oxidation</vt:lpstr>
      <vt:lpstr>Addition Reactions</vt:lpstr>
      <vt:lpstr>Substitution reactions</vt:lpstr>
      <vt:lpstr>ETHANOL-CH3CH2OH</vt:lpstr>
      <vt:lpstr>Reactions</vt:lpstr>
      <vt:lpstr>Ethanoic acid -CH3COOH</vt:lpstr>
      <vt:lpstr>Reactions</vt:lpstr>
      <vt:lpstr>Reaction with a base</vt:lpstr>
      <vt:lpstr>Reaction with Carbonates and Bicarbonates</vt:lpstr>
      <vt:lpstr>SOAPS</vt:lpstr>
      <vt:lpstr>PowerPoint Presentation</vt:lpstr>
      <vt:lpstr>Cleansing Action of Soap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devyanigautam1371@outlook.com</cp:lastModifiedBy>
  <cp:revision>242</cp:revision>
  <dcterms:created xsi:type="dcterms:W3CDTF">2020-06-26T10:11:20Z</dcterms:created>
  <dcterms:modified xsi:type="dcterms:W3CDTF">2026-04-15T15:38:18Z</dcterms:modified>
</cp:coreProperties>
</file>