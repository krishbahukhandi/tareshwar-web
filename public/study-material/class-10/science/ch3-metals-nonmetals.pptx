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2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9144000" cy="6858000" type="screen4x3"/>
  <p:notesSz cx="6858000" cy="9144000"/>
  <p:embeddedFontLst>
    <p:embeddedFont>
      <p:font typeface="Bilbo" panose="020B0604020202020204" charset="0"/>
      <p:regular r:id="rId21"/>
    </p:embeddedFont>
    <p:embeddedFont>
      <p:font typeface="Tw Cen MT" panose="020B0602020104020603" pitchFamily="34" charset="0"/>
      <p:regular r:id="rId22"/>
      <p:bold r:id="rId23"/>
      <p:italic r:id="rId24"/>
      <p:boldItalic r:id="rId25"/>
    </p:embeddedFont>
    <p:embeddedFont>
      <p:font typeface="Tw Cen MT Condensed" panose="020B0606020104020203" pitchFamily="34" charset="0"/>
      <p:regular r:id="rId26"/>
      <p:bold r:id="rId27"/>
    </p:embeddedFont>
    <p:embeddedFont>
      <p:font typeface="Wingdings 3" panose="05040102010807070707" pitchFamily="18" charset="2"/>
      <p:regular r:id="rId2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iyjhTmh8/fSUKf5pDu2MtvTzFg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6922579"/>
      </p:ext>
    </p:extLst>
  </p:cSld>
  <p:clrMapOvr>
    <a:masterClrMapping/>
  </p:clrMapOvr>
  <p:transition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031242"/>
      </p:ext>
    </p:extLst>
  </p:cSld>
  <p:clrMapOvr>
    <a:masterClrMapping/>
  </p:clrMapOvr>
  <p:transition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7628549"/>
      </p:ext>
    </p:extLst>
  </p:cSld>
  <p:clrMapOvr>
    <a:masterClrMapping/>
  </p:clrMapOvr>
  <p:transition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318861"/>
      </p:ext>
    </p:extLst>
  </p:cSld>
  <p:clrMapOvr>
    <a:masterClrMapping/>
  </p:clrMapOvr>
  <p:transition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103059"/>
      </p:ext>
    </p:extLst>
  </p:cSld>
  <p:clrMapOvr>
    <a:masterClrMapping/>
  </p:clrMapOvr>
  <p:transition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231505"/>
      </p:ext>
    </p:extLst>
  </p:cSld>
  <p:clrMapOvr>
    <a:masterClrMapping/>
  </p:clrMapOvr>
  <p:transition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309426"/>
      </p:ext>
    </p:extLst>
  </p:cSld>
  <p:clrMapOvr>
    <a:masterClrMapping/>
  </p:clrMapOvr>
  <p:transition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827744"/>
      </p:ext>
    </p:extLst>
  </p:cSld>
  <p:clrMapOvr>
    <a:masterClrMapping/>
  </p:clrMapOvr>
  <p:transition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177123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518781"/>
      </p:ext>
    </p:extLst>
  </p:cSld>
  <p:clrMapOvr>
    <a:masterClrMapping/>
  </p:clrMapOvr>
  <p:transition>
    <p:fade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4724384"/>
      </p:ext>
    </p:extLst>
  </p:cSld>
  <p:clrMapOvr>
    <a:masterClrMapping/>
  </p:clrMapOvr>
  <p:transition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2940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fade thruBlk="1"/>
  </p:transition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Properties of Metals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Properties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2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2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Exceptions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2"/>
          <p:cNvSpPr txBox="1">
            <a:spLocks noGrp="1"/>
          </p:cNvSpPr>
          <p:nvPr>
            <p:ph type="body" sz="quarter" idx="3"/>
          </p:nvPr>
        </p:nvSpPr>
        <p:spPr>
          <a:xfrm>
            <a:off x="457200" y="2174875"/>
            <a:ext cx="4267200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Generally solids 	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Hard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Malleable and ductile(gold is the most ductile metal)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Good conductors of heat and electricity (Silver &amp; copper is the best conductor)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Metallic </a:t>
            </a:r>
            <a:r>
              <a:rPr lang="en-US" dirty="0" err="1">
                <a:latin typeface="Arial"/>
                <a:ea typeface="Arial"/>
                <a:cs typeface="Arial"/>
                <a:sym typeface="Arial"/>
              </a:rPr>
              <a:t>Lusture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Sonorous 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High </a:t>
            </a:r>
            <a:r>
              <a:rPr lang="en-US" dirty="0" err="1">
                <a:latin typeface="Arial"/>
                <a:ea typeface="Arial"/>
                <a:cs typeface="Arial"/>
                <a:sym typeface="Arial"/>
              </a:rPr>
              <a:t>m.p</a:t>
            </a:r>
            <a:r>
              <a:rPr lang="en-US" dirty="0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dirty="0" err="1">
                <a:latin typeface="Arial"/>
                <a:ea typeface="Arial"/>
                <a:cs typeface="Arial"/>
                <a:sym typeface="Arial"/>
              </a:rPr>
              <a:t>b.p</a:t>
            </a:r>
            <a:r>
              <a:rPr lang="en-US" dirty="0">
                <a:latin typeface="Arial"/>
                <a:ea typeface="Arial"/>
                <a:cs typeface="Arial"/>
                <a:sym typeface="Arial"/>
              </a:rPr>
              <a:t>	</a:t>
            </a: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 txBox="1">
            <a:spLocks noGrp="1"/>
          </p:cNvSpPr>
          <p:nvPr>
            <p:ph sz="quarter" idx="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40"/>
              <a:buChar char="•"/>
            </a:pPr>
            <a:r>
              <a:rPr lang="en-US" sz="2040" dirty="0">
                <a:latin typeface="Arial"/>
                <a:ea typeface="Arial"/>
                <a:cs typeface="Arial"/>
                <a:sym typeface="Arial"/>
              </a:rPr>
              <a:t>Mercury is a liquid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ts val="2040"/>
              <a:buChar char="•"/>
            </a:pPr>
            <a:r>
              <a:rPr lang="en-US" sz="2040" dirty="0">
                <a:latin typeface="Arial"/>
                <a:ea typeface="Arial"/>
                <a:cs typeface="Arial"/>
                <a:sym typeface="Arial"/>
              </a:rPr>
              <a:t>Lithium , Sodium are soft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342900" lvl="0" indent="-213359" algn="l" rtl="0">
              <a:lnSpc>
                <a:spcPct val="80000"/>
              </a:lnSpc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ts val="2040"/>
              <a:buNone/>
            </a:pPr>
            <a:endParaRPr sz="2040" dirty="0">
              <a:latin typeface="Arial"/>
              <a:ea typeface="Arial"/>
              <a:cs typeface="Arial"/>
              <a:sym typeface="Arial"/>
            </a:endParaRPr>
          </a:p>
          <a:p>
            <a:pPr marL="342900" lvl="0" indent="-213359" algn="l" rtl="0">
              <a:lnSpc>
                <a:spcPct val="80000"/>
              </a:lnSpc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ts val="2040"/>
              <a:buNone/>
            </a:pPr>
            <a:endParaRPr sz="2040" dirty="0">
              <a:latin typeface="Arial"/>
              <a:ea typeface="Arial"/>
              <a:cs typeface="Arial"/>
              <a:sym typeface="Arial"/>
            </a:endParaRPr>
          </a:p>
          <a:p>
            <a:pPr marL="342900" lvl="0" indent="-213359" algn="l" rtl="0">
              <a:lnSpc>
                <a:spcPct val="80000"/>
              </a:lnSpc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ts val="2040"/>
              <a:buNone/>
            </a:pPr>
            <a:endParaRPr sz="2040" dirty="0">
              <a:latin typeface="Arial"/>
              <a:ea typeface="Arial"/>
              <a:cs typeface="Arial"/>
              <a:sym typeface="Arial"/>
            </a:endParaRPr>
          </a:p>
          <a:p>
            <a:pPr marL="342900" lvl="0" indent="-213359" algn="l" rtl="0">
              <a:lnSpc>
                <a:spcPct val="80000"/>
              </a:lnSpc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ts val="2040"/>
              <a:buNone/>
            </a:pPr>
            <a:endParaRPr sz="2040" dirty="0">
              <a:latin typeface="Arial"/>
              <a:ea typeface="Arial"/>
              <a:cs typeface="Arial"/>
              <a:sym typeface="Arial"/>
            </a:endParaRPr>
          </a:p>
          <a:p>
            <a:pPr marL="342900" lvl="0" indent="-213359" algn="l" rtl="0">
              <a:lnSpc>
                <a:spcPct val="80000"/>
              </a:lnSpc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ts val="2040"/>
              <a:buNone/>
            </a:pPr>
            <a:endParaRPr sz="2040" dirty="0">
              <a:latin typeface="Arial"/>
              <a:ea typeface="Arial"/>
              <a:cs typeface="Arial"/>
              <a:sym typeface="Arial"/>
            </a:endParaRPr>
          </a:p>
          <a:p>
            <a:pPr marL="342900" lvl="0" indent="-213359" algn="l" rtl="0">
              <a:lnSpc>
                <a:spcPct val="80000"/>
              </a:lnSpc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ts val="2040"/>
              <a:buNone/>
            </a:pPr>
            <a:endParaRPr sz="2040" dirty="0">
              <a:latin typeface="Arial"/>
              <a:ea typeface="Arial"/>
              <a:cs typeface="Arial"/>
              <a:sym typeface="Arial"/>
            </a:endParaRPr>
          </a:p>
          <a:p>
            <a:pPr marL="342900" lvl="0" indent="-213359" algn="l" rtl="0">
              <a:lnSpc>
                <a:spcPct val="80000"/>
              </a:lnSpc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ts val="2040"/>
              <a:buNone/>
            </a:pPr>
            <a:endParaRPr sz="2040" dirty="0">
              <a:latin typeface="Arial"/>
              <a:ea typeface="Arial"/>
              <a:cs typeface="Arial"/>
              <a:sym typeface="Arial"/>
            </a:endParaRPr>
          </a:p>
          <a:p>
            <a:pPr marL="342900" lvl="0" indent="-213359" algn="l" rtl="0">
              <a:lnSpc>
                <a:spcPct val="80000"/>
              </a:lnSpc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ts val="2040"/>
              <a:buNone/>
            </a:pPr>
            <a:endParaRPr sz="2040" dirty="0">
              <a:latin typeface="Arial"/>
              <a:ea typeface="Arial"/>
              <a:cs typeface="Arial"/>
              <a:sym typeface="Arial"/>
            </a:endParaRPr>
          </a:p>
          <a:p>
            <a:pPr marL="342900" lvl="0" indent="-213359" algn="l" rtl="0">
              <a:lnSpc>
                <a:spcPct val="80000"/>
              </a:lnSpc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ts val="2040"/>
              <a:buNone/>
            </a:pPr>
            <a:endParaRPr sz="2040" dirty="0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ts val="2040"/>
              <a:buChar char="•"/>
            </a:pPr>
            <a:r>
              <a:rPr lang="en-US" sz="2040" dirty="0">
                <a:latin typeface="Arial"/>
                <a:ea typeface="Arial"/>
                <a:cs typeface="Arial"/>
                <a:sym typeface="Arial"/>
              </a:rPr>
              <a:t>Gallium and cesium have very low </a:t>
            </a:r>
            <a:r>
              <a:rPr lang="en-US" sz="2040" dirty="0" err="1">
                <a:latin typeface="Arial"/>
                <a:ea typeface="Arial"/>
                <a:cs typeface="Arial"/>
                <a:sym typeface="Arial"/>
              </a:rPr>
              <a:t>m.p</a:t>
            </a:r>
            <a:r>
              <a:rPr lang="en-US" sz="2040" dirty="0">
                <a:latin typeface="Arial"/>
                <a:ea typeface="Arial"/>
                <a:cs typeface="Arial"/>
                <a:sym typeface="Arial"/>
              </a:rPr>
              <a:t> –melts in the palm</a:t>
            </a:r>
            <a:endParaRPr sz="2040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Properties of Non-metals</a:t>
            </a:r>
            <a:endParaRPr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05" name="Google Shape;105;p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Properties</a:t>
            </a:r>
            <a:endParaRPr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07" name="Google Shape;107;p3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Exceptions</a:t>
            </a:r>
            <a:endParaRPr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06" name="Google Shape;106;p3"/>
          <p:cNvSpPr txBox="1">
            <a:spLocks noGrp="1"/>
          </p:cNvSpPr>
          <p:nvPr>
            <p:ph type="body" sz="quarter" idx="3"/>
          </p:nvPr>
        </p:nvSpPr>
        <p:spPr>
          <a:xfrm>
            <a:off x="457200" y="2174875"/>
            <a:ext cx="4267200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Generally solids or gases	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Soft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Brittle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Bad conductor of heat and Electricity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No </a:t>
            </a:r>
            <a:r>
              <a:rPr lang="en-US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Lusture</a:t>
            </a:r>
            <a:r>
              <a:rPr lang="en-US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	</a:t>
            </a:r>
            <a:endParaRPr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08" name="Google Shape;108;p3"/>
          <p:cNvSpPr txBox="1">
            <a:spLocks noGrp="1"/>
          </p:cNvSpPr>
          <p:nvPr>
            <p:ph sz="quarter" idx="4"/>
          </p:nvPr>
        </p:nvSpPr>
        <p:spPr>
          <a:xfrm>
            <a:off x="4572001" y="2174875"/>
            <a:ext cx="4343400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Bromine is a liquid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Diamond- an allotrope of carbon is the hardest substance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Graphite is a good conductor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Iodine shows </a:t>
            </a:r>
            <a:r>
              <a:rPr lang="en-US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lusture</a:t>
            </a:r>
            <a:endParaRPr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Chemical Properties of Metals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Reaction with Air/Oxygen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Google Shape;119;p5"/>
          <p:cNvSpPr txBox="1"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❖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Almost all metals combine with oxygen to form metal oxides.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⮚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Metal + Oxygen → Metal oxide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❖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metal oxides are basic in nature.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❖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some metal oxides show both acidic as well as basic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-Amphoteric oxides.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⮚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metal oxides react with both acids as well as bases to produce salts and water.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0" lvl="2" indent="-2286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✔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Eg-Al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ZnO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00200" lvl="3" indent="-10160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0" name="Google Shape;120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14176" y="5638800"/>
            <a:ext cx="5263979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>
            <a:spLocks noGrp="1"/>
          </p:cNvSpPr>
          <p:nvPr>
            <p:ph idx="1"/>
          </p:nvPr>
        </p:nvSpPr>
        <p:spPr>
          <a:xfrm>
            <a:off x="457200" y="533400"/>
            <a:ext cx="8229600" cy="58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397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139700" algn="just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❖"/>
            </a:pPr>
            <a:r>
              <a:rPr lang="en-US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Most metal oxides are insoluble in water </a:t>
            </a:r>
            <a:endParaRPr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342900" lvl="0" indent="-342900" algn="just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❖"/>
            </a:pPr>
            <a:r>
              <a:rPr lang="en-US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But some of the metal oxides dissolve in water to form alkalis</a:t>
            </a:r>
            <a:endParaRPr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742950" lvl="1" indent="-285750" algn="just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⮚"/>
            </a:pPr>
            <a:r>
              <a:rPr lang="en-US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Eg-Sodium oxide , Potassium oxide</a:t>
            </a:r>
            <a:endParaRPr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126" name="Google Shape;126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800" y="4186238"/>
            <a:ext cx="4648199" cy="919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Times New Roman"/>
              <a:buNone/>
            </a:pPr>
            <a:r>
              <a:rPr lang="en-US" sz="39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Relative reactivity of Metals towards Oxygen</a:t>
            </a:r>
            <a:endParaRPr sz="395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2" name="Google Shape;132;p7"/>
          <p:cNvSpPr txBox="1"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80"/>
              <a:buFont typeface="Arial"/>
              <a:buChar char="❖"/>
            </a:pPr>
            <a:r>
              <a:rPr lang="en-US" sz="248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All metals do not react with oxygen at the same rate. </a:t>
            </a:r>
            <a:endParaRPr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742950" lvl="1" indent="-285750" algn="just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ts val="2170"/>
              <a:buFont typeface="Arial"/>
              <a:buChar char="⮚"/>
            </a:pPr>
            <a:r>
              <a:rPr lang="en-US" sz="217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potassium and sodium react so vigorously that they catch fire if kept in the open. </a:t>
            </a:r>
            <a:endParaRPr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1143000" lvl="2" indent="-228600" algn="just" rtl="0">
              <a:lnSpc>
                <a:spcPct val="8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1860"/>
              <a:buFont typeface="Arial"/>
              <a:buChar char="✔"/>
            </a:pPr>
            <a:r>
              <a:rPr lang="en-US" sz="186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Hence, to protect them and to prevent accidental fires, they are kept immersed in kerosene oil.</a:t>
            </a:r>
            <a:endParaRPr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742950" lvl="1" indent="-285750" algn="just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ts val="2170"/>
              <a:buFont typeface="Arial"/>
              <a:buChar char="⮚"/>
            </a:pPr>
            <a:r>
              <a:rPr lang="en-US" sz="217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At ordinary temperature, the surfaces  magnesium , </a:t>
            </a:r>
            <a:r>
              <a:rPr lang="en-US" sz="2170" dirty="0" err="1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aluminium</a:t>
            </a:r>
            <a:r>
              <a:rPr lang="en-US" sz="217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, zinc, lead, etc., are covered with a thin layer of oxide. </a:t>
            </a:r>
            <a:endParaRPr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1143000" lvl="2" indent="-228600" algn="just" rtl="0">
              <a:lnSpc>
                <a:spcPct val="8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1860"/>
              <a:buFont typeface="Arial"/>
              <a:buChar char="✔"/>
            </a:pPr>
            <a:r>
              <a:rPr lang="en-US" sz="186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The protective oxide layer prevents the metal from further oxidation. </a:t>
            </a:r>
            <a:endParaRPr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742950" lvl="1" indent="-285750" algn="just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ts val="2170"/>
              <a:buFont typeface="Arial"/>
              <a:buChar char="⮚"/>
            </a:pPr>
            <a:r>
              <a:rPr lang="en-US" sz="217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Iron does not burn on heating but iron filings burn vigorously when sprinkled in the flame of the burner.</a:t>
            </a:r>
            <a:endParaRPr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742950" lvl="1" indent="-285750" algn="just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ts val="2170"/>
              <a:buFont typeface="Arial"/>
              <a:buChar char="⮚"/>
            </a:pPr>
            <a:r>
              <a:rPr lang="en-US" sz="217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Copper does not burn, but the hot metal is coated with a black </a:t>
            </a:r>
            <a:r>
              <a:rPr lang="en-US" sz="2170" dirty="0" err="1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coloured</a:t>
            </a:r>
            <a:r>
              <a:rPr lang="en-US" sz="217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layer of copper oxide. </a:t>
            </a:r>
            <a:endParaRPr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742950" lvl="1" indent="-285750" algn="just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ts val="2170"/>
              <a:buFont typeface="Arial"/>
              <a:buChar char="⮚"/>
            </a:pPr>
            <a:r>
              <a:rPr lang="en-US" sz="217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Silver and gold do not react with oxygen even at high temperatures</a:t>
            </a:r>
            <a:endParaRPr sz="2170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Reaction with Water</a:t>
            </a:r>
            <a:endParaRPr/>
          </a:p>
        </p:txBody>
      </p:sp>
      <p:sp>
        <p:nvSpPr>
          <p:cNvPr id="138" name="Google Shape;138;p8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❖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Metals react with water to produce a metal oxide and hydrogen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just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❖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Metal oxides that are soluble in water dissolve to form metal hydroxide.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742950" lvl="1" indent="-285750" algn="just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⮚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Metal + Water → Metal oxide + Hydrogen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742950" lvl="1" indent="-285750" algn="just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⮚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Metal oxide + Water → Metal hydroxide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>
            <a:spLocks noGrp="1"/>
          </p:cNvSpPr>
          <p:nvPr>
            <p:ph type="title"/>
          </p:nvPr>
        </p:nvSpPr>
        <p:spPr>
          <a:xfrm>
            <a:off x="457200" y="274647"/>
            <a:ext cx="8229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Times New Roman"/>
              <a:buNone/>
            </a:pPr>
            <a:r>
              <a:rPr lang="en-US" sz="3259" b="1"/>
              <a:t>Relative reactivity of Metals towards water</a:t>
            </a:r>
            <a:endParaRPr sz="3259" b="1"/>
          </a:p>
        </p:txBody>
      </p:sp>
      <p:sp>
        <p:nvSpPr>
          <p:cNvPr id="144" name="Google Shape;144;p9"/>
          <p:cNvSpPr txBox="1">
            <a:spLocks noGrp="1"/>
          </p:cNvSpPr>
          <p:nvPr>
            <p:ph idx="1"/>
          </p:nvPr>
        </p:nvSpPr>
        <p:spPr>
          <a:xfrm>
            <a:off x="457200" y="951000"/>
            <a:ext cx="8229600" cy="57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80"/>
              <a:buFont typeface="Arial"/>
              <a:buChar char="❖"/>
            </a:pPr>
            <a:r>
              <a:rPr lang="en-US" sz="2480">
                <a:latin typeface="Arial"/>
                <a:ea typeface="Arial"/>
                <a:cs typeface="Arial"/>
                <a:sym typeface="Arial"/>
              </a:rPr>
              <a:t>Potassium and Sodium react violently with cold water.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742950" lvl="1" indent="-285750" algn="just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ts val="2170"/>
              <a:buFont typeface="Arial"/>
              <a:buChar char="⮚"/>
            </a:pPr>
            <a:r>
              <a:rPr lang="en-US" sz="2170">
                <a:latin typeface="Arial"/>
                <a:ea typeface="Arial"/>
                <a:cs typeface="Arial"/>
                <a:sym typeface="Arial"/>
              </a:rPr>
              <a:t>the reaction is so violent and exothermic that the evolved hydrogen immediately catches fire.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just" rtl="0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2480"/>
              <a:buFont typeface="Arial"/>
              <a:buChar char="❖"/>
            </a:pPr>
            <a:r>
              <a:rPr lang="en-US" sz="2480">
                <a:latin typeface="Arial"/>
                <a:ea typeface="Arial"/>
                <a:cs typeface="Arial"/>
                <a:sym typeface="Arial"/>
              </a:rPr>
              <a:t>The reaction of calcium with water is less violent.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742950" lvl="1" indent="-285750" algn="just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ts val="2170"/>
              <a:buFont typeface="Arial"/>
              <a:buChar char="⮚"/>
            </a:pPr>
            <a:r>
              <a:rPr lang="en-US" sz="2170">
                <a:latin typeface="Arial"/>
                <a:ea typeface="Arial"/>
                <a:cs typeface="Arial"/>
                <a:sym typeface="Arial"/>
              </a:rPr>
              <a:t>The heat evolved is not sufficient for the hydrogen to catch fire.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742950" lvl="1" indent="-285750" algn="just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ts val="2170"/>
              <a:buFont typeface="Arial"/>
              <a:buChar char="⮚"/>
            </a:pPr>
            <a:r>
              <a:rPr lang="en-US" sz="2170">
                <a:latin typeface="Arial"/>
                <a:ea typeface="Arial"/>
                <a:cs typeface="Arial"/>
                <a:sym typeface="Arial"/>
              </a:rPr>
              <a:t>Calcium starts floating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1143000" lvl="2" indent="-228600" algn="just" rtl="0">
              <a:lnSpc>
                <a:spcPct val="8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1860"/>
              <a:buFont typeface="Arial"/>
              <a:buChar char="✔"/>
            </a:pPr>
            <a:r>
              <a:rPr lang="en-US" sz="1860">
                <a:latin typeface="Arial"/>
                <a:ea typeface="Arial"/>
                <a:cs typeface="Arial"/>
                <a:sym typeface="Arial"/>
              </a:rPr>
              <a:t>the bubbles of hydrogen gas formed stick to the surface of the metal.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just" rtl="0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2480"/>
              <a:buFont typeface="Arial"/>
              <a:buChar char="❖"/>
            </a:pPr>
            <a:r>
              <a:rPr lang="en-US" sz="2480">
                <a:latin typeface="Arial"/>
                <a:ea typeface="Arial"/>
                <a:cs typeface="Arial"/>
                <a:sym typeface="Arial"/>
              </a:rPr>
              <a:t>Magnesium does not react with cold water. It reacts with hot water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742950" lvl="1" indent="-285750" algn="just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ts val="2170"/>
              <a:buFont typeface="Arial"/>
              <a:buChar char="⮚"/>
            </a:pPr>
            <a:r>
              <a:rPr lang="en-US" sz="2170">
                <a:latin typeface="Arial"/>
                <a:ea typeface="Arial"/>
                <a:cs typeface="Arial"/>
                <a:sym typeface="Arial"/>
              </a:rPr>
              <a:t>form magnesium hydroxide and hydrogen.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742950" lvl="1" indent="-285750" algn="just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ts val="2170"/>
              <a:buFont typeface="Arial"/>
              <a:buChar char="⮚"/>
            </a:pPr>
            <a:r>
              <a:rPr lang="en-US" sz="2170">
                <a:latin typeface="Arial"/>
                <a:ea typeface="Arial"/>
                <a:cs typeface="Arial"/>
                <a:sym typeface="Arial"/>
              </a:rPr>
              <a:t> It also starts floating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just" rtl="0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2480"/>
              <a:buFont typeface="Arial"/>
              <a:buChar char="❖"/>
            </a:pPr>
            <a:r>
              <a:rPr lang="en-US" sz="2480">
                <a:latin typeface="Arial"/>
                <a:ea typeface="Arial"/>
                <a:cs typeface="Arial"/>
                <a:sym typeface="Arial"/>
              </a:rPr>
              <a:t>Aluminium, iron and zinc do not react either with cold or hot water.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742950" lvl="1" indent="-285750" algn="just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ts val="2170"/>
              <a:buFont typeface="Arial"/>
              <a:buChar char="⮚"/>
            </a:pPr>
            <a:r>
              <a:rPr lang="en-US" sz="2170">
                <a:latin typeface="Arial"/>
                <a:ea typeface="Arial"/>
                <a:cs typeface="Arial"/>
                <a:sym typeface="Arial"/>
              </a:rPr>
              <a:t>they react with steam to form the metal oxide and hydrogen.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just" rtl="0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2480"/>
              <a:buFont typeface="Noto Sans Symbols"/>
              <a:buChar char="❖"/>
            </a:pPr>
            <a:r>
              <a:rPr lang="en-US" sz="2480">
                <a:latin typeface="Arial"/>
                <a:ea typeface="Arial"/>
                <a:cs typeface="Arial"/>
                <a:sym typeface="Arial"/>
              </a:rPr>
              <a:t>lead, copper, silver and gold do not react with w</a:t>
            </a:r>
            <a:r>
              <a:rPr lang="en-US" sz="2480"/>
              <a:t>ater</a:t>
            </a:r>
            <a:endParaRPr sz="2480"/>
          </a:p>
        </p:txBody>
      </p:sp>
    </p:spTree>
  </p:cSld>
  <p:clrMapOvr>
    <a:masterClrMapping/>
  </p:clrMapOvr>
  <p:transition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Reaction with Acids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Google Shape;150;p10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❖"/>
            </a:pPr>
            <a:r>
              <a:rPr lang="en-US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Metal + Acid → Salt + Hydrogen</a:t>
            </a:r>
            <a:endParaRPr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342900" lvl="0" indent="-342900" algn="just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❖"/>
            </a:pPr>
            <a:r>
              <a:rPr lang="en-US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Hydrogen gas is not evolved when a metal reacts with nitric acid. </a:t>
            </a:r>
            <a:endParaRPr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742950" lvl="1" indent="-285750" algn="just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⮚"/>
            </a:pPr>
            <a:r>
              <a:rPr lang="en-US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It is because HNO</a:t>
            </a:r>
            <a:r>
              <a:rPr lang="en-US" baseline="-250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3</a:t>
            </a:r>
            <a:r>
              <a:rPr lang="en-US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is a strong </a:t>
            </a:r>
            <a:r>
              <a:rPr lang="en-US" dirty="0" err="1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oxidising</a:t>
            </a:r>
            <a:r>
              <a:rPr lang="en-US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agent. </a:t>
            </a:r>
            <a:endParaRPr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742950" lvl="1" indent="-285750" algn="just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⮚"/>
            </a:pPr>
            <a:r>
              <a:rPr lang="en-US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It </a:t>
            </a:r>
            <a:r>
              <a:rPr lang="en-US" dirty="0" err="1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oxidises</a:t>
            </a:r>
            <a:r>
              <a:rPr lang="en-US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the H</a:t>
            </a:r>
            <a:r>
              <a:rPr lang="en-US" baseline="-250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2</a:t>
            </a:r>
            <a:r>
              <a:rPr lang="en-US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produced to water and itself gets reduced to any of the nitrogen oxides (N</a:t>
            </a:r>
            <a:r>
              <a:rPr lang="en-US" baseline="-250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2</a:t>
            </a:r>
            <a:r>
              <a:rPr lang="en-US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O, NO,NO</a:t>
            </a:r>
            <a:r>
              <a:rPr lang="en-US" baseline="-250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2</a:t>
            </a:r>
            <a:r>
              <a:rPr lang="en-US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). </a:t>
            </a:r>
            <a:endParaRPr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742950" lvl="1" indent="-285750" algn="just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⮚"/>
            </a:pPr>
            <a:r>
              <a:rPr lang="en-US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But magnesium (Mg) and manganese (Mn) react with very dilute HNO</a:t>
            </a:r>
            <a:r>
              <a:rPr lang="en-US" baseline="-250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3</a:t>
            </a:r>
            <a:r>
              <a:rPr lang="en-US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to evolve H</a:t>
            </a:r>
            <a:r>
              <a:rPr lang="en-US" baseline="-250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2</a:t>
            </a:r>
            <a:r>
              <a:rPr lang="en-US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gas.</a:t>
            </a:r>
            <a:endParaRPr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Times New Roman"/>
              <a:buNone/>
            </a:pPr>
            <a:r>
              <a:rPr lang="en-US" sz="3959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Reaction with Other Metal salt solution</a:t>
            </a:r>
            <a:r>
              <a:rPr lang="en-US" sz="39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395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6" name="Google Shape;156;p11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❖"/>
            </a:pPr>
            <a:r>
              <a:rPr lang="en-US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A more reactive metal displaces less reactive metal from its solution</a:t>
            </a:r>
            <a:endParaRPr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742950" lvl="1" indent="-285750" algn="just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⮚"/>
            </a:pPr>
            <a:r>
              <a:rPr lang="en-US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Metal A + Salt solution of B → Salt solution of A              							+ Metal B</a:t>
            </a:r>
            <a:endParaRPr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342900" lvl="0" indent="-342900" algn="just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❖"/>
            </a:pPr>
            <a:r>
              <a:rPr lang="en-US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Displacement reaction can be used to determine the relative reactivity of Metals</a:t>
            </a:r>
            <a:endParaRPr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Reactivity Series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2" name="Google Shape;162;p1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❖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Metals arranged in the decreasing order of their reactivities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3" name="Google Shape;163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0201" y="2667000"/>
            <a:ext cx="6406726" cy="403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Inert Gases are Inert?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9" name="Google Shape;169;p13"/>
          <p:cNvSpPr txBox="1">
            <a:spLocks noGrp="1"/>
          </p:cNvSpPr>
          <p:nvPr>
            <p:ph idx="1"/>
          </p:nvPr>
        </p:nvSpPr>
        <p:spPr>
          <a:xfrm>
            <a:off x="457200" y="1600200"/>
            <a:ext cx="8229600" cy="4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❖"/>
            </a:pPr>
            <a:r>
              <a:rPr lang="en-US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The outer most shell of noble/inert gases contain 8 electrons (except He)</a:t>
            </a:r>
            <a:endParaRPr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342900" lvl="0" indent="-342900" algn="just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❖"/>
            </a:pPr>
            <a:r>
              <a:rPr lang="en-US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No other elements have 8 electrons in their valence shell</a:t>
            </a:r>
            <a:endParaRPr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342900" lvl="0" indent="-342900" algn="just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❖"/>
            </a:pPr>
            <a:r>
              <a:rPr lang="en-US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The configuration of 8 electrons is very stable which makes the noble gases inert</a:t>
            </a:r>
            <a:endParaRPr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742950" lvl="1" indent="-285750" algn="just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⮚"/>
            </a:pPr>
            <a:r>
              <a:rPr lang="en-US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The configuration of 8 electron is known as octet</a:t>
            </a:r>
            <a:endParaRPr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342900" lvl="0" indent="-342900" algn="just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❖"/>
            </a:pPr>
            <a:r>
              <a:rPr lang="en-US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Atoms of other elements attains stability if they get 8 electrons in their outermost shel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endParaRPr/>
          </a:p>
        </p:txBody>
      </p:sp>
      <p:sp>
        <p:nvSpPr>
          <p:cNvPr id="175" name="Google Shape;175;p14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1397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/>
          </a:p>
        </p:txBody>
      </p:sp>
      <p:pic>
        <p:nvPicPr>
          <p:cNvPr id="176" name="Google Shape;176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90448"/>
            <a:ext cx="8305800" cy="6538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How ‘Na’ attains stability</a:t>
            </a:r>
            <a:endParaRPr/>
          </a:p>
        </p:txBody>
      </p:sp>
      <p:sp>
        <p:nvSpPr>
          <p:cNvPr id="182" name="Google Shape;182;p15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397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❖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‘Na’ will loose one electron from its outer most shell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3" name="Google Shape;183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0" y="3657600"/>
            <a:ext cx="5714999" cy="159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How ‘Cl’ attains stability</a:t>
            </a:r>
            <a:endParaRPr/>
          </a:p>
        </p:txBody>
      </p:sp>
      <p:sp>
        <p:nvSpPr>
          <p:cNvPr id="189" name="Google Shape;189;p16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397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/>
          </a:p>
          <a:p>
            <a:pPr marL="342900" lvl="0" indent="-342900" algn="just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❖"/>
            </a:pPr>
            <a:r>
              <a:rPr lang="en-US"/>
              <a:t>‘Cl’ will gain one electron to its outermost shell</a:t>
            </a:r>
            <a:endParaRPr/>
          </a:p>
        </p:txBody>
      </p:sp>
      <p:pic>
        <p:nvPicPr>
          <p:cNvPr id="190" name="Google Shape;190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52600" y="3478673"/>
            <a:ext cx="5334000" cy="17840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1600" y="1371600"/>
            <a:ext cx="6382871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When ‘Na’ and ‘Cl’ react……</a:t>
            </a:r>
            <a:endParaRPr/>
          </a:p>
        </p:txBody>
      </p:sp>
      <p:sp>
        <p:nvSpPr>
          <p:cNvPr id="197" name="Google Shape;197;p17"/>
          <p:cNvSpPr txBox="1">
            <a:spLocks noGrp="1"/>
          </p:cNvSpPr>
          <p:nvPr>
            <p:ph idx="1"/>
          </p:nvPr>
        </p:nvSpPr>
        <p:spPr>
          <a:xfrm>
            <a:off x="457200" y="19510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❖"/>
            </a:pPr>
            <a:r>
              <a:rPr lang="en-US"/>
              <a:t>Sodium and chloride ions, are oppositely charged, </a:t>
            </a:r>
            <a:endParaRPr/>
          </a:p>
          <a:p>
            <a:pPr marL="742950" lvl="1" indent="-285750" algn="just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⮚"/>
            </a:pPr>
            <a:r>
              <a:rPr lang="en-US"/>
              <a:t>They attract each other </a:t>
            </a:r>
            <a:endParaRPr/>
          </a:p>
          <a:p>
            <a:pPr marL="742950" lvl="1" indent="-285750" algn="just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⮚"/>
            </a:pPr>
            <a:r>
              <a:rPr lang="en-US"/>
              <a:t>They are held by strong electrostatic forces of attraction to exist as sodium chloride (NaCl). </a:t>
            </a:r>
            <a:endParaRPr/>
          </a:p>
          <a:p>
            <a:pPr marL="342900" lvl="0" indent="-342900" algn="just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❖"/>
            </a:pPr>
            <a:r>
              <a:rPr lang="en-US"/>
              <a:t>sodium chloride does not exist as molecules but aggregates of oppositely charged ions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9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Bilbo"/>
              <a:buNone/>
            </a:pPr>
            <a:r>
              <a:rPr lang="en-US" sz="6000" b="1" dirty="0">
                <a:latin typeface="Bilbo"/>
                <a:ea typeface="Bilbo"/>
                <a:cs typeface="Bilbo"/>
                <a:sym typeface="Bilbo"/>
              </a:rPr>
              <a:t>Properties of ionic compounds </a:t>
            </a:r>
            <a:endParaRPr sz="6000" b="1" dirty="0">
              <a:latin typeface="Bilbo"/>
              <a:ea typeface="Bilbo"/>
              <a:cs typeface="Bilbo"/>
              <a:sym typeface="Bilb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0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60"/>
              <a:buFont typeface="Arial"/>
              <a:buChar char="❖"/>
            </a:pPr>
            <a:r>
              <a:rPr lang="en-US" sz="2960" dirty="0">
                <a:latin typeface="Arial"/>
                <a:ea typeface="Arial"/>
                <a:cs typeface="Arial"/>
                <a:sym typeface="Arial"/>
              </a:rPr>
              <a:t>Physical nature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742950" lvl="1" indent="-285750" algn="just" rtl="0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Font typeface="Arial"/>
              <a:buChar char="⮚"/>
            </a:pPr>
            <a:r>
              <a:rPr lang="en-US" sz="2590" dirty="0">
                <a:latin typeface="Arial"/>
                <a:ea typeface="Arial"/>
                <a:cs typeface="Arial"/>
                <a:sym typeface="Arial"/>
              </a:rPr>
              <a:t>Solids, Hard, Brittle in nature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just" rtl="0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Font typeface="Arial"/>
              <a:buChar char="❖"/>
            </a:pPr>
            <a:r>
              <a:rPr lang="en-US" sz="2960" dirty="0">
                <a:latin typeface="Arial"/>
                <a:ea typeface="Arial"/>
                <a:cs typeface="Arial"/>
                <a:sym typeface="Arial"/>
              </a:rPr>
              <a:t>Melting and Boiling Point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742950" lvl="1" indent="-285750" algn="just" rtl="0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Font typeface="Arial"/>
              <a:buChar char="⮚"/>
            </a:pPr>
            <a:r>
              <a:rPr lang="en-US" sz="2590" dirty="0">
                <a:latin typeface="Arial"/>
                <a:ea typeface="Arial"/>
                <a:cs typeface="Arial"/>
                <a:sym typeface="Arial"/>
              </a:rPr>
              <a:t>High melting and Boiling point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just" rtl="0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Font typeface="Arial"/>
              <a:buChar char="❖"/>
            </a:pPr>
            <a:r>
              <a:rPr lang="en-US" sz="2960" dirty="0">
                <a:latin typeface="Arial"/>
                <a:ea typeface="Arial"/>
                <a:cs typeface="Arial"/>
                <a:sym typeface="Arial"/>
              </a:rPr>
              <a:t>Solubility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742950" lvl="1" indent="-285750" algn="just" rtl="0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Font typeface="Arial"/>
              <a:buChar char="⮚"/>
            </a:pPr>
            <a:r>
              <a:rPr lang="en-US" sz="2590" dirty="0">
                <a:latin typeface="Arial"/>
                <a:ea typeface="Arial"/>
                <a:cs typeface="Arial"/>
                <a:sym typeface="Arial"/>
              </a:rPr>
              <a:t>Soluble in polar solvents and insoluble in nonpolar solvents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just" rtl="0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Font typeface="Arial"/>
              <a:buChar char="❖"/>
            </a:pPr>
            <a:r>
              <a:rPr lang="en-US" sz="2960" dirty="0">
                <a:latin typeface="Arial"/>
                <a:ea typeface="Arial"/>
                <a:cs typeface="Arial"/>
                <a:sym typeface="Arial"/>
              </a:rPr>
              <a:t>Conduction of electricity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742950" lvl="1" indent="-285750" algn="just" rtl="0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Font typeface="Arial"/>
              <a:buChar char="⮚"/>
            </a:pPr>
            <a:r>
              <a:rPr lang="en-US" sz="2590" dirty="0">
                <a:latin typeface="Arial"/>
                <a:ea typeface="Arial"/>
                <a:cs typeface="Arial"/>
                <a:sym typeface="Arial"/>
              </a:rPr>
              <a:t>Conducts electricity through </a:t>
            </a:r>
            <a:r>
              <a:rPr lang="en-US" sz="2590" dirty="0" err="1">
                <a:latin typeface="Arial"/>
                <a:ea typeface="Arial"/>
                <a:cs typeface="Arial"/>
                <a:sym typeface="Arial"/>
              </a:rPr>
              <a:t>solution.Non</a:t>
            </a:r>
            <a:r>
              <a:rPr lang="en-US" sz="2590" dirty="0">
                <a:latin typeface="Arial"/>
                <a:ea typeface="Arial"/>
                <a:cs typeface="Arial"/>
                <a:sym typeface="Arial"/>
              </a:rPr>
              <a:t> conductor in solid state</a:t>
            </a:r>
            <a:endParaRPr sz="2590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</TotalTime>
  <Words>862</Words>
  <Application>Microsoft Office PowerPoint</Application>
  <PresentationFormat>On-screen Show (4:3)</PresentationFormat>
  <Paragraphs>113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Tw Cen MT Condensed</vt:lpstr>
      <vt:lpstr>Times New Roman</vt:lpstr>
      <vt:lpstr>Noto Sans Symbols</vt:lpstr>
      <vt:lpstr>Wingdings 3</vt:lpstr>
      <vt:lpstr>Calibri</vt:lpstr>
      <vt:lpstr>Tw Cen MT</vt:lpstr>
      <vt:lpstr>Bilbo</vt:lpstr>
      <vt:lpstr>Integral</vt:lpstr>
      <vt:lpstr>Properties of Metals</vt:lpstr>
      <vt:lpstr>Properties of Non-metals</vt:lpstr>
      <vt:lpstr>Chemical Properties of Metals</vt:lpstr>
      <vt:lpstr>Reaction with Air/Oxygen</vt:lpstr>
      <vt:lpstr>PowerPoint Presentation</vt:lpstr>
      <vt:lpstr>Relative reactivity of Metals towards Oxygen</vt:lpstr>
      <vt:lpstr>Reaction with Water</vt:lpstr>
      <vt:lpstr>Relative reactivity of Metals towards water</vt:lpstr>
      <vt:lpstr>Reaction with Acids</vt:lpstr>
      <vt:lpstr>Reaction with Other Metal salt solution </vt:lpstr>
      <vt:lpstr>Reactivity Series</vt:lpstr>
      <vt:lpstr>Why Inert Gases are Inert?</vt:lpstr>
      <vt:lpstr>PowerPoint Presentation</vt:lpstr>
      <vt:lpstr>How ‘Na’ attains stability</vt:lpstr>
      <vt:lpstr>How ‘Cl’ attains stability</vt:lpstr>
      <vt:lpstr>When ‘Na’ and ‘Cl’ react……</vt:lpstr>
      <vt:lpstr>Properties of ionic compounds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devyanigautam1371@outlook.com</cp:lastModifiedBy>
  <cp:revision>2</cp:revision>
  <dcterms:modified xsi:type="dcterms:W3CDTF">2026-04-15T15:36:34Z</dcterms:modified>
</cp:coreProperties>
</file>