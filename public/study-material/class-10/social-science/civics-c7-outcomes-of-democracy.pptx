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8" r:id="rId2"/>
    <p:sldId id="259" r:id="rId3"/>
    <p:sldId id="260" r:id="rId4"/>
    <p:sldId id="261" r:id="rId5"/>
    <p:sldId id="262" r:id="rId6"/>
    <p:sldId id="263" r:id="rId7"/>
    <p:sldId id="264" r:id="rId8"/>
    <p:sldId id="265" r:id="rId9"/>
    <p:sldId id="266" r:id="rId10"/>
    <p:sldId id="270" r:id="rId11"/>
    <p:sldId id="271" r:id="rId12"/>
    <p:sldId id="272" r:id="rId13"/>
    <p:sldId id="278" r:id="rId14"/>
    <p:sldId id="269" r:id="rId15"/>
    <p:sldId id="268" r:id="rId16"/>
    <p:sldId id="276" r:id="rId17"/>
    <p:sldId id="277" r:id="rId18"/>
    <p:sldId id="267" r:id="rId19"/>
    <p:sldId id="273" r:id="rId20"/>
    <p:sldId id="274" r:id="rId21"/>
    <p:sldId id="275" r:id="rId22"/>
    <p:sldId id="279" r:id="rId23"/>
    <p:sldId id="280" r:id="rId24"/>
    <p:sldId id="281" r:id="rId25"/>
    <p:sldId id="282" r:id="rId26"/>
    <p:sldId id="283" r:id="rId27"/>
    <p:sldId id="292" r:id="rId28"/>
    <p:sldId id="284" r:id="rId29"/>
    <p:sldId id="285" r:id="rId30"/>
    <p:sldId id="286" r:id="rId31"/>
    <p:sldId id="287" r:id="rId32"/>
    <p:sldId id="288" r:id="rId33"/>
    <p:sldId id="289" r:id="rId34"/>
    <p:sldId id="290" r:id="rId35"/>
    <p:sldId id="293" r:id="rId36"/>
    <p:sldId id="291" r:id="rId37"/>
    <p:sldId id="294"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98" d="100"/>
          <a:sy n="98" d="100"/>
        </p:scale>
        <p:origin x="110"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FC5E8ED-A83F-4152-BECF-5A26F1B1D50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1A96F0-5205-48E6-A6EA-704D0C8C76B9}" type="slidenum">
              <a:rPr lang="en-US" smtClean="0"/>
              <a:t>‹#›</a:t>
            </a:fld>
            <a:endParaRPr lang="en-US"/>
          </a:p>
        </p:txBody>
      </p:sp>
    </p:spTree>
    <p:extLst>
      <p:ext uri="{BB962C8B-B14F-4D97-AF65-F5344CB8AC3E}">
        <p14:creationId xmlns:p14="http://schemas.microsoft.com/office/powerpoint/2010/main" val="1072872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C5E8ED-A83F-4152-BECF-5A26F1B1D50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1A96F0-5205-48E6-A6EA-704D0C8C76B9}" type="slidenum">
              <a:rPr lang="en-US" smtClean="0"/>
              <a:t>‹#›</a:t>
            </a:fld>
            <a:endParaRPr lang="en-US"/>
          </a:p>
        </p:txBody>
      </p:sp>
    </p:spTree>
    <p:extLst>
      <p:ext uri="{BB962C8B-B14F-4D97-AF65-F5344CB8AC3E}">
        <p14:creationId xmlns:p14="http://schemas.microsoft.com/office/powerpoint/2010/main" val="40510515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FC5E8ED-A83F-4152-BECF-5A26F1B1D50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1A96F0-5205-48E6-A6EA-704D0C8C76B9}" type="slidenum">
              <a:rPr lang="en-US" smtClean="0"/>
              <a:t>‹#›</a:t>
            </a:fld>
            <a:endParaRPr lang="en-US"/>
          </a:p>
        </p:txBody>
      </p:sp>
    </p:spTree>
    <p:extLst>
      <p:ext uri="{BB962C8B-B14F-4D97-AF65-F5344CB8AC3E}">
        <p14:creationId xmlns:p14="http://schemas.microsoft.com/office/powerpoint/2010/main" val="1888336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FC5E8ED-A83F-4152-BECF-5A26F1B1D504}"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1A96F0-5205-48E6-A6EA-704D0C8C76B9}" type="slidenum">
              <a:rPr lang="en-US" smtClean="0"/>
              <a:t>‹#›</a:t>
            </a:fld>
            <a:endParaRPr lang="en-US"/>
          </a:p>
        </p:txBody>
      </p:sp>
    </p:spTree>
    <p:extLst>
      <p:ext uri="{BB962C8B-B14F-4D97-AF65-F5344CB8AC3E}">
        <p14:creationId xmlns:p14="http://schemas.microsoft.com/office/powerpoint/2010/main" val="1920258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FC5E8ED-A83F-4152-BECF-5A26F1B1D504}" type="datetimeFigureOut">
              <a:rPr lang="en-US" smtClean="0"/>
              <a:t>4/16/2026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01A96F0-5205-48E6-A6EA-704D0C8C76B9}" type="slidenum">
              <a:rPr lang="en-US" smtClean="0"/>
              <a:t>‹#›</a:t>
            </a:fld>
            <a:endParaRPr lang="en-US"/>
          </a:p>
        </p:txBody>
      </p:sp>
    </p:spTree>
    <p:extLst>
      <p:ext uri="{BB962C8B-B14F-4D97-AF65-F5344CB8AC3E}">
        <p14:creationId xmlns:p14="http://schemas.microsoft.com/office/powerpoint/2010/main" val="28026941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FC5E8ED-A83F-4152-BECF-5A26F1B1D504}" type="datetimeFigureOut">
              <a:rPr lang="en-US" smtClean="0"/>
              <a:t>4/16/2026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01A96F0-5205-48E6-A6EA-704D0C8C76B9}" type="slidenum">
              <a:rPr lang="en-US" smtClean="0"/>
              <a:t>‹#›</a:t>
            </a:fld>
            <a:endParaRPr lang="en-US"/>
          </a:p>
        </p:txBody>
      </p:sp>
    </p:spTree>
    <p:extLst>
      <p:ext uri="{BB962C8B-B14F-4D97-AF65-F5344CB8AC3E}">
        <p14:creationId xmlns:p14="http://schemas.microsoft.com/office/powerpoint/2010/main" val="30937393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FC5E8ED-A83F-4152-BECF-5A26F1B1D504}" type="datetimeFigureOut">
              <a:rPr lang="en-US" smtClean="0"/>
              <a:t>4/16/2026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01A96F0-5205-48E6-A6EA-704D0C8C76B9}" type="slidenum">
              <a:rPr lang="en-US" smtClean="0"/>
              <a:t>‹#›</a:t>
            </a:fld>
            <a:endParaRPr lang="en-US"/>
          </a:p>
        </p:txBody>
      </p:sp>
    </p:spTree>
    <p:extLst>
      <p:ext uri="{BB962C8B-B14F-4D97-AF65-F5344CB8AC3E}">
        <p14:creationId xmlns:p14="http://schemas.microsoft.com/office/powerpoint/2010/main" val="5937758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FC5E8ED-A83F-4152-BECF-5A26F1B1D504}"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1A96F0-5205-48E6-A6EA-704D0C8C76B9}" type="slidenum">
              <a:rPr lang="en-US" smtClean="0"/>
              <a:t>‹#›</a:t>
            </a:fld>
            <a:endParaRPr lang="en-US"/>
          </a:p>
        </p:txBody>
      </p:sp>
    </p:spTree>
    <p:extLst>
      <p:ext uri="{BB962C8B-B14F-4D97-AF65-F5344CB8AC3E}">
        <p14:creationId xmlns:p14="http://schemas.microsoft.com/office/powerpoint/2010/main" val="3818113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FC5E8ED-A83F-4152-BECF-5A26F1B1D504}"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1A96F0-5205-48E6-A6EA-704D0C8C76B9}" type="slidenum">
              <a:rPr lang="en-US" smtClean="0"/>
              <a:t>‹#›</a:t>
            </a:fld>
            <a:endParaRPr lang="en-US"/>
          </a:p>
        </p:txBody>
      </p:sp>
    </p:spTree>
    <p:extLst>
      <p:ext uri="{BB962C8B-B14F-4D97-AF65-F5344CB8AC3E}">
        <p14:creationId xmlns:p14="http://schemas.microsoft.com/office/powerpoint/2010/main" val="38640129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FC5E8ED-A83F-4152-BECF-5A26F1B1D50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1A96F0-5205-48E6-A6EA-704D0C8C76B9}" type="slidenum">
              <a:rPr lang="en-US" smtClean="0"/>
              <a:t>‹#›</a:t>
            </a:fld>
            <a:endParaRPr lang="en-US"/>
          </a:p>
        </p:txBody>
      </p:sp>
    </p:spTree>
    <p:extLst>
      <p:ext uri="{BB962C8B-B14F-4D97-AF65-F5344CB8AC3E}">
        <p14:creationId xmlns:p14="http://schemas.microsoft.com/office/powerpoint/2010/main" val="7301462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FC5E8ED-A83F-4152-BECF-5A26F1B1D50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1A96F0-5205-48E6-A6EA-704D0C8C76B9}"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2750629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FC5E8ED-A83F-4152-BECF-5A26F1B1D50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1A96F0-5205-48E6-A6EA-704D0C8C76B9}" type="slidenum">
              <a:rPr lang="en-US" smtClean="0"/>
              <a:t>‹#›</a:t>
            </a:fld>
            <a:endParaRPr lang="en-US"/>
          </a:p>
        </p:txBody>
      </p:sp>
    </p:spTree>
    <p:extLst>
      <p:ext uri="{BB962C8B-B14F-4D97-AF65-F5344CB8AC3E}">
        <p14:creationId xmlns:p14="http://schemas.microsoft.com/office/powerpoint/2010/main" val="30515574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FC5E8ED-A83F-4152-BECF-5A26F1B1D50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1A96F0-5205-48E6-A6EA-704D0C8C76B9}"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577543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FC5E8ED-A83F-4152-BECF-5A26F1B1D50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1A96F0-5205-48E6-A6EA-704D0C8C76B9}" type="slidenum">
              <a:rPr lang="en-US" smtClean="0"/>
              <a:t>‹#›</a:t>
            </a:fld>
            <a:endParaRPr lang="en-US"/>
          </a:p>
        </p:txBody>
      </p:sp>
    </p:spTree>
    <p:extLst>
      <p:ext uri="{BB962C8B-B14F-4D97-AF65-F5344CB8AC3E}">
        <p14:creationId xmlns:p14="http://schemas.microsoft.com/office/powerpoint/2010/main" val="13837876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C5E8ED-A83F-4152-BECF-5A26F1B1D50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1A96F0-5205-48E6-A6EA-704D0C8C76B9}" type="slidenum">
              <a:rPr lang="en-US" smtClean="0"/>
              <a:t>‹#›</a:t>
            </a:fld>
            <a:endParaRPr lang="en-US"/>
          </a:p>
        </p:txBody>
      </p:sp>
    </p:spTree>
    <p:extLst>
      <p:ext uri="{BB962C8B-B14F-4D97-AF65-F5344CB8AC3E}">
        <p14:creationId xmlns:p14="http://schemas.microsoft.com/office/powerpoint/2010/main" val="32540572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C5E8ED-A83F-4152-BECF-5A26F1B1D50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1A96F0-5205-48E6-A6EA-704D0C8C76B9}" type="slidenum">
              <a:rPr lang="en-US" smtClean="0"/>
              <a:t>‹#›</a:t>
            </a:fld>
            <a:endParaRPr lang="en-US"/>
          </a:p>
        </p:txBody>
      </p:sp>
    </p:spTree>
    <p:extLst>
      <p:ext uri="{BB962C8B-B14F-4D97-AF65-F5344CB8AC3E}">
        <p14:creationId xmlns:p14="http://schemas.microsoft.com/office/powerpoint/2010/main" val="5155726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FC5E8ED-A83F-4152-BECF-5A26F1B1D504}" type="datetimeFigureOut">
              <a:rPr lang="en-US" smtClean="0"/>
              <a:t>4/16/2026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01A96F0-5205-48E6-A6EA-704D0C8C76B9}" type="slidenum">
              <a:rPr lang="en-US" smtClean="0"/>
              <a:t>‹#›</a:t>
            </a:fld>
            <a:endParaRPr lang="en-US"/>
          </a:p>
        </p:txBody>
      </p:sp>
    </p:spTree>
    <p:extLst>
      <p:ext uri="{BB962C8B-B14F-4D97-AF65-F5344CB8AC3E}">
        <p14:creationId xmlns:p14="http://schemas.microsoft.com/office/powerpoint/2010/main" val="15059718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Tree>
    <p:extLst>
      <p:ext uri="{BB962C8B-B14F-4D97-AF65-F5344CB8AC3E}">
        <p14:creationId xmlns:p14="http://schemas.microsoft.com/office/powerpoint/2010/main" val="42180456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700824"/>
          </a:xfrm>
        </p:spPr>
        <p:txBody>
          <a:bodyPr>
            <a:normAutofit/>
          </a:bodyPr>
          <a:lstStyle/>
          <a:p>
            <a:r>
              <a:rPr lang="en-US" dirty="0">
                <a:solidFill>
                  <a:schemeClr val="accent6">
                    <a:lumMod val="75000"/>
                  </a:schemeClr>
                </a:solidFill>
                <a:latin typeface="Arial" panose="020B0604020202020204" pitchFamily="34" charset="0"/>
                <a:cs typeface="Arial" panose="020B0604020202020204" pitchFamily="34" charset="0"/>
              </a:rPr>
              <a:t>DEMOCRACY IS BETTER THAN DICTATORSHIP OR OTHER FORMS OF GOVERNMENTS.</a:t>
            </a:r>
          </a:p>
        </p:txBody>
      </p:sp>
    </p:spTree>
    <p:extLst>
      <p:ext uri="{BB962C8B-B14F-4D97-AF65-F5344CB8AC3E}">
        <p14:creationId xmlns:p14="http://schemas.microsoft.com/office/powerpoint/2010/main" val="25472643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WHY IS DEMOCRACY A BETTER FORM OF GOVERNMENT ?</a:t>
            </a:r>
          </a:p>
        </p:txBody>
      </p:sp>
      <p:sp>
        <p:nvSpPr>
          <p:cNvPr id="3" name="Content Placeholder 2"/>
          <p:cNvSpPr>
            <a:spLocks noGrp="1"/>
          </p:cNvSpPr>
          <p:nvPr>
            <p:ph idx="1"/>
          </p:nvPr>
        </p:nvSpPr>
        <p:spPr/>
        <p:txBody>
          <a:bodyPr>
            <a:normAutofit fontScale="77500" lnSpcReduction="20000"/>
          </a:bodyPr>
          <a:lstStyle/>
          <a:p>
            <a:r>
              <a:rPr lang="en-US" sz="4000" dirty="0"/>
              <a:t>PROMOTES </a:t>
            </a:r>
            <a:r>
              <a:rPr lang="en-US" sz="4000" dirty="0">
                <a:solidFill>
                  <a:schemeClr val="accent6"/>
                </a:solidFill>
              </a:rPr>
              <a:t>EQUALITY</a:t>
            </a:r>
            <a:r>
              <a:rPr lang="en-US" sz="4000" dirty="0"/>
              <a:t> AMONG CITIZENS;</a:t>
            </a:r>
          </a:p>
          <a:p>
            <a:r>
              <a:rPr lang="en-US" sz="4000" dirty="0"/>
              <a:t>ENHANCES THE </a:t>
            </a:r>
            <a:r>
              <a:rPr lang="en-US" sz="4000" dirty="0">
                <a:solidFill>
                  <a:schemeClr val="accent6"/>
                </a:solidFill>
              </a:rPr>
              <a:t>DIGNITY </a:t>
            </a:r>
            <a:r>
              <a:rPr lang="en-US" sz="4000" dirty="0"/>
              <a:t>OF THE INDIVIDUAL;</a:t>
            </a:r>
          </a:p>
          <a:p>
            <a:r>
              <a:rPr lang="en-US" sz="4000" dirty="0"/>
              <a:t>IMPROVES THE </a:t>
            </a:r>
            <a:r>
              <a:rPr lang="en-US" sz="4000" dirty="0">
                <a:solidFill>
                  <a:schemeClr val="accent6"/>
                </a:solidFill>
              </a:rPr>
              <a:t>QUALITY</a:t>
            </a:r>
            <a:r>
              <a:rPr lang="en-US" sz="4000" dirty="0"/>
              <a:t> OF DECISION MAKING;</a:t>
            </a:r>
          </a:p>
          <a:p>
            <a:r>
              <a:rPr lang="en-US" sz="4000" dirty="0"/>
              <a:t>PROVIDES A METHOD TO </a:t>
            </a:r>
            <a:r>
              <a:rPr lang="en-US" sz="4000" dirty="0">
                <a:solidFill>
                  <a:schemeClr val="accent6"/>
                </a:solidFill>
              </a:rPr>
              <a:t>RESOLVE </a:t>
            </a:r>
            <a:r>
              <a:rPr lang="en-US" sz="4000" dirty="0"/>
              <a:t>CONFLICTS; AND </a:t>
            </a:r>
          </a:p>
          <a:p>
            <a:r>
              <a:rPr lang="en-US" sz="4000" dirty="0"/>
              <a:t>ALLOW </a:t>
            </a:r>
            <a:r>
              <a:rPr lang="en-US" sz="4000" dirty="0">
                <a:solidFill>
                  <a:schemeClr val="accent6"/>
                </a:solidFill>
              </a:rPr>
              <a:t>ROOM</a:t>
            </a:r>
            <a:r>
              <a:rPr lang="en-US" sz="4000" dirty="0"/>
              <a:t> TO CORRECT MISTAKES.</a:t>
            </a:r>
          </a:p>
          <a:p>
            <a:endParaRPr lang="en-US" sz="4000" dirty="0"/>
          </a:p>
        </p:txBody>
      </p:sp>
    </p:spTree>
    <p:extLst>
      <p:ext uri="{BB962C8B-B14F-4D97-AF65-F5344CB8AC3E}">
        <p14:creationId xmlns:p14="http://schemas.microsoft.com/office/powerpoint/2010/main" val="29994083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FF0000"/>
                </a:solidFill>
                <a:latin typeface="Arial" panose="020B0604020202020204" pitchFamily="34" charset="0"/>
                <a:cs typeface="Arial" panose="020B0604020202020204" pitchFamily="34" charset="0"/>
              </a:rPr>
              <a:t>PROMOTES EQUALITY AMONG CITIZENS</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7863" y="2372377"/>
            <a:ext cx="8596312" cy="3457859"/>
          </a:xfrm>
        </p:spPr>
      </p:pic>
    </p:spTree>
    <p:extLst>
      <p:ext uri="{BB962C8B-B14F-4D97-AF65-F5344CB8AC3E}">
        <p14:creationId xmlns:p14="http://schemas.microsoft.com/office/powerpoint/2010/main" val="21321035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FF0000"/>
                </a:solidFill>
                <a:latin typeface="Arial" panose="020B0604020202020204" pitchFamily="34" charset="0"/>
                <a:cs typeface="Arial" panose="020B0604020202020204" pitchFamily="34" charset="0"/>
              </a:rPr>
              <a:t>ENHANCES THE DIGNITY OF THE INDIVIDUAL</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7863" y="2330921"/>
            <a:ext cx="8596312" cy="3540771"/>
          </a:xfrm>
        </p:spPr>
      </p:pic>
    </p:spTree>
    <p:extLst>
      <p:ext uri="{BB962C8B-B14F-4D97-AF65-F5344CB8AC3E}">
        <p14:creationId xmlns:p14="http://schemas.microsoft.com/office/powerpoint/2010/main" val="9484635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IMPROVES THE QUALITY OF DECISION MAKING</a:t>
            </a:r>
          </a:p>
        </p:txBody>
      </p:sp>
      <p:pic>
        <p:nvPicPr>
          <p:cNvPr id="6" name="Content Placeholder 5"/>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838200" y="1918951"/>
            <a:ext cx="10121721" cy="4494727"/>
          </a:xfrm>
        </p:spPr>
      </p:pic>
    </p:spTree>
    <p:extLst>
      <p:ext uri="{BB962C8B-B14F-4D97-AF65-F5344CB8AC3E}">
        <p14:creationId xmlns:p14="http://schemas.microsoft.com/office/powerpoint/2010/main" val="25881604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FF0000"/>
                </a:solidFill>
                <a:latin typeface="Arial" panose="020B0604020202020204" pitchFamily="34" charset="0"/>
                <a:cs typeface="Arial" panose="020B0604020202020204" pitchFamily="34" charset="0"/>
              </a:rPr>
              <a:t>PROVIDES A METHOD TO RESOLVE CONFLICTS</a:t>
            </a:r>
            <a:br>
              <a:rPr lang="en-US" dirty="0">
                <a:solidFill>
                  <a:srgbClr val="FF0000"/>
                </a:solidFill>
                <a:latin typeface="Arial" panose="020B0604020202020204" pitchFamily="34" charset="0"/>
                <a:cs typeface="Arial" panose="020B0604020202020204" pitchFamily="34" charset="0"/>
              </a:rPr>
            </a:br>
            <a:endParaRPr lang="en-US" dirty="0">
              <a:solidFill>
                <a:srgbClr val="FF0000"/>
              </a:solidFill>
              <a:latin typeface="Arial" panose="020B0604020202020204" pitchFamily="34" charset="0"/>
              <a:cs typeface="Arial" panose="020B0604020202020204" pitchFamily="34"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32584" y="1690688"/>
            <a:ext cx="8886423" cy="4687909"/>
          </a:xfrm>
        </p:spPr>
      </p:pic>
    </p:spTree>
    <p:extLst>
      <p:ext uri="{BB962C8B-B14F-4D97-AF65-F5344CB8AC3E}">
        <p14:creationId xmlns:p14="http://schemas.microsoft.com/office/powerpoint/2010/main" val="33036765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FF0000"/>
                </a:solidFill>
                <a:latin typeface="Arial" panose="020B0604020202020204" pitchFamily="34" charset="0"/>
                <a:cs typeface="Arial" panose="020B0604020202020204" pitchFamily="34" charset="0"/>
              </a:rPr>
              <a:t>ALLOW ROOM TO CORRECT MISTAKES</a:t>
            </a:r>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068945" y="1825624"/>
            <a:ext cx="9427337" cy="4691085"/>
          </a:xfrm>
        </p:spPr>
      </p:pic>
    </p:spTree>
    <p:extLst>
      <p:ext uri="{BB962C8B-B14F-4D97-AF65-F5344CB8AC3E}">
        <p14:creationId xmlns:p14="http://schemas.microsoft.com/office/powerpoint/2010/main" val="5627598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What is accountable, responsive and legitimate government?</a:t>
            </a:r>
          </a:p>
        </p:txBody>
      </p:sp>
      <p:sp>
        <p:nvSpPr>
          <p:cNvPr id="3" name="Content Placeholder 2"/>
          <p:cNvSpPr>
            <a:spLocks noGrp="1"/>
          </p:cNvSpPr>
          <p:nvPr>
            <p:ph idx="1"/>
          </p:nvPr>
        </p:nvSpPr>
        <p:spPr/>
        <p:txBody>
          <a:bodyPr>
            <a:noAutofit/>
          </a:bodyPr>
          <a:lstStyle/>
          <a:p>
            <a:r>
              <a:rPr lang="en-US" sz="4000" dirty="0">
                <a:solidFill>
                  <a:schemeClr val="accent6"/>
                </a:solidFill>
                <a:latin typeface="Arial" panose="020B0604020202020204" pitchFamily="34" charset="0"/>
                <a:cs typeface="Arial" panose="020B0604020202020204" pitchFamily="34" charset="0"/>
              </a:rPr>
              <a:t>Accountable</a:t>
            </a:r>
          </a:p>
          <a:p>
            <a:pPr marL="0" indent="0">
              <a:buNone/>
            </a:pPr>
            <a:r>
              <a:rPr lang="en-US" sz="4000" dirty="0">
                <a:latin typeface="Arial" panose="020B0604020202020204" pitchFamily="34" charset="0"/>
                <a:cs typeface="Arial" panose="020B0604020202020204" pitchFamily="34" charset="0"/>
              </a:rPr>
              <a:t> In a democratic government, the working of the government machinery is transparent. It means a citizen can enquire if any decision was taken based on prescribed norms and procedures. Thus, a democratic government follows procedures and is </a:t>
            </a:r>
            <a:r>
              <a:rPr lang="en-US" sz="4000" b="1" dirty="0">
                <a:solidFill>
                  <a:schemeClr val="accent6"/>
                </a:solidFill>
                <a:latin typeface="Arial" panose="020B0604020202020204" pitchFamily="34" charset="0"/>
                <a:cs typeface="Arial" panose="020B0604020202020204" pitchFamily="34" charset="0"/>
              </a:rPr>
              <a:t>accountable</a:t>
            </a:r>
            <a:r>
              <a:rPr lang="en-US" sz="4000" b="1" dirty="0">
                <a:latin typeface="Arial" panose="020B0604020202020204" pitchFamily="34" charset="0"/>
                <a:cs typeface="Arial" panose="020B0604020202020204" pitchFamily="34" charset="0"/>
              </a:rPr>
              <a:t> </a:t>
            </a:r>
            <a:r>
              <a:rPr lang="en-US" sz="4000" dirty="0">
                <a:latin typeface="Arial" panose="020B0604020202020204" pitchFamily="34" charset="0"/>
                <a:cs typeface="Arial" panose="020B0604020202020204" pitchFamily="34" charset="0"/>
              </a:rPr>
              <a:t>to the people.</a:t>
            </a:r>
          </a:p>
        </p:txBody>
      </p:sp>
    </p:spTree>
    <p:extLst>
      <p:ext uri="{BB962C8B-B14F-4D97-AF65-F5344CB8AC3E}">
        <p14:creationId xmlns:p14="http://schemas.microsoft.com/office/powerpoint/2010/main" val="35789198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09411" y="936983"/>
            <a:ext cx="10515600" cy="4351338"/>
          </a:xfrm>
        </p:spPr>
        <p:txBody>
          <a:bodyPr>
            <a:noAutofit/>
          </a:bodyPr>
          <a:lstStyle/>
          <a:p>
            <a:r>
              <a:rPr lang="en-US" sz="4000" dirty="0"/>
              <a:t>People have the right to choose their  representatives and control them</a:t>
            </a:r>
          </a:p>
          <a:p>
            <a:r>
              <a:rPr lang="en-US" sz="4000" dirty="0"/>
              <a:t>Citizens have the rights and the means to examine the process of decision making that is the mechanism of transparency</a:t>
            </a:r>
          </a:p>
          <a:p>
            <a:r>
              <a:rPr lang="en-US" sz="4000" dirty="0"/>
              <a:t>Practices  and institutions like regular, free  and fair elections and open public debate</a:t>
            </a:r>
          </a:p>
          <a:p>
            <a:r>
              <a:rPr lang="en-US" sz="4000" dirty="0"/>
              <a:t>Citizens right to information about the government and its functioning</a:t>
            </a:r>
          </a:p>
        </p:txBody>
      </p:sp>
    </p:spTree>
    <p:extLst>
      <p:ext uri="{BB962C8B-B14F-4D97-AF65-F5344CB8AC3E}">
        <p14:creationId xmlns:p14="http://schemas.microsoft.com/office/powerpoint/2010/main" val="31332494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544"/>
            <a:ext cx="10515600" cy="1325563"/>
          </a:xfrm>
        </p:spPr>
        <p:txBody>
          <a:bodyPr/>
          <a:lstStyle/>
          <a:p>
            <a:r>
              <a:rPr lang="en-US" dirty="0">
                <a:solidFill>
                  <a:srgbClr val="FF0000"/>
                </a:solidFill>
              </a:rPr>
              <a:t>Negative Part of Accountable Democracy</a:t>
            </a:r>
          </a:p>
        </p:txBody>
      </p:sp>
      <p:sp>
        <p:nvSpPr>
          <p:cNvPr id="3" name="Content Placeholder 2"/>
          <p:cNvSpPr>
            <a:spLocks noGrp="1"/>
          </p:cNvSpPr>
          <p:nvPr>
            <p:ph idx="1"/>
          </p:nvPr>
        </p:nvSpPr>
        <p:spPr>
          <a:xfrm>
            <a:off x="838200" y="1027135"/>
            <a:ext cx="10515600" cy="4351338"/>
          </a:xfrm>
        </p:spPr>
        <p:txBody>
          <a:bodyPr>
            <a:normAutofit/>
          </a:bodyPr>
          <a:lstStyle/>
          <a:p>
            <a:r>
              <a:rPr lang="en-US" sz="3600" dirty="0"/>
              <a:t>Democracy produces </a:t>
            </a:r>
            <a:r>
              <a:rPr lang="en-US" sz="3600" dirty="0">
                <a:solidFill>
                  <a:schemeClr val="accent6"/>
                </a:solidFill>
              </a:rPr>
              <a:t>less effective government</a:t>
            </a:r>
          </a:p>
          <a:p>
            <a:r>
              <a:rPr lang="en-US" sz="3600" dirty="0"/>
              <a:t>In democracy decisions are </a:t>
            </a:r>
            <a:r>
              <a:rPr lang="en-US" sz="3600" dirty="0">
                <a:solidFill>
                  <a:schemeClr val="accent6"/>
                </a:solidFill>
              </a:rPr>
              <a:t>delayed</a:t>
            </a:r>
          </a:p>
          <a:p>
            <a:pPr marL="0" indent="0">
              <a:buNone/>
            </a:pPr>
            <a:endParaRPr lang="en-US" sz="3600" dirty="0"/>
          </a:p>
          <a:p>
            <a:pPr marL="0" indent="0">
              <a:buNone/>
            </a:pPr>
            <a:endParaRPr lang="en-US" sz="36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0158" y="2550017"/>
            <a:ext cx="8024611" cy="4307982"/>
          </a:xfrm>
          <a:prstGeom prst="rect">
            <a:avLst/>
          </a:prstGeom>
        </p:spPr>
      </p:pic>
    </p:spTree>
    <p:extLst>
      <p:ext uri="{BB962C8B-B14F-4D97-AF65-F5344CB8AC3E}">
        <p14:creationId xmlns:p14="http://schemas.microsoft.com/office/powerpoint/2010/main" val="34520388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JUSTIFICATION</a:t>
            </a:r>
            <a:br>
              <a:rPr lang="en-US" dirty="0">
                <a:solidFill>
                  <a:srgbClr val="FF0000"/>
                </a:solidFill>
              </a:rPr>
            </a:br>
            <a:endParaRPr lang="en-US" dirty="0">
              <a:solidFill>
                <a:srgbClr val="FF0000"/>
              </a:solidFill>
            </a:endParaRPr>
          </a:p>
        </p:txBody>
      </p:sp>
      <p:sp>
        <p:nvSpPr>
          <p:cNvPr id="3" name="Content Placeholder 2"/>
          <p:cNvSpPr>
            <a:spLocks noGrp="1"/>
          </p:cNvSpPr>
          <p:nvPr>
            <p:ph idx="1"/>
          </p:nvPr>
        </p:nvSpPr>
        <p:spPr>
          <a:xfrm>
            <a:off x="838200" y="1387743"/>
            <a:ext cx="10515600" cy="4351338"/>
          </a:xfrm>
        </p:spPr>
        <p:txBody>
          <a:bodyPr>
            <a:noAutofit/>
          </a:bodyPr>
          <a:lstStyle/>
          <a:p>
            <a:r>
              <a:rPr lang="en-US" sz="3600" dirty="0"/>
              <a:t>Some people think that democracy produces less effective government. other forms of governments do not have to think about majority opinions and deliberations, but democracy keeps in mind both hence it cannot be called a less effective government</a:t>
            </a:r>
          </a:p>
          <a:p>
            <a:r>
              <a:rPr lang="en-US" sz="3600" dirty="0"/>
              <a:t>Democracy is based on the idea of deliberation and negotiation so some delay is bound to take place and decision maybe both more acceptable and more effective the cost of time that democracy pays is perhaps worth it.</a:t>
            </a:r>
          </a:p>
          <a:p>
            <a:endParaRPr lang="en-US" sz="3600" dirty="0"/>
          </a:p>
        </p:txBody>
      </p:sp>
    </p:spTree>
    <p:extLst>
      <p:ext uri="{BB962C8B-B14F-4D97-AF65-F5344CB8AC3E}">
        <p14:creationId xmlns:p14="http://schemas.microsoft.com/office/powerpoint/2010/main" val="2349949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0"/>
            <a:ext cx="12312202" cy="6858000"/>
          </a:xfrm>
          <a:prstGeom prst="rect">
            <a:avLst/>
          </a:prstGeom>
        </p:spPr>
      </p:pic>
    </p:spTree>
    <p:extLst>
      <p:ext uri="{BB962C8B-B14F-4D97-AF65-F5344CB8AC3E}">
        <p14:creationId xmlns:p14="http://schemas.microsoft.com/office/powerpoint/2010/main" val="16562940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0927" y="1387742"/>
            <a:ext cx="10515600" cy="4351338"/>
          </a:xfrm>
        </p:spPr>
        <p:txBody>
          <a:bodyPr/>
          <a:lstStyle/>
          <a:p>
            <a:r>
              <a:rPr lang="en-US" sz="4400" dirty="0">
                <a:solidFill>
                  <a:schemeClr val="accent6"/>
                </a:solidFill>
                <a:latin typeface="Arial" panose="020B0604020202020204" pitchFamily="34" charset="0"/>
                <a:cs typeface="Arial" panose="020B0604020202020204" pitchFamily="34" charset="0"/>
              </a:rPr>
              <a:t>Responsive government</a:t>
            </a:r>
          </a:p>
          <a:p>
            <a:pPr marL="0" indent="0">
              <a:buNone/>
            </a:pPr>
            <a:r>
              <a:rPr lang="en-US" dirty="0">
                <a:latin typeface="Arial" panose="020B0604020202020204" pitchFamily="34" charset="0"/>
                <a:cs typeface="Arial" panose="020B0604020202020204" pitchFamily="34" charset="0"/>
              </a:rPr>
              <a:t> </a:t>
            </a:r>
            <a:r>
              <a:rPr lang="en-US" sz="4000" dirty="0">
                <a:latin typeface="Arial" panose="020B0604020202020204" pitchFamily="34" charset="0"/>
                <a:cs typeface="Arial" panose="020B0604020202020204" pitchFamily="34" charset="0"/>
              </a:rPr>
              <a:t>A government is said to be </a:t>
            </a:r>
            <a:r>
              <a:rPr lang="en-US" sz="4000" b="1" dirty="0">
                <a:solidFill>
                  <a:schemeClr val="accent6"/>
                </a:solidFill>
                <a:latin typeface="Arial" panose="020B0604020202020204" pitchFamily="34" charset="0"/>
                <a:cs typeface="Arial" panose="020B0604020202020204" pitchFamily="34" charset="0"/>
              </a:rPr>
              <a:t>responsive</a:t>
            </a:r>
            <a:r>
              <a:rPr lang="en-US" sz="4000" b="1" dirty="0">
                <a:latin typeface="Arial" panose="020B0604020202020204" pitchFamily="34" charset="0"/>
                <a:cs typeface="Arial" panose="020B0604020202020204" pitchFamily="34" charset="0"/>
              </a:rPr>
              <a:t> </a:t>
            </a:r>
            <a:r>
              <a:rPr lang="en-US" sz="4000" dirty="0">
                <a:latin typeface="Arial" panose="020B0604020202020204" pitchFamily="34" charset="0"/>
                <a:cs typeface="Arial" panose="020B0604020202020204" pitchFamily="34" charset="0"/>
              </a:rPr>
              <a:t>government when it responds to the demands of the public and considers it very much part of the government</a:t>
            </a:r>
            <a:r>
              <a:rPr lang="en-US"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3265172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92428"/>
            <a:ext cx="10515600" cy="5584535"/>
          </a:xfrm>
        </p:spPr>
        <p:txBody>
          <a:bodyPr>
            <a:normAutofit lnSpcReduction="10000"/>
          </a:bodyPr>
          <a:lstStyle/>
          <a:p>
            <a:r>
              <a:rPr lang="en-US" sz="3600" dirty="0">
                <a:latin typeface="Arial" panose="020B0604020202020204" pitchFamily="34" charset="0"/>
                <a:cs typeface="Arial" panose="020B0604020202020204" pitchFamily="34" charset="0"/>
              </a:rPr>
              <a:t>Responsible and responsive to the needs and expectations of the people</a:t>
            </a:r>
          </a:p>
          <a:p>
            <a:r>
              <a:rPr lang="en-US" sz="3600" dirty="0">
                <a:latin typeface="Arial" panose="020B0604020202020204" pitchFamily="34" charset="0"/>
                <a:cs typeface="Arial" panose="020B0604020202020204" pitchFamily="34" charset="0"/>
              </a:rPr>
              <a:t>It promotes the formation of public opinion and cares about the public opinion.</a:t>
            </a:r>
          </a:p>
          <a:p>
            <a:r>
              <a:rPr lang="en-US" sz="3600" dirty="0">
                <a:latin typeface="Arial" panose="020B0604020202020204" pitchFamily="34" charset="0"/>
                <a:cs typeface="Arial" panose="020B0604020202020204" pitchFamily="34" charset="0"/>
              </a:rPr>
              <a:t>Democracy is attentive to the needs and demands of the people</a:t>
            </a:r>
          </a:p>
          <a:p>
            <a:r>
              <a:rPr lang="en-US" sz="3600" dirty="0">
                <a:latin typeface="Arial" panose="020B0604020202020204" pitchFamily="34" charset="0"/>
                <a:cs typeface="Arial" panose="020B0604020202020204" pitchFamily="34" charset="0"/>
              </a:rPr>
              <a:t>it is expected that a democratic government is</a:t>
            </a:r>
          </a:p>
          <a:p>
            <a:pPr marL="0" indent="0">
              <a:buNone/>
            </a:pPr>
            <a:r>
              <a:rPr lang="en-US" sz="3600" dirty="0">
                <a:latin typeface="Arial" panose="020B0604020202020204" pitchFamily="34" charset="0"/>
                <a:cs typeface="Arial" panose="020B0604020202020204" pitchFamily="34" charset="0"/>
              </a:rPr>
              <a:t>   -Largely free from corruption</a:t>
            </a:r>
          </a:p>
          <a:p>
            <a:pPr marL="0" indent="0">
              <a:buNone/>
            </a:pPr>
            <a:r>
              <a:rPr lang="en-US" sz="3600" dirty="0">
                <a:latin typeface="Arial" panose="020B0604020202020204" pitchFamily="34" charset="0"/>
                <a:cs typeface="Arial" panose="020B0604020202020204" pitchFamily="34" charset="0"/>
              </a:rPr>
              <a:t>   - often sensitive to the people</a:t>
            </a:r>
          </a:p>
        </p:txBody>
      </p:sp>
    </p:spTree>
    <p:extLst>
      <p:ext uri="{BB962C8B-B14F-4D97-AF65-F5344CB8AC3E}">
        <p14:creationId xmlns:p14="http://schemas.microsoft.com/office/powerpoint/2010/main" val="34463267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latin typeface="Arial" panose="020B0604020202020204" pitchFamily="34" charset="0"/>
                <a:cs typeface="Arial" panose="020B0604020202020204" pitchFamily="34" charset="0"/>
              </a:rPr>
              <a:t>Negative part of responsive government</a:t>
            </a:r>
          </a:p>
        </p:txBody>
      </p:sp>
      <p:sp>
        <p:nvSpPr>
          <p:cNvPr id="3" name="Content Placeholder 2"/>
          <p:cNvSpPr>
            <a:spLocks noGrp="1"/>
          </p:cNvSpPr>
          <p:nvPr>
            <p:ph idx="1"/>
          </p:nvPr>
        </p:nvSpPr>
        <p:spPr/>
        <p:txBody>
          <a:bodyPr>
            <a:normAutofit fontScale="92500" lnSpcReduction="10000"/>
          </a:bodyPr>
          <a:lstStyle/>
          <a:p>
            <a:r>
              <a:rPr lang="en-US" sz="4000" dirty="0"/>
              <a:t>Most democracies fell </a:t>
            </a:r>
            <a:r>
              <a:rPr lang="en-US" sz="4000" dirty="0">
                <a:solidFill>
                  <a:schemeClr val="accent6"/>
                </a:solidFill>
              </a:rPr>
              <a:t>short of elections </a:t>
            </a:r>
            <a:r>
              <a:rPr lang="en-US" sz="4000" dirty="0"/>
              <a:t>that provide a fair chance to everyone and in every decision to public debate</a:t>
            </a:r>
          </a:p>
          <a:p>
            <a:r>
              <a:rPr lang="en-US" sz="4000" dirty="0"/>
              <a:t>Democratic governments do not have a </a:t>
            </a:r>
            <a:r>
              <a:rPr lang="en-US" sz="4000" dirty="0">
                <a:solidFill>
                  <a:schemeClr val="accent6"/>
                </a:solidFill>
              </a:rPr>
              <a:t>very good record </a:t>
            </a:r>
            <a:r>
              <a:rPr lang="en-US" sz="4000" dirty="0"/>
              <a:t>regarding sharing of information.</a:t>
            </a:r>
          </a:p>
        </p:txBody>
      </p:sp>
    </p:spTree>
    <p:extLst>
      <p:ext uri="{BB962C8B-B14F-4D97-AF65-F5344CB8AC3E}">
        <p14:creationId xmlns:p14="http://schemas.microsoft.com/office/powerpoint/2010/main" val="13296119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Justification</a:t>
            </a:r>
          </a:p>
        </p:txBody>
      </p:sp>
      <p:sp>
        <p:nvSpPr>
          <p:cNvPr id="3" name="Content Placeholder 2"/>
          <p:cNvSpPr>
            <a:spLocks noGrp="1"/>
          </p:cNvSpPr>
          <p:nvPr>
            <p:ph idx="1"/>
          </p:nvPr>
        </p:nvSpPr>
        <p:spPr/>
        <p:txBody>
          <a:bodyPr>
            <a:normAutofit/>
          </a:bodyPr>
          <a:lstStyle/>
          <a:p>
            <a:r>
              <a:rPr lang="en-US" sz="4000" dirty="0">
                <a:latin typeface="Arial" panose="020B0604020202020204" pitchFamily="34" charset="0"/>
                <a:cs typeface="Arial" panose="020B0604020202020204" pitchFamily="34" charset="0"/>
              </a:rPr>
              <a:t>All one can say is that democracies have had greater success in setting up regular and free elections. Thus, it is much better than any non-democratic regime in this respects.</a:t>
            </a:r>
          </a:p>
        </p:txBody>
      </p:sp>
    </p:spTree>
    <p:extLst>
      <p:ext uri="{BB962C8B-B14F-4D97-AF65-F5344CB8AC3E}">
        <p14:creationId xmlns:p14="http://schemas.microsoft.com/office/powerpoint/2010/main" val="31257357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73806" y="537738"/>
            <a:ext cx="10515600" cy="4351338"/>
          </a:xfrm>
        </p:spPr>
        <p:txBody>
          <a:bodyPr>
            <a:normAutofit/>
          </a:bodyPr>
          <a:lstStyle/>
          <a:p>
            <a:r>
              <a:rPr lang="en-US" sz="3200" dirty="0">
                <a:solidFill>
                  <a:schemeClr val="accent6"/>
                </a:solidFill>
                <a:latin typeface="Arial" panose="020B0604020202020204" pitchFamily="34" charset="0"/>
                <a:cs typeface="Arial" panose="020B0604020202020204" pitchFamily="34" charset="0"/>
              </a:rPr>
              <a:t>legitimate</a:t>
            </a:r>
          </a:p>
          <a:p>
            <a:pPr marL="0" indent="0">
              <a:buNone/>
            </a:pPr>
            <a:r>
              <a:rPr lang="en-US" sz="3200" dirty="0">
                <a:latin typeface="Arial" panose="020B0604020202020204" pitchFamily="34" charset="0"/>
                <a:cs typeface="Arial" panose="020B0604020202020204" pitchFamily="34" charset="0"/>
              </a:rPr>
              <a:t> The government is </a:t>
            </a:r>
            <a:r>
              <a:rPr lang="en-US" sz="3200" b="1" dirty="0">
                <a:solidFill>
                  <a:schemeClr val="accent6"/>
                </a:solidFill>
                <a:latin typeface="Arial" panose="020B0604020202020204" pitchFamily="34" charset="0"/>
                <a:cs typeface="Arial" panose="020B0604020202020204" pitchFamily="34" charset="0"/>
              </a:rPr>
              <a:t>legitimate</a:t>
            </a:r>
            <a:r>
              <a:rPr lang="en-US" sz="3200" b="1" dirty="0">
                <a:latin typeface="Arial" panose="020B0604020202020204" pitchFamily="34" charset="0"/>
                <a:cs typeface="Arial" panose="020B0604020202020204" pitchFamily="34" charset="0"/>
              </a:rPr>
              <a:t> </a:t>
            </a:r>
            <a:r>
              <a:rPr lang="en-US" sz="3200" dirty="0">
                <a:latin typeface="Arial" panose="020B0604020202020204" pitchFamily="34" charset="0"/>
                <a:cs typeface="Arial" panose="020B0604020202020204" pitchFamily="34" charset="0"/>
              </a:rPr>
              <a:t>if it is elected by the citizens of the country in free and fair elections.</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14400" y="2137893"/>
            <a:ext cx="10375006" cy="4172755"/>
          </a:xfrm>
          <a:prstGeom prst="rect">
            <a:avLst/>
          </a:prstGeom>
        </p:spPr>
      </p:pic>
    </p:spTree>
    <p:extLst>
      <p:ext uri="{BB962C8B-B14F-4D97-AF65-F5344CB8AC3E}">
        <p14:creationId xmlns:p14="http://schemas.microsoft.com/office/powerpoint/2010/main" val="27613666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48047" y="631065"/>
            <a:ext cx="10515600" cy="5396248"/>
          </a:xfrm>
        </p:spPr>
        <p:txBody>
          <a:bodyPr>
            <a:normAutofit/>
          </a:bodyPr>
          <a:lstStyle/>
          <a:p>
            <a:r>
              <a:rPr lang="en-US" sz="4000" dirty="0">
                <a:latin typeface="Arial" panose="020B0604020202020204" pitchFamily="34" charset="0"/>
                <a:cs typeface="Arial" panose="020B0604020202020204" pitchFamily="34" charset="0"/>
              </a:rPr>
              <a:t>Democracy is a government of the people</a:t>
            </a:r>
          </a:p>
          <a:p>
            <a:r>
              <a:rPr lang="en-US" sz="4000" dirty="0">
                <a:latin typeface="Arial" panose="020B0604020202020204" pitchFamily="34" charset="0"/>
                <a:cs typeface="Arial" panose="020B0604020202020204" pitchFamily="34" charset="0"/>
              </a:rPr>
              <a:t>The majority party or group of political parties forms the government</a:t>
            </a:r>
          </a:p>
          <a:p>
            <a:r>
              <a:rPr lang="en-US" sz="4000" dirty="0">
                <a:latin typeface="Arial" panose="020B0604020202020204" pitchFamily="34" charset="0"/>
                <a:cs typeface="Arial" panose="020B0604020202020204" pitchFamily="34" charset="0"/>
              </a:rPr>
              <a:t>Whenever possible and necessary citizens should be able to participate in decision making that affects them all </a:t>
            </a:r>
          </a:p>
          <a:p>
            <a:r>
              <a:rPr lang="en-US" sz="4000" dirty="0">
                <a:latin typeface="Arial" panose="020B0604020202020204" pitchFamily="34" charset="0"/>
                <a:cs typeface="Arial" panose="020B0604020202020204" pitchFamily="34" charset="0"/>
              </a:rPr>
              <a:t>It generates its own support to itself</a:t>
            </a:r>
          </a:p>
        </p:txBody>
      </p:sp>
    </p:spTree>
    <p:extLst>
      <p:ext uri="{BB962C8B-B14F-4D97-AF65-F5344CB8AC3E}">
        <p14:creationId xmlns:p14="http://schemas.microsoft.com/office/powerpoint/2010/main" val="10736313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latin typeface="Arial" panose="020B0604020202020204" pitchFamily="34" charset="0"/>
                <a:cs typeface="Arial" panose="020B0604020202020204" pitchFamily="34" charset="0"/>
              </a:rPr>
              <a:t>Negative part of legitimate government</a:t>
            </a:r>
          </a:p>
        </p:txBody>
      </p:sp>
      <p:sp>
        <p:nvSpPr>
          <p:cNvPr id="3" name="Content Placeholder 2"/>
          <p:cNvSpPr>
            <a:spLocks noGrp="1"/>
          </p:cNvSpPr>
          <p:nvPr>
            <p:ph idx="1"/>
          </p:nvPr>
        </p:nvSpPr>
        <p:spPr/>
        <p:txBody>
          <a:bodyPr>
            <a:normAutofit fontScale="92500" lnSpcReduction="20000"/>
          </a:bodyPr>
          <a:lstStyle/>
          <a:p>
            <a:r>
              <a:rPr lang="en-US" sz="4000" dirty="0">
                <a:latin typeface="Arial" panose="020B0604020202020204" pitchFamily="34" charset="0"/>
                <a:cs typeface="Arial" panose="020B0604020202020204" pitchFamily="34" charset="0"/>
              </a:rPr>
              <a:t>Democracies </a:t>
            </a:r>
            <a:r>
              <a:rPr lang="en-US" sz="4000" dirty="0">
                <a:solidFill>
                  <a:schemeClr val="accent6"/>
                </a:solidFill>
                <a:latin typeface="Arial" panose="020B0604020202020204" pitchFamily="34" charset="0"/>
                <a:cs typeface="Arial" panose="020B0604020202020204" pitchFamily="34" charset="0"/>
              </a:rPr>
              <a:t>often frustrate the needs  of the people and often ignore the demands </a:t>
            </a:r>
            <a:r>
              <a:rPr lang="en-US" sz="4000" dirty="0">
                <a:latin typeface="Arial" panose="020B0604020202020204" pitchFamily="34" charset="0"/>
                <a:cs typeface="Arial" panose="020B0604020202020204" pitchFamily="34" charset="0"/>
              </a:rPr>
              <a:t>of a majority of its population.</a:t>
            </a:r>
          </a:p>
          <a:p>
            <a:r>
              <a:rPr lang="en-US" sz="4000" dirty="0">
                <a:latin typeface="Arial" panose="020B0604020202020204" pitchFamily="34" charset="0"/>
                <a:cs typeface="Arial" panose="020B0604020202020204" pitchFamily="34" charset="0"/>
              </a:rPr>
              <a:t>There are routine tales of </a:t>
            </a:r>
            <a:r>
              <a:rPr lang="en-US" sz="4000" dirty="0">
                <a:solidFill>
                  <a:schemeClr val="accent6"/>
                </a:solidFill>
                <a:latin typeface="Arial" panose="020B0604020202020204" pitchFamily="34" charset="0"/>
                <a:cs typeface="Arial" panose="020B0604020202020204" pitchFamily="34" charset="0"/>
              </a:rPr>
              <a:t>corruption which convince us that democracy is not a clean </a:t>
            </a:r>
            <a:r>
              <a:rPr lang="en-US" sz="4000" dirty="0">
                <a:latin typeface="Arial" panose="020B0604020202020204" pitchFamily="34" charset="0"/>
                <a:cs typeface="Arial" panose="020B0604020202020204" pitchFamily="34" charset="0"/>
              </a:rPr>
              <a:t>and responsive government</a:t>
            </a:r>
          </a:p>
        </p:txBody>
      </p:sp>
    </p:spTree>
    <p:extLst>
      <p:ext uri="{BB962C8B-B14F-4D97-AF65-F5344CB8AC3E}">
        <p14:creationId xmlns:p14="http://schemas.microsoft.com/office/powerpoint/2010/main" val="19455829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latin typeface="Arial" panose="020B0604020202020204" pitchFamily="34" charset="0"/>
                <a:cs typeface="Arial" panose="020B0604020202020204" pitchFamily="34" charset="0"/>
              </a:rPr>
              <a:t>Justification</a:t>
            </a:r>
          </a:p>
        </p:txBody>
      </p:sp>
      <p:sp>
        <p:nvSpPr>
          <p:cNvPr id="3" name="Content Placeholder 2"/>
          <p:cNvSpPr>
            <a:spLocks noGrp="1"/>
          </p:cNvSpPr>
          <p:nvPr>
            <p:ph idx="1"/>
          </p:nvPr>
        </p:nvSpPr>
        <p:spPr/>
        <p:txBody>
          <a:bodyPr>
            <a:normAutofit fontScale="92500" lnSpcReduction="10000"/>
          </a:bodyPr>
          <a:lstStyle/>
          <a:p>
            <a:r>
              <a:rPr lang="en-US" sz="4000" dirty="0">
                <a:latin typeface="Arial" panose="020B0604020202020204" pitchFamily="34" charset="0"/>
                <a:cs typeface="Arial" panose="020B0604020202020204" pitchFamily="34" charset="0"/>
              </a:rPr>
              <a:t>Democracy may be slow, less </a:t>
            </a:r>
            <a:r>
              <a:rPr lang="en-US" sz="4000" dirty="0" err="1">
                <a:latin typeface="Arial" panose="020B0604020202020204" pitchFamily="34" charset="0"/>
                <a:cs typeface="Arial" panose="020B0604020202020204" pitchFamily="34" charset="0"/>
              </a:rPr>
              <a:t>efficient,not</a:t>
            </a:r>
            <a:r>
              <a:rPr lang="en-US" sz="4000" dirty="0">
                <a:latin typeface="Arial" panose="020B0604020202020204" pitchFamily="34" charset="0"/>
                <a:cs typeface="Arial" panose="020B0604020202020204" pitchFamily="34" charset="0"/>
              </a:rPr>
              <a:t> always responsive and clean but it is people's own </a:t>
            </a:r>
            <a:r>
              <a:rPr lang="en-US" sz="4000" dirty="0" err="1">
                <a:latin typeface="Arial" panose="020B0604020202020204" pitchFamily="34" charset="0"/>
                <a:cs typeface="Arial" panose="020B0604020202020204" pitchFamily="34" charset="0"/>
              </a:rPr>
              <a:t>government.For</a:t>
            </a:r>
            <a:r>
              <a:rPr lang="en-US" sz="4000" dirty="0">
                <a:latin typeface="Arial" panose="020B0604020202020204" pitchFamily="34" charset="0"/>
                <a:cs typeface="Arial" panose="020B0604020202020204" pitchFamily="34" charset="0"/>
              </a:rPr>
              <a:t> example The evidence of South Asian democratic regimes shows that democracy is a suitable government.</a:t>
            </a:r>
          </a:p>
        </p:txBody>
      </p:sp>
    </p:spTree>
    <p:extLst>
      <p:ext uri="{BB962C8B-B14F-4D97-AF65-F5344CB8AC3E}">
        <p14:creationId xmlns:p14="http://schemas.microsoft.com/office/powerpoint/2010/main" val="42730668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latin typeface="Arial" panose="020B0604020202020204" pitchFamily="34" charset="0"/>
                <a:cs typeface="Arial" panose="020B0604020202020204" pitchFamily="34" charset="0"/>
              </a:rPr>
              <a:t>ECONOMIC GROWTH AND DEVELOPMENT</a:t>
            </a:r>
          </a:p>
        </p:txBody>
      </p:sp>
      <p:pic>
        <p:nvPicPr>
          <p:cNvPr id="4" name="Content Placeholder 3"/>
          <p:cNvPicPr>
            <a:picLocks noGrp="1" noChangeAspect="1"/>
          </p:cNvPicPr>
          <p:nvPr>
            <p:ph idx="1"/>
          </p:nvPr>
        </p:nvPicPr>
        <p:blipFill>
          <a:blip r:embed="rId2"/>
          <a:stretch>
            <a:fillRect/>
          </a:stretch>
        </p:blipFill>
        <p:spPr>
          <a:xfrm>
            <a:off x="2388394" y="2160588"/>
            <a:ext cx="5175249" cy="3881437"/>
          </a:xfrm>
          <a:prstGeom prst="rect">
            <a:avLst/>
          </a:prstGeom>
        </p:spPr>
      </p:pic>
    </p:spTree>
    <p:extLst>
      <p:ext uri="{BB962C8B-B14F-4D97-AF65-F5344CB8AC3E}">
        <p14:creationId xmlns:p14="http://schemas.microsoft.com/office/powerpoint/2010/main" val="154064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latin typeface="Arial" panose="020B0604020202020204" pitchFamily="34" charset="0"/>
                <a:cs typeface="Arial" panose="020B0604020202020204" pitchFamily="34" charset="0"/>
              </a:rPr>
              <a:t>ECONOMIC GROWTH</a:t>
            </a:r>
          </a:p>
        </p:txBody>
      </p:sp>
      <p:sp>
        <p:nvSpPr>
          <p:cNvPr id="3" name="Content Placeholder 2"/>
          <p:cNvSpPr>
            <a:spLocks noGrp="1"/>
          </p:cNvSpPr>
          <p:nvPr>
            <p:ph idx="1"/>
          </p:nvPr>
        </p:nvSpPr>
        <p:spPr/>
        <p:txBody>
          <a:bodyPr/>
          <a:lstStyle/>
          <a:p>
            <a:r>
              <a:rPr lang="en-US" dirty="0"/>
              <a:t>The rate of economic growth in democracies is slow and gradual in the interest of people of the country</a:t>
            </a:r>
          </a:p>
          <a:p>
            <a:r>
              <a:rPr lang="en-US" dirty="0"/>
              <a:t>Democracy always seeks welfare and social economic equality</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71976" y="3433763"/>
            <a:ext cx="9118243" cy="3185978"/>
          </a:xfrm>
          <a:prstGeom prst="rect">
            <a:avLst/>
          </a:prstGeom>
        </p:spPr>
      </p:pic>
    </p:spTree>
    <p:extLst>
      <p:ext uri="{BB962C8B-B14F-4D97-AF65-F5344CB8AC3E}">
        <p14:creationId xmlns:p14="http://schemas.microsoft.com/office/powerpoint/2010/main" val="7142636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04733"/>
            <a:ext cx="10515600" cy="1325563"/>
          </a:xfrm>
        </p:spPr>
        <p:txBody>
          <a:bodyPr/>
          <a:lstStyle/>
          <a:p>
            <a:r>
              <a:rPr lang="en-US" dirty="0">
                <a:solidFill>
                  <a:srgbClr val="FF0000"/>
                </a:solidFill>
                <a:latin typeface="Arial" panose="020B0604020202020204" pitchFamily="34" charset="0"/>
                <a:cs typeface="Arial" panose="020B0604020202020204" pitchFamily="34" charset="0"/>
              </a:rPr>
              <a:t>Negative part of economic growth</a:t>
            </a:r>
          </a:p>
        </p:txBody>
      </p:sp>
      <p:sp>
        <p:nvSpPr>
          <p:cNvPr id="3" name="Content Placeholder 2"/>
          <p:cNvSpPr>
            <a:spLocks noGrp="1"/>
          </p:cNvSpPr>
          <p:nvPr>
            <p:ph idx="1"/>
          </p:nvPr>
        </p:nvSpPr>
        <p:spPr>
          <a:xfrm>
            <a:off x="838200" y="692285"/>
            <a:ext cx="10515600" cy="4351338"/>
          </a:xfrm>
        </p:spPr>
        <p:txBody>
          <a:bodyPr>
            <a:normAutofit/>
          </a:bodyPr>
          <a:lstStyle/>
          <a:p>
            <a:r>
              <a:rPr lang="en-US" sz="3600" dirty="0">
                <a:latin typeface="Arial" panose="020B0604020202020204" pitchFamily="34" charset="0"/>
                <a:cs typeface="Arial" panose="020B0604020202020204" pitchFamily="34" charset="0"/>
              </a:rPr>
              <a:t>If we consider all democracies and all dictatorship between 1950  and 2000, we will see that dictatorship have slightly higher rate of economic growth. The inability of democracy to achieve growth worries us.</a:t>
            </a:r>
          </a:p>
        </p:txBody>
      </p:sp>
      <p:pic>
        <p:nvPicPr>
          <p:cNvPr id="4" name="Picture 3"/>
          <p:cNvPicPr>
            <a:picLocks noChangeAspect="1"/>
          </p:cNvPicPr>
          <p:nvPr/>
        </p:nvPicPr>
        <p:blipFill>
          <a:blip r:embed="rId2"/>
          <a:stretch>
            <a:fillRect/>
          </a:stretch>
        </p:blipFill>
        <p:spPr>
          <a:xfrm>
            <a:off x="2331076" y="3191478"/>
            <a:ext cx="6129673" cy="3486217"/>
          </a:xfrm>
          <a:prstGeom prst="rect">
            <a:avLst/>
          </a:prstGeom>
        </p:spPr>
      </p:pic>
    </p:spTree>
    <p:extLst>
      <p:ext uri="{BB962C8B-B14F-4D97-AF65-F5344CB8AC3E}">
        <p14:creationId xmlns:p14="http://schemas.microsoft.com/office/powerpoint/2010/main" val="13312259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latin typeface="Arial" panose="020B0604020202020204" pitchFamily="34" charset="0"/>
                <a:cs typeface="Arial" panose="020B0604020202020204" pitchFamily="34" charset="0"/>
              </a:rPr>
              <a:t>Justification</a:t>
            </a:r>
          </a:p>
        </p:txBody>
      </p:sp>
      <p:sp>
        <p:nvSpPr>
          <p:cNvPr id="3" name="Content Placeholder 2"/>
          <p:cNvSpPr>
            <a:spLocks noGrp="1"/>
          </p:cNvSpPr>
          <p:nvPr>
            <p:ph idx="1"/>
          </p:nvPr>
        </p:nvSpPr>
        <p:spPr/>
        <p:txBody>
          <a:bodyPr>
            <a:normAutofit/>
          </a:bodyPr>
          <a:lstStyle/>
          <a:p>
            <a:r>
              <a:rPr lang="en-US" sz="4000" dirty="0">
                <a:latin typeface="Arial" panose="020B0604020202020204" pitchFamily="34" charset="0"/>
                <a:cs typeface="Arial" panose="020B0604020202020204" pitchFamily="34" charset="0"/>
              </a:rPr>
              <a:t>This alone cannot be the reason to reject democracy as when we find such significant difference in growth rate, it is better to prefer democracy as it has several other positive outcomes</a:t>
            </a:r>
          </a:p>
        </p:txBody>
      </p:sp>
    </p:spTree>
    <p:extLst>
      <p:ext uri="{BB962C8B-B14F-4D97-AF65-F5344CB8AC3E}">
        <p14:creationId xmlns:p14="http://schemas.microsoft.com/office/powerpoint/2010/main" val="31722776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latin typeface="Arial" panose="020B0604020202020204" pitchFamily="34" charset="0"/>
                <a:cs typeface="Arial" panose="020B0604020202020204" pitchFamily="34" charset="0"/>
              </a:rPr>
              <a:t>Economic development</a:t>
            </a:r>
          </a:p>
        </p:txBody>
      </p:sp>
      <p:sp>
        <p:nvSpPr>
          <p:cNvPr id="3" name="Content Placeholder 2"/>
          <p:cNvSpPr>
            <a:spLocks noGrp="1"/>
          </p:cNvSpPr>
          <p:nvPr>
            <p:ph idx="1"/>
          </p:nvPr>
        </p:nvSpPr>
        <p:spPr/>
        <p:txBody>
          <a:bodyPr>
            <a:normAutofit fontScale="85000" lnSpcReduction="10000"/>
          </a:bodyPr>
          <a:lstStyle/>
          <a:p>
            <a:r>
              <a:rPr lang="en-US" sz="4000" dirty="0">
                <a:latin typeface="Arial" panose="020B0604020202020204" pitchFamily="34" charset="0"/>
                <a:cs typeface="Arial" panose="020B0604020202020204" pitchFamily="34" charset="0"/>
              </a:rPr>
              <a:t>In democracies, economic development depends upon the factors like population size ,global situation ,co operation  and economic priorities.</a:t>
            </a:r>
          </a:p>
          <a:p>
            <a:r>
              <a:rPr lang="en-US" sz="4000" dirty="0">
                <a:latin typeface="Arial" panose="020B0604020202020204" pitchFamily="34" charset="0"/>
                <a:cs typeface="Arial" panose="020B0604020202020204" pitchFamily="34" charset="0"/>
              </a:rPr>
              <a:t>The difference in the rates of economic development in democracies and dictatorship is negligible</a:t>
            </a:r>
          </a:p>
        </p:txBody>
      </p:sp>
    </p:spTree>
    <p:extLst>
      <p:ext uri="{BB962C8B-B14F-4D97-AF65-F5344CB8AC3E}">
        <p14:creationId xmlns:p14="http://schemas.microsoft.com/office/powerpoint/2010/main" val="31687081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40913" y="167424"/>
            <a:ext cx="11423560" cy="6503831"/>
          </a:xfrm>
        </p:spPr>
      </p:pic>
    </p:spTree>
    <p:extLst>
      <p:ext uri="{BB962C8B-B14F-4D97-AF65-F5344CB8AC3E}">
        <p14:creationId xmlns:p14="http://schemas.microsoft.com/office/powerpoint/2010/main" val="37097397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latin typeface="Arial" panose="020B0604020202020204" pitchFamily="34" charset="0"/>
                <a:cs typeface="Arial" panose="020B0604020202020204" pitchFamily="34" charset="0"/>
              </a:rPr>
              <a:t>Negative part of economic development</a:t>
            </a:r>
          </a:p>
        </p:txBody>
      </p:sp>
      <p:sp>
        <p:nvSpPr>
          <p:cNvPr id="3" name="Content Placeholder 2"/>
          <p:cNvSpPr>
            <a:spLocks noGrp="1"/>
          </p:cNvSpPr>
          <p:nvPr>
            <p:ph idx="1"/>
          </p:nvPr>
        </p:nvSpPr>
        <p:spPr/>
        <p:txBody>
          <a:bodyPr>
            <a:normAutofit/>
          </a:bodyPr>
          <a:lstStyle/>
          <a:p>
            <a:r>
              <a:rPr lang="en-US" sz="4400" dirty="0">
                <a:latin typeface="Arial" panose="020B0604020202020204" pitchFamily="34" charset="0"/>
                <a:cs typeface="Arial" panose="020B0604020202020204" pitchFamily="34" charset="0"/>
              </a:rPr>
              <a:t>Evidence shows that in practice democracy cannot guarantee high economic development</a:t>
            </a:r>
          </a:p>
        </p:txBody>
      </p:sp>
    </p:spTree>
    <p:extLst>
      <p:ext uri="{BB962C8B-B14F-4D97-AF65-F5344CB8AC3E}">
        <p14:creationId xmlns:p14="http://schemas.microsoft.com/office/powerpoint/2010/main" val="18857828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latin typeface="Arial" panose="020B0604020202020204" pitchFamily="34" charset="0"/>
                <a:cs typeface="Arial" panose="020B0604020202020204" pitchFamily="34" charset="0"/>
              </a:rPr>
              <a:t>Justification</a:t>
            </a:r>
          </a:p>
        </p:txBody>
      </p:sp>
      <p:sp>
        <p:nvSpPr>
          <p:cNvPr id="3" name="Content Placeholder 2"/>
          <p:cNvSpPr>
            <a:spLocks noGrp="1"/>
          </p:cNvSpPr>
          <p:nvPr>
            <p:ph idx="1"/>
          </p:nvPr>
        </p:nvSpPr>
        <p:spPr/>
        <p:txBody>
          <a:bodyPr>
            <a:normAutofit fontScale="92500" lnSpcReduction="10000"/>
          </a:bodyPr>
          <a:lstStyle/>
          <a:p>
            <a:r>
              <a:rPr lang="en-US" sz="4000" dirty="0"/>
              <a:t>We do accept the fact  of low economic development in democracy but we can expect democracy not to lag behind dictatorship in this respect.</a:t>
            </a:r>
          </a:p>
          <a:p>
            <a:r>
              <a:rPr lang="en-US" sz="4000" dirty="0"/>
              <a:t>It is better to prefer democracy as it has several other positive outcomes.</a:t>
            </a:r>
          </a:p>
        </p:txBody>
      </p:sp>
    </p:spTree>
    <p:extLst>
      <p:ext uri="{BB962C8B-B14F-4D97-AF65-F5344CB8AC3E}">
        <p14:creationId xmlns:p14="http://schemas.microsoft.com/office/powerpoint/2010/main" val="8552109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latin typeface="Arial" panose="020B0604020202020204" pitchFamily="34" charset="0"/>
                <a:cs typeface="Arial" panose="020B0604020202020204" pitchFamily="34" charset="0"/>
              </a:rPr>
              <a:t>Reduction in inequality of poverty</a:t>
            </a:r>
          </a:p>
        </p:txBody>
      </p:sp>
      <p:sp>
        <p:nvSpPr>
          <p:cNvPr id="3" name="Content Placeholder 2"/>
          <p:cNvSpPr>
            <a:spLocks noGrp="1"/>
          </p:cNvSpPr>
          <p:nvPr>
            <p:ph idx="1"/>
          </p:nvPr>
        </p:nvSpPr>
        <p:spPr/>
        <p:txBody>
          <a:bodyPr>
            <a:normAutofit/>
          </a:bodyPr>
          <a:lstStyle/>
          <a:p>
            <a:r>
              <a:rPr lang="en-US" sz="4000" dirty="0">
                <a:latin typeface="Arial" panose="020B0604020202020204" pitchFamily="34" charset="0"/>
                <a:cs typeface="Arial" panose="020B0604020202020204" pitchFamily="34" charset="0"/>
              </a:rPr>
              <a:t>It is expected from democracy to reduce economic disparities.</a:t>
            </a:r>
          </a:p>
          <a:p>
            <a:r>
              <a:rPr lang="en-US" sz="4000" dirty="0">
                <a:latin typeface="Arial" panose="020B0604020202020204" pitchFamily="34" charset="0"/>
                <a:cs typeface="Arial" panose="020B0604020202020204" pitchFamily="34" charset="0"/>
              </a:rPr>
              <a:t>Democracies ensure just distribution of goods, incomes and opportunities</a:t>
            </a:r>
          </a:p>
        </p:txBody>
      </p:sp>
    </p:spTree>
    <p:extLst>
      <p:ext uri="{BB962C8B-B14F-4D97-AF65-F5344CB8AC3E}">
        <p14:creationId xmlns:p14="http://schemas.microsoft.com/office/powerpoint/2010/main" val="26112429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latin typeface="Arial" panose="020B0604020202020204" pitchFamily="34" charset="0"/>
                <a:cs typeface="Arial" panose="020B0604020202020204" pitchFamily="34" charset="0"/>
              </a:rPr>
              <a:t>Negative part of reduction in inequality of poverty</a:t>
            </a:r>
          </a:p>
        </p:txBody>
      </p:sp>
      <p:sp>
        <p:nvSpPr>
          <p:cNvPr id="3" name="Content Placeholder 2"/>
          <p:cNvSpPr>
            <a:spLocks noGrp="1"/>
          </p:cNvSpPr>
          <p:nvPr>
            <p:ph idx="1"/>
          </p:nvPr>
        </p:nvSpPr>
        <p:spPr/>
        <p:txBody>
          <a:bodyPr>
            <a:noAutofit/>
          </a:bodyPr>
          <a:lstStyle/>
          <a:p>
            <a:r>
              <a:rPr lang="en-US" sz="3200" dirty="0"/>
              <a:t>We find growing economics inequalities in democracy.</a:t>
            </a:r>
          </a:p>
          <a:p>
            <a:r>
              <a:rPr lang="en-US" sz="3200" dirty="0"/>
              <a:t>In actual life, democracies do not appear to be very successful in eliminating poverty.</a:t>
            </a:r>
          </a:p>
          <a:p>
            <a:r>
              <a:rPr lang="en-US" sz="3200" dirty="0"/>
              <a:t>A small number of ultra rich enjoy a highly disproportionate share of wealth and income, the have- </a:t>
            </a:r>
            <a:r>
              <a:rPr lang="en-US" sz="3200" dirty="0" err="1"/>
              <a:t>nots</a:t>
            </a:r>
            <a:r>
              <a:rPr lang="en-US" sz="3200" dirty="0"/>
              <a:t>  have very little to depend upon.</a:t>
            </a:r>
          </a:p>
          <a:p>
            <a:r>
              <a:rPr lang="en-US" sz="3200" dirty="0"/>
              <a:t>In Bangladesh, more than half of the population leaves in poverty.</a:t>
            </a:r>
          </a:p>
          <a:p>
            <a:r>
              <a:rPr lang="en-US" sz="3200" dirty="0"/>
              <a:t>Several poor countries are  dependent on the rich countries for their basic needs.</a:t>
            </a:r>
          </a:p>
        </p:txBody>
      </p:sp>
    </p:spTree>
    <p:extLst>
      <p:ext uri="{BB962C8B-B14F-4D97-AF65-F5344CB8AC3E}">
        <p14:creationId xmlns:p14="http://schemas.microsoft.com/office/powerpoint/2010/main" val="10774321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latin typeface="Arial" panose="020B0604020202020204" pitchFamily="34" charset="0"/>
                <a:cs typeface="Arial" panose="020B0604020202020204" pitchFamily="34" charset="0"/>
              </a:rPr>
              <a:t>Justification</a:t>
            </a:r>
          </a:p>
        </p:txBody>
      </p:sp>
      <p:sp>
        <p:nvSpPr>
          <p:cNvPr id="3" name="Content Placeholder 2"/>
          <p:cNvSpPr>
            <a:spLocks noGrp="1"/>
          </p:cNvSpPr>
          <p:nvPr>
            <p:ph idx="1"/>
          </p:nvPr>
        </p:nvSpPr>
        <p:spPr/>
        <p:txBody>
          <a:bodyPr>
            <a:normAutofit/>
          </a:bodyPr>
          <a:lstStyle/>
          <a:p>
            <a:r>
              <a:rPr lang="en-US" sz="4000" dirty="0">
                <a:latin typeface="Arial" panose="020B0604020202020204" pitchFamily="34" charset="0"/>
                <a:cs typeface="Arial" panose="020B0604020202020204" pitchFamily="34" charset="0"/>
              </a:rPr>
              <a:t>Democracies lead to a just distribution of goods and opportunities. If democracy cannot completely eliminate poverty, at least it tries to reduce poverty ratio with welfare policies and programs.</a:t>
            </a:r>
          </a:p>
        </p:txBody>
      </p:sp>
    </p:spTree>
    <p:extLst>
      <p:ext uri="{BB962C8B-B14F-4D97-AF65-F5344CB8AC3E}">
        <p14:creationId xmlns:p14="http://schemas.microsoft.com/office/powerpoint/2010/main" val="1584634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1393"/>
            <a:ext cx="10515600" cy="1325563"/>
          </a:xfrm>
        </p:spPr>
        <p:txBody>
          <a:bodyPr/>
          <a:lstStyle/>
          <a:p>
            <a:r>
              <a:rPr lang="en-US" dirty="0">
                <a:solidFill>
                  <a:srgbClr val="FF0000"/>
                </a:solidFill>
                <a:latin typeface="Arial" panose="020B0604020202020204" pitchFamily="34" charset="0"/>
                <a:cs typeface="Arial" panose="020B0604020202020204" pitchFamily="34" charset="0"/>
              </a:rPr>
              <a:t>Accommodation of social diversity.</a:t>
            </a:r>
          </a:p>
        </p:txBody>
      </p:sp>
      <p:sp>
        <p:nvSpPr>
          <p:cNvPr id="3" name="Content Placeholder 2"/>
          <p:cNvSpPr>
            <a:spLocks noGrp="1"/>
          </p:cNvSpPr>
          <p:nvPr>
            <p:ph idx="1"/>
          </p:nvPr>
        </p:nvSpPr>
        <p:spPr>
          <a:xfrm>
            <a:off x="838200" y="975620"/>
            <a:ext cx="10515600" cy="4351338"/>
          </a:xfrm>
        </p:spPr>
        <p:txBody>
          <a:bodyPr>
            <a:noAutofit/>
          </a:bodyPr>
          <a:lstStyle/>
          <a:p>
            <a:r>
              <a:rPr lang="en-US" sz="3600" dirty="0"/>
              <a:t>Democracies ensure peaceful and harmonious life to citizens.</a:t>
            </a:r>
          </a:p>
          <a:p>
            <a:r>
              <a:rPr lang="en-US" sz="3600" dirty="0"/>
              <a:t>Democracy usually develops procedure to conduct a competition which reduces the possibility of social tension becoming explosive or violent.</a:t>
            </a:r>
          </a:p>
          <a:p>
            <a:r>
              <a:rPr lang="en-US" sz="3600" dirty="0"/>
              <a:t>Democratic regime have the ability to handle social difference, divisions and conflicts through the provision of accommodation, reservation and special privileges.</a:t>
            </a:r>
          </a:p>
          <a:p>
            <a:r>
              <a:rPr lang="en-US" sz="3600" dirty="0"/>
              <a:t>Democracy evolves new mechanism to negotiate.</a:t>
            </a:r>
          </a:p>
        </p:txBody>
      </p:sp>
    </p:spTree>
    <p:extLst>
      <p:ext uri="{BB962C8B-B14F-4D97-AF65-F5344CB8AC3E}">
        <p14:creationId xmlns:p14="http://schemas.microsoft.com/office/powerpoint/2010/main" val="32108041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654" y="0"/>
            <a:ext cx="10515600" cy="1325563"/>
          </a:xfrm>
        </p:spPr>
        <p:txBody>
          <a:bodyPr/>
          <a:lstStyle/>
          <a:p>
            <a:r>
              <a:rPr lang="en-US" dirty="0">
                <a:solidFill>
                  <a:srgbClr val="FF0000"/>
                </a:solidFill>
              </a:rPr>
              <a:t>Dignity and freedom of the citizens.</a:t>
            </a:r>
          </a:p>
        </p:txBody>
      </p:sp>
      <p:sp>
        <p:nvSpPr>
          <p:cNvPr id="3" name="Content Placeholder 2"/>
          <p:cNvSpPr>
            <a:spLocks noGrp="1"/>
          </p:cNvSpPr>
          <p:nvPr>
            <p:ph idx="1"/>
          </p:nvPr>
        </p:nvSpPr>
        <p:spPr>
          <a:xfrm>
            <a:off x="683654" y="1542290"/>
            <a:ext cx="10515600" cy="4351338"/>
          </a:xfrm>
        </p:spPr>
        <p:txBody>
          <a:bodyPr>
            <a:noAutofit/>
          </a:bodyPr>
          <a:lstStyle/>
          <a:p>
            <a:r>
              <a:rPr lang="en-US" sz="3200" dirty="0">
                <a:latin typeface="Arial" panose="020B0604020202020204" pitchFamily="34" charset="0"/>
                <a:cs typeface="Arial" panose="020B0604020202020204" pitchFamily="34" charset="0"/>
              </a:rPr>
              <a:t>Democracy stands much superior to any form of government in promoting dignity and freedom of the individuals.</a:t>
            </a:r>
          </a:p>
          <a:p>
            <a:r>
              <a:rPr lang="en-US" sz="3200" dirty="0">
                <a:latin typeface="Arial" panose="020B0604020202020204" pitchFamily="34" charset="0"/>
                <a:cs typeface="Arial" panose="020B0604020202020204" pitchFamily="34" charset="0"/>
              </a:rPr>
              <a:t>The passion for respect and freedom are the basis of democracy.</a:t>
            </a:r>
          </a:p>
          <a:p>
            <a:r>
              <a:rPr lang="en-US" sz="3200" dirty="0">
                <a:latin typeface="Arial" panose="020B0604020202020204" pitchFamily="34" charset="0"/>
                <a:cs typeface="Arial" panose="020B0604020202020204" pitchFamily="34" charset="0"/>
              </a:rPr>
              <a:t>Democracy ensures dignity of women. Equal treatment and equal respect are the ingredients of a democratic society.</a:t>
            </a:r>
          </a:p>
        </p:txBody>
      </p:sp>
    </p:spTree>
    <p:extLst>
      <p:ext uri="{BB962C8B-B14F-4D97-AF65-F5344CB8AC3E}">
        <p14:creationId xmlns:p14="http://schemas.microsoft.com/office/powerpoint/2010/main" val="30792494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73806" y="1477896"/>
            <a:ext cx="10515600" cy="4351338"/>
          </a:xfrm>
        </p:spPr>
        <p:txBody>
          <a:bodyPr>
            <a:normAutofit lnSpcReduction="10000"/>
          </a:bodyPr>
          <a:lstStyle/>
          <a:p>
            <a:r>
              <a:rPr lang="en-US" sz="4000" dirty="0">
                <a:latin typeface="Arial" panose="020B0604020202020204" pitchFamily="34" charset="0"/>
                <a:cs typeface="Arial" panose="020B0604020202020204" pitchFamily="34" charset="0"/>
              </a:rPr>
              <a:t>The principle of individual freedom and dignity have legal and moral force in democracy.</a:t>
            </a:r>
          </a:p>
          <a:p>
            <a:r>
              <a:rPr lang="en-US" sz="4000" dirty="0">
                <a:latin typeface="Arial" panose="020B0604020202020204" pitchFamily="34" charset="0"/>
                <a:cs typeface="Arial" panose="020B0604020202020204" pitchFamily="34" charset="0"/>
              </a:rPr>
              <a:t>Democracy in India has strengthened the claims of the disadvantaged and discriminated caste for equal status and equal opportunities.</a:t>
            </a:r>
          </a:p>
          <a:p>
            <a:endParaRPr lang="en-US" sz="4000" dirty="0"/>
          </a:p>
        </p:txBody>
      </p:sp>
    </p:spTree>
    <p:extLst>
      <p:ext uri="{BB962C8B-B14F-4D97-AF65-F5344CB8AC3E}">
        <p14:creationId xmlns:p14="http://schemas.microsoft.com/office/powerpoint/2010/main" val="35431481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67743" y="1336227"/>
            <a:ext cx="10515600" cy="4351338"/>
          </a:xfrm>
        </p:spPr>
        <p:txBody>
          <a:bodyPr>
            <a:noAutofit/>
          </a:bodyPr>
          <a:lstStyle/>
          <a:p>
            <a:r>
              <a:rPr lang="en-US" sz="4000" dirty="0">
                <a:latin typeface="Arial" panose="020B0604020202020204" pitchFamily="34" charset="0"/>
                <a:cs typeface="Arial" panose="020B0604020202020204" pitchFamily="34" charset="0"/>
              </a:rPr>
              <a:t>The most distinctive feature about democracy is that it's examination never gets over.</a:t>
            </a:r>
          </a:p>
          <a:p>
            <a:r>
              <a:rPr lang="en-US" sz="4000" dirty="0">
                <a:latin typeface="Arial" panose="020B0604020202020204" pitchFamily="34" charset="0"/>
                <a:cs typeface="Arial" panose="020B0604020202020204" pitchFamily="34" charset="0"/>
              </a:rPr>
              <a:t>As people get some benefits they ask for more.</a:t>
            </a:r>
          </a:p>
          <a:p>
            <a:r>
              <a:rPr lang="en-US" sz="4000" dirty="0">
                <a:latin typeface="Arial" panose="020B0604020202020204" pitchFamily="34" charset="0"/>
                <a:cs typeface="Arial" panose="020B0604020202020204" pitchFamily="34" charset="0"/>
              </a:rPr>
              <a:t>People always come up with more expectations and many complaints.</a:t>
            </a:r>
          </a:p>
          <a:p>
            <a:pPr marL="0" indent="0">
              <a:buNone/>
            </a:pPr>
            <a:endParaRPr lang="en-US" sz="4000" dirty="0">
              <a:latin typeface="Arial" panose="020B0604020202020204" pitchFamily="34" charset="0"/>
              <a:cs typeface="Arial" panose="020B0604020202020204" pitchFamily="34" charset="0"/>
            </a:endParaRPr>
          </a:p>
          <a:p>
            <a:endParaRPr lang="en-US" sz="4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160205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4000" dirty="0">
                <a:latin typeface="Arial" panose="020B0604020202020204" pitchFamily="34" charset="0"/>
                <a:cs typeface="Arial" panose="020B0604020202020204" pitchFamily="34" charset="0"/>
              </a:rPr>
              <a:t>The fact the people are complaining is itself a testimony to the success of democracy.</a:t>
            </a:r>
          </a:p>
          <a:p>
            <a:r>
              <a:rPr lang="en-US" sz="4000" dirty="0">
                <a:latin typeface="Arial" panose="020B0604020202020204" pitchFamily="34" charset="0"/>
                <a:cs typeface="Arial" panose="020B0604020202020204" pitchFamily="34" charset="0"/>
              </a:rPr>
              <a:t> It transforms people from the status of subjects into that of citizens</a:t>
            </a:r>
            <a:endParaRPr lang="en-US" sz="4000" dirty="0"/>
          </a:p>
        </p:txBody>
      </p:sp>
    </p:spTree>
    <p:extLst>
      <p:ext uri="{BB962C8B-B14F-4D97-AF65-F5344CB8AC3E}">
        <p14:creationId xmlns:p14="http://schemas.microsoft.com/office/powerpoint/2010/main" val="63178116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1349</TotalTime>
  <Words>1159</Words>
  <Application>Microsoft Office PowerPoint</Application>
  <PresentationFormat>Widescreen</PresentationFormat>
  <Paragraphs>92</Paragraphs>
  <Slides>37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37</vt:i4>
      </vt:variant>
    </vt:vector>
  </HeadingPairs>
  <TitlesOfParts>
    <vt:vector size="41" baseType="lpstr">
      <vt:lpstr>Arial</vt:lpstr>
      <vt:lpstr>Trebuchet MS</vt:lpstr>
      <vt:lpstr>Wingdings 3</vt:lpstr>
      <vt:lpstr>Facet</vt:lpstr>
      <vt:lpstr>PowerPoint Presentation</vt:lpstr>
      <vt:lpstr>DEMOCRACY IS BETTER THAN DICTATORSHIP OR OTHER FORMS OF GOVERNMENTS.</vt:lpstr>
      <vt:lpstr>WHY IS DEMOCRACY A BETTER FORM OF GOVERNMENT ?</vt:lpstr>
      <vt:lpstr>PROMOTES EQUALITY AMONG CITIZENS</vt:lpstr>
      <vt:lpstr>ENHANCES THE DIGNITY OF THE INDIVIDUAL</vt:lpstr>
      <vt:lpstr>IMPROVES THE QUALITY OF DECISION MAKING</vt:lpstr>
      <vt:lpstr>PROVIDES A METHOD TO RESOLVE CONFLICTS </vt:lpstr>
      <vt:lpstr>ALLOW ROOM TO CORRECT MISTAKES</vt:lpstr>
      <vt:lpstr>What is accountable, responsive and legitimate government?</vt:lpstr>
      <vt:lpstr>PowerPoint Presentation</vt:lpstr>
      <vt:lpstr>Negative Part of Accountable Democracy</vt:lpstr>
      <vt:lpstr>JUSTIFICATION </vt:lpstr>
      <vt:lpstr>PowerPoint Presentation</vt:lpstr>
      <vt:lpstr>PowerPoint Presentation</vt:lpstr>
      <vt:lpstr>PowerPoint Presentation</vt:lpstr>
      <vt:lpstr>Negative part of responsive government</vt:lpstr>
      <vt:lpstr>Justification</vt:lpstr>
      <vt:lpstr>PowerPoint Presentation</vt:lpstr>
      <vt:lpstr>PowerPoint Presentation</vt:lpstr>
      <vt:lpstr>Negative part of legitimate government</vt:lpstr>
      <vt:lpstr>Justification</vt:lpstr>
      <vt:lpstr>ECONOMIC GROWTH AND DEVELOPMENT</vt:lpstr>
      <vt:lpstr>ECONOMIC GROWTH</vt:lpstr>
      <vt:lpstr>Negative part of economic growth</vt:lpstr>
      <vt:lpstr>Justification</vt:lpstr>
      <vt:lpstr>Economic development</vt:lpstr>
      <vt:lpstr>PowerPoint Presentation</vt:lpstr>
      <vt:lpstr>Negative part of economic development</vt:lpstr>
      <vt:lpstr>Justification</vt:lpstr>
      <vt:lpstr>Reduction in inequality of poverty</vt:lpstr>
      <vt:lpstr>Negative part of reduction in inequality of poverty</vt:lpstr>
      <vt:lpstr>Justification</vt:lpstr>
      <vt:lpstr>Accommodation of social diversity.</vt:lpstr>
      <vt:lpstr>Dignity and freedom of the citizens.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JNVH-17</dc:creator>
  <cp:lastModifiedBy>devyanigautam1371@outlook.com</cp:lastModifiedBy>
  <cp:revision>38</cp:revision>
  <dcterms:created xsi:type="dcterms:W3CDTF">2020-06-24T12:56:00Z</dcterms:created>
  <dcterms:modified xsi:type="dcterms:W3CDTF">2026-04-16T06:12:47Z</dcterms:modified>
</cp:coreProperties>
</file>