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a" ContentType="audio/x-ms-wma"/>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3"/>
  </p:notesMasterIdLst>
  <p:sldIdLst>
    <p:sldId id="262" r:id="rId2"/>
    <p:sldId id="263" r:id="rId3"/>
    <p:sldId id="264" r:id="rId4"/>
    <p:sldId id="266" r:id="rId5"/>
    <p:sldId id="267" r:id="rId6"/>
    <p:sldId id="270" r:id="rId7"/>
    <p:sldId id="265" r:id="rId8"/>
    <p:sldId id="268" r:id="rId9"/>
    <p:sldId id="258" r:id="rId10"/>
    <p:sldId id="269" r:id="rId11"/>
    <p:sldId id="271" r:id="rId12"/>
    <p:sldId id="274" r:id="rId13"/>
    <p:sldId id="272" r:id="rId14"/>
    <p:sldId id="273" r:id="rId15"/>
    <p:sldId id="275" r:id="rId16"/>
    <p:sldId id="276" r:id="rId17"/>
    <p:sldId id="277" r:id="rId18"/>
    <p:sldId id="278" r:id="rId19"/>
    <p:sldId id="281" r:id="rId20"/>
    <p:sldId id="282" r:id="rId21"/>
    <p:sldId id="303" r:id="rId22"/>
    <p:sldId id="283" r:id="rId23"/>
    <p:sldId id="284" r:id="rId24"/>
    <p:sldId id="287" r:id="rId25"/>
    <p:sldId id="288" r:id="rId26"/>
    <p:sldId id="290" r:id="rId27"/>
    <p:sldId id="295" r:id="rId28"/>
    <p:sldId id="291" r:id="rId29"/>
    <p:sldId id="293" r:id="rId30"/>
    <p:sldId id="294" r:id="rId31"/>
    <p:sldId id="30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3399"/>
    <a:srgbClr val="767E9C"/>
    <a:srgbClr val="FF0066"/>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60"/>
  </p:normalViewPr>
  <p:slideViewPr>
    <p:cSldViewPr>
      <p:cViewPr varScale="1">
        <p:scale>
          <a:sx n="101" d="100"/>
          <a:sy n="101" d="100"/>
        </p:scale>
        <p:origin x="341"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029ED0-E2D0-445B-8FDA-9350D4D79CFF}" type="datetimeFigureOut">
              <a:rPr lang="en-US" smtClean="0"/>
              <a:pPr/>
              <a:t>4/16/2026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764ACD-4F53-47C0-AE5C-4D53AFB10F57}" type="slidenum">
              <a:rPr lang="en-US" smtClean="0"/>
              <a:pPr/>
              <a:t>‹#›</a:t>
            </a:fld>
            <a:endParaRPr lang="en-US" dirty="0"/>
          </a:p>
        </p:txBody>
      </p:sp>
    </p:spTree>
    <p:extLst>
      <p:ext uri="{BB962C8B-B14F-4D97-AF65-F5344CB8AC3E}">
        <p14:creationId xmlns:p14="http://schemas.microsoft.com/office/powerpoint/2010/main" val="14885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64ACD-4F53-47C0-AE5C-4D53AFB10F57}" type="slidenum">
              <a:rPr lang="en-US" smtClean="0"/>
              <a:pPr/>
              <a:t>9</a:t>
            </a:fld>
            <a:endParaRPr lang="en-US" dirty="0"/>
          </a:p>
        </p:txBody>
      </p:sp>
    </p:spTree>
    <p:extLst>
      <p:ext uri="{BB962C8B-B14F-4D97-AF65-F5344CB8AC3E}">
        <p14:creationId xmlns:p14="http://schemas.microsoft.com/office/powerpoint/2010/main" val="4110694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64ACD-4F53-47C0-AE5C-4D53AFB10F57}" type="slidenum">
              <a:rPr lang="en-US" smtClean="0"/>
              <a:pPr/>
              <a:t>12</a:t>
            </a:fld>
            <a:endParaRPr lang="en-US" dirty="0"/>
          </a:p>
        </p:txBody>
      </p:sp>
    </p:spTree>
    <p:extLst>
      <p:ext uri="{BB962C8B-B14F-4D97-AF65-F5344CB8AC3E}">
        <p14:creationId xmlns:p14="http://schemas.microsoft.com/office/powerpoint/2010/main" val="39956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1D764ACD-4F53-47C0-AE5C-4D53AFB10F57}" type="slidenum">
              <a:rPr lang="en-US" smtClean="0"/>
              <a:pPr/>
              <a:t>18</a:t>
            </a:fld>
            <a:endParaRPr lang="en-US" dirty="0"/>
          </a:p>
        </p:txBody>
      </p:sp>
    </p:spTree>
    <p:extLst>
      <p:ext uri="{BB962C8B-B14F-4D97-AF65-F5344CB8AC3E}">
        <p14:creationId xmlns:p14="http://schemas.microsoft.com/office/powerpoint/2010/main" val="1521867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68B2B3E-6EE9-41C7-B0AD-B647E3DCFC0B}" type="datetime1">
              <a:rPr lang="en-US" smtClean="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2927384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3A2C3D-A268-4F8E-9026-6777D18CB712}" type="datetime1">
              <a:rPr lang="en-US" smtClean="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613080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33A603-3608-4AD2-96EE-0A234B7862B1}" type="datetime1">
              <a:rPr lang="en-US" smtClean="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831134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C002C3-88E8-450B-859C-604061911379}" type="datetime1">
              <a:rPr lang="en-US" smtClean="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504509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F43504-3450-4E0A-B7D2-868C93A2DB5C}" type="datetime1">
              <a:rPr lang="en-US" smtClean="0"/>
              <a:pPr/>
              <a:t>4/16/2026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2558127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622104-22F4-45D4-B588-FD8CD79690C2}" type="datetime1">
              <a:rPr lang="en-US" smtClean="0"/>
              <a:pPr/>
              <a:t>4/16/2026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591858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916F57-25D5-4452-BFDF-BB6675DA4536}" type="datetime1">
              <a:rPr lang="en-US" smtClean="0"/>
              <a:pPr/>
              <a:t>4/16/2026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2244120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86A514D-FD44-47DF-999E-F06C2F7B30F5}" type="datetime1">
              <a:rPr lang="en-US" smtClean="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3956647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09B14C-4EA9-4394-BED0-81BBCDD067B2}" type="datetime1">
              <a:rPr lang="en-US" smtClean="0"/>
              <a:pPr/>
              <a:t>4/16/2026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158726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1C5844-D4A9-43FC-BDA5-0217BAC59043}" type="datetime1">
              <a:rPr lang="en-US" smtClean="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3793035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9D87DB-7207-42E5-9A06-CB9BCF6BB725}" type="datetime1">
              <a:rPr lang="en-US" smtClean="0"/>
              <a:pPr/>
              <a:t>4/16/2026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3028219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3CF2C2E-E61B-4E57-A647-A9701EA12CB8}" type="datetime1">
              <a:rPr lang="en-US" smtClean="0"/>
              <a:pPr/>
              <a:t>4/16/2026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FAC0386-2D48-46EF-B0B1-77C2C1C46F85}" type="slidenum">
              <a:rPr lang="en-US" smtClean="0"/>
              <a:pPr/>
              <a:t>‹#›</a:t>
            </a:fld>
            <a:endParaRPr lang="en-US" dirty="0"/>
          </a:p>
        </p:txBody>
      </p:sp>
    </p:spTree>
    <p:extLst>
      <p:ext uri="{BB962C8B-B14F-4D97-AF65-F5344CB8AC3E}">
        <p14:creationId xmlns:p14="http://schemas.microsoft.com/office/powerpoint/2010/main" val="27379166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ma"/><Relationship Id="rId1" Type="http://schemas.microsoft.com/office/2007/relationships/media" Target="../media/media1.wma"/><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wma"/><Relationship Id="rId1" Type="http://schemas.microsoft.com/office/2007/relationships/media" Target="../media/media2.wma"/><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ma"/><Relationship Id="rId1" Type="http://schemas.microsoft.com/office/2007/relationships/media" Target="../media/media3.wma"/><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wma"/><Relationship Id="rId1" Type="http://schemas.microsoft.com/office/2007/relationships/media" Target="../media/media4.wma"/><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wma"/><Relationship Id="rId1" Type="http://schemas.microsoft.com/office/2007/relationships/media" Target="../media/media5.wma"/><Relationship Id="rId6" Type="http://schemas.openxmlformats.org/officeDocument/2006/relationships/image" Target="../media/image15.png"/><Relationship Id="rId5" Type="http://schemas.openxmlformats.org/officeDocument/2006/relationships/image" Target="../media/image17.jpe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wma"/><Relationship Id="rId1" Type="http://schemas.microsoft.com/office/2007/relationships/media" Target="../media/media6.wma"/><Relationship Id="rId5" Type="http://schemas.openxmlformats.org/officeDocument/2006/relationships/image" Target="../media/image15.png"/><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wma"/><Relationship Id="rId1" Type="http://schemas.microsoft.com/office/2007/relationships/media" Target="../media/media7.wma"/><Relationship Id="rId5" Type="http://schemas.openxmlformats.org/officeDocument/2006/relationships/image" Target="../media/image15.png"/><Relationship Id="rId4" Type="http://schemas.openxmlformats.org/officeDocument/2006/relationships/image" Target="../media/image19.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wma"/><Relationship Id="rId1" Type="http://schemas.microsoft.com/office/2007/relationships/media" Target="../media/media8.wma"/><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0"/>
            <a:ext cx="8534400" cy="1295400"/>
          </a:xfrm>
        </p:spPr>
        <p:txBody>
          <a:bodyPr>
            <a:normAutofit/>
          </a:bodyPr>
          <a:lstStyle/>
          <a:p>
            <a:r>
              <a:rPr lang="en-US" b="1" dirty="0">
                <a:solidFill>
                  <a:srgbClr val="FF0000"/>
                </a:solidFill>
                <a:latin typeface="Algerian" pitchFamily="82" charset="0"/>
              </a:rPr>
              <a:t>Federalism </a:t>
            </a:r>
            <a:br>
              <a:rPr lang="en-US" b="1" dirty="0">
                <a:solidFill>
                  <a:srgbClr val="FF0000"/>
                </a:solidFill>
                <a:latin typeface="Algerian" pitchFamily="82" charset="0"/>
              </a:rPr>
            </a:br>
            <a:endParaRPr lang="en-US" sz="3600" b="1" dirty="0">
              <a:solidFill>
                <a:srgbClr val="FF0000"/>
              </a:solidFill>
              <a:latin typeface="Aharoni" pitchFamily="2" charset="-79"/>
              <a:cs typeface="Aharoni" pitchFamily="2" charset="-79"/>
            </a:endParaRPr>
          </a:p>
        </p:txBody>
      </p:sp>
      <p:sp>
        <p:nvSpPr>
          <p:cNvPr id="3" name="Content Placeholder 2"/>
          <p:cNvSpPr>
            <a:spLocks noGrp="1"/>
          </p:cNvSpPr>
          <p:nvPr>
            <p:ph idx="1"/>
          </p:nvPr>
        </p:nvSpPr>
        <p:spPr>
          <a:xfrm>
            <a:off x="152400" y="1447800"/>
            <a:ext cx="8839200" cy="5105400"/>
          </a:xfrm>
          <a:solidFill>
            <a:schemeClr val="bg1"/>
          </a:solidFill>
        </p:spPr>
        <p:txBody>
          <a:bodyPr>
            <a:normAutofit fontScale="92500" lnSpcReduction="20000"/>
          </a:bodyPr>
          <a:lstStyle/>
          <a:p>
            <a:pPr algn="just">
              <a:buNone/>
            </a:pPr>
            <a:r>
              <a:rPr lang="en-US" dirty="0"/>
              <a:t>     Federalism is  a way of organizing a nation so that  two or more levels</a:t>
            </a:r>
          </a:p>
          <a:p>
            <a:pPr algn="just">
              <a:buNone/>
            </a:pPr>
            <a:r>
              <a:rPr lang="en-US" dirty="0"/>
              <a:t>     of government have formal authority over the land and people.   </a:t>
            </a:r>
          </a:p>
          <a:p>
            <a:pPr algn="just">
              <a:buNone/>
            </a:pPr>
            <a:endParaRPr lang="en-US" b="1" dirty="0">
              <a:solidFill>
                <a:srgbClr val="0070C0"/>
              </a:solidFill>
              <a:latin typeface="Aharoni" pitchFamily="2" charset="-79"/>
              <a:cs typeface="Aharoni" pitchFamily="2" charset="-79"/>
            </a:endParaRPr>
          </a:p>
          <a:p>
            <a:pPr algn="just">
              <a:buNone/>
            </a:pPr>
            <a:r>
              <a:rPr lang="en-US" b="1" dirty="0">
                <a:solidFill>
                  <a:srgbClr val="FF0000"/>
                </a:solidFill>
                <a:latin typeface="Aharoni" pitchFamily="2" charset="-79"/>
                <a:cs typeface="Aharoni" pitchFamily="2" charset="-79"/>
              </a:rPr>
              <a:t>    What  is federalism?</a:t>
            </a:r>
          </a:p>
          <a:p>
            <a:pPr algn="just">
              <a:buNone/>
            </a:pPr>
            <a:r>
              <a:rPr lang="en-US" dirty="0"/>
              <a:t>     </a:t>
            </a:r>
            <a:r>
              <a:rPr lang="en-US" b="1" dirty="0">
                <a:solidFill>
                  <a:srgbClr val="FF0000"/>
                </a:solidFill>
              </a:rPr>
              <a:t>Origin:</a:t>
            </a:r>
          </a:p>
          <a:p>
            <a:pPr algn="just">
              <a:buNone/>
            </a:pPr>
            <a:r>
              <a:rPr lang="en-US" dirty="0"/>
              <a:t>    Federalism word is derived from latin word “</a:t>
            </a:r>
            <a:r>
              <a:rPr lang="en-US" b="1" dirty="0"/>
              <a:t>Foedus”</a:t>
            </a:r>
            <a:r>
              <a:rPr lang="en-US" dirty="0"/>
              <a:t> which means a compact or an agreement.</a:t>
            </a:r>
          </a:p>
          <a:p>
            <a:pPr algn="just">
              <a:buNone/>
            </a:pPr>
            <a:endParaRPr lang="en-US" dirty="0"/>
          </a:p>
          <a:p>
            <a:pPr algn="just">
              <a:buNone/>
            </a:pPr>
            <a:r>
              <a:rPr lang="en-US" b="1" dirty="0">
                <a:solidFill>
                  <a:srgbClr val="0070C0"/>
                </a:solidFill>
              </a:rPr>
              <a:t>       </a:t>
            </a:r>
            <a:r>
              <a:rPr lang="en-US" b="1" dirty="0">
                <a:solidFill>
                  <a:srgbClr val="FF0000"/>
                </a:solidFill>
              </a:rPr>
              <a:t>Meaning:</a:t>
            </a:r>
          </a:p>
          <a:p>
            <a:pPr algn="just">
              <a:buFont typeface="Wingdings" pitchFamily="2" charset="2"/>
              <a:buChar char="Ø"/>
            </a:pPr>
            <a:r>
              <a:rPr lang="en-US" b="1" dirty="0">
                <a:solidFill>
                  <a:srgbClr val="7030A0"/>
                </a:solidFill>
              </a:rPr>
              <a:t>   </a:t>
            </a:r>
            <a:r>
              <a:rPr lang="en-US" dirty="0"/>
              <a:t>Federalism is  a method  of government  that allows two  or  more  </a:t>
            </a:r>
          </a:p>
          <a:p>
            <a:pPr algn="just">
              <a:buNone/>
            </a:pPr>
            <a:r>
              <a:rPr lang="en-US" dirty="0"/>
              <a:t>        entities to share control over the  some  geographic region</a:t>
            </a:r>
            <a:r>
              <a:rPr lang="en-US" b="1" dirty="0">
                <a:solidFill>
                  <a:srgbClr val="7030A0"/>
                </a:solidFill>
              </a:rPr>
              <a:t>.</a:t>
            </a:r>
          </a:p>
          <a:p>
            <a:pPr algn="just">
              <a:buNone/>
            </a:pPr>
            <a:r>
              <a:rPr lang="en-US" b="1" dirty="0">
                <a:solidFill>
                  <a:srgbClr val="7030A0"/>
                </a:solidFill>
              </a:rPr>
              <a:t> </a:t>
            </a:r>
          </a:p>
          <a:p>
            <a:pPr algn="just">
              <a:buFont typeface="Wingdings" pitchFamily="2" charset="2"/>
              <a:buChar char="Ø"/>
            </a:pPr>
            <a:r>
              <a:rPr lang="en-US" dirty="0"/>
              <a:t>   Federalism is a system of government in which the  power is divided </a:t>
            </a:r>
          </a:p>
          <a:p>
            <a:pPr algn="just">
              <a:buNone/>
            </a:pPr>
            <a:r>
              <a:rPr lang="en-US" dirty="0"/>
              <a:t>       between a central authority and various constituent units of the  </a:t>
            </a:r>
          </a:p>
          <a:p>
            <a:pPr algn="just">
              <a:buNone/>
            </a:pPr>
            <a:r>
              <a:rPr lang="en-US" dirty="0"/>
              <a:t>       country. </a:t>
            </a:r>
          </a:p>
          <a:p>
            <a:pPr algn="just">
              <a:buNone/>
            </a:pPr>
            <a:r>
              <a:rPr lang="en-US" dirty="0"/>
              <a:t>    </a:t>
            </a:r>
          </a:p>
        </p:txBody>
      </p:sp>
      <p:sp>
        <p:nvSpPr>
          <p:cNvPr id="5" name="Date Placeholder 4"/>
          <p:cNvSpPr>
            <a:spLocks noGrp="1"/>
          </p:cNvSpPr>
          <p:nvPr>
            <p:ph type="dt" sz="half" idx="10"/>
          </p:nvPr>
        </p:nvSpPr>
        <p:spPr/>
        <p:txBody>
          <a:bodyPr/>
          <a:lstStyle/>
          <a:p>
            <a:fld id="{26705CB1-9F63-439B-B04F-7769F399CBD5}"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1</a:t>
            </a:fld>
            <a:endParaRPr lang="en-US" dirty="0"/>
          </a:p>
        </p:txBody>
      </p:sp>
      <p:pic>
        <p:nvPicPr>
          <p:cNvPr id="4" name="Picture 3" descr="• While there is power sharing between the two levels of government, there should&#10;also be a system in place for revenue sh..."/>
          <p:cNvPicPr/>
          <p:nvPr/>
        </p:nvPicPr>
        <p:blipFill>
          <a:blip r:embed="rId2" cstate="print"/>
          <a:srcRect/>
          <a:stretch>
            <a:fillRect/>
          </a:stretch>
        </p:blipFill>
        <p:spPr bwMode="auto">
          <a:xfrm>
            <a:off x="6858000" y="152400"/>
            <a:ext cx="2133600" cy="12192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0"/>
            <a:ext cx="8534400" cy="1295400"/>
          </a:xfrm>
        </p:spPr>
        <p:txBody>
          <a:bodyPr>
            <a:normAutofit/>
          </a:bodyPr>
          <a:lstStyle/>
          <a:p>
            <a:r>
              <a:rPr lang="en-US" b="1" dirty="0">
                <a:solidFill>
                  <a:srgbClr val="FF0000"/>
                </a:solidFill>
                <a:latin typeface="Algerian" pitchFamily="82" charset="0"/>
              </a:rPr>
              <a:t>Federalism</a:t>
            </a:r>
            <a:r>
              <a:rPr lang="en-US" b="1" dirty="0">
                <a:solidFill>
                  <a:srgbClr val="7030A0"/>
                </a:solidFill>
                <a:latin typeface="Algerian" pitchFamily="82" charset="0"/>
              </a:rPr>
              <a:t> </a:t>
            </a:r>
            <a:br>
              <a:rPr lang="en-US" b="1" dirty="0">
                <a:solidFill>
                  <a:srgbClr val="7030A0"/>
                </a:solidFill>
                <a:latin typeface="Algerian" pitchFamily="82" charset="0"/>
              </a:rPr>
            </a:br>
            <a:endParaRPr lang="en-US" sz="3600" b="1" dirty="0">
              <a:solidFill>
                <a:srgbClr val="0070C0"/>
              </a:solidFill>
              <a:latin typeface="Aharoni" pitchFamily="2" charset="-79"/>
              <a:cs typeface="Aharoni" pitchFamily="2" charset="-79"/>
            </a:endParaRPr>
          </a:p>
        </p:txBody>
      </p:sp>
      <p:sp>
        <p:nvSpPr>
          <p:cNvPr id="3" name="Content Placeholder 2"/>
          <p:cNvSpPr>
            <a:spLocks noGrp="1"/>
          </p:cNvSpPr>
          <p:nvPr>
            <p:ph idx="1"/>
          </p:nvPr>
        </p:nvSpPr>
        <p:spPr>
          <a:xfrm>
            <a:off x="152400" y="1447800"/>
            <a:ext cx="8839200" cy="5105400"/>
          </a:xfrm>
          <a:solidFill>
            <a:schemeClr val="bg1"/>
          </a:solidFill>
        </p:spPr>
        <p:txBody>
          <a:bodyPr>
            <a:normAutofit/>
          </a:bodyPr>
          <a:lstStyle/>
          <a:p>
            <a:pPr algn="just">
              <a:buFont typeface="Wingdings" pitchFamily="2" charset="2"/>
              <a:buChar char="Ø"/>
            </a:pPr>
            <a:r>
              <a:rPr lang="en-US" dirty="0"/>
              <a:t>   Usually, a federation has two levels of government.</a:t>
            </a:r>
          </a:p>
          <a:p>
            <a:pPr marL="0" indent="0" algn="just">
              <a:buNone/>
            </a:pPr>
            <a:endParaRPr lang="en-US" dirty="0"/>
          </a:p>
          <a:p>
            <a:pPr algn="just">
              <a:buFont typeface="Wingdings" pitchFamily="2" charset="2"/>
              <a:buChar char="Ø"/>
            </a:pPr>
            <a:r>
              <a:rPr lang="en-US" dirty="0"/>
              <a:t>   One is the government for the entire country that is </a:t>
            </a:r>
          </a:p>
          <a:p>
            <a:pPr algn="just">
              <a:buNone/>
            </a:pPr>
            <a:r>
              <a:rPr lang="en-US" dirty="0"/>
              <a:t>       usually responsible for a few subjects of common </a:t>
            </a:r>
          </a:p>
          <a:p>
            <a:pPr algn="just">
              <a:buNone/>
            </a:pPr>
            <a:r>
              <a:rPr lang="en-US" dirty="0"/>
              <a:t>       national interest. </a:t>
            </a:r>
          </a:p>
          <a:p>
            <a:pPr algn="just">
              <a:buNone/>
            </a:pPr>
            <a:endParaRPr lang="en-US" dirty="0"/>
          </a:p>
          <a:p>
            <a:pPr algn="just">
              <a:buFont typeface="Wingdings" pitchFamily="2" charset="2"/>
              <a:buChar char="Ø"/>
            </a:pPr>
            <a:r>
              <a:rPr lang="en-US" dirty="0"/>
              <a:t>   The others are governments at the level of provinces or </a:t>
            </a:r>
          </a:p>
          <a:p>
            <a:pPr algn="just">
              <a:buNone/>
            </a:pPr>
            <a:r>
              <a:rPr lang="en-US" dirty="0"/>
              <a:t>       states that look after much of the day-to-day   </a:t>
            </a:r>
          </a:p>
          <a:p>
            <a:pPr algn="just">
              <a:buNone/>
            </a:pPr>
            <a:r>
              <a:rPr lang="en-US" dirty="0"/>
              <a:t>       administering of their state.</a:t>
            </a:r>
          </a:p>
          <a:p>
            <a:pPr algn="just">
              <a:buFont typeface="Wingdings" pitchFamily="2" charset="2"/>
              <a:buChar char="Ø"/>
            </a:pPr>
            <a:endParaRPr lang="en-US" dirty="0"/>
          </a:p>
          <a:p>
            <a:pPr algn="just">
              <a:buFont typeface="Wingdings" pitchFamily="2" charset="2"/>
              <a:buChar char="Ø"/>
            </a:pPr>
            <a:r>
              <a:rPr lang="en-US" dirty="0"/>
              <a:t>   Both these levels of governments enjoy their power   </a:t>
            </a:r>
          </a:p>
          <a:p>
            <a:pPr marL="0" indent="0" algn="just">
              <a:buNone/>
            </a:pPr>
            <a:r>
              <a:rPr lang="en-US" dirty="0"/>
              <a:t>       independent of the other </a:t>
            </a:r>
          </a:p>
        </p:txBody>
      </p:sp>
      <p:sp>
        <p:nvSpPr>
          <p:cNvPr id="5" name="Date Placeholder 4"/>
          <p:cNvSpPr>
            <a:spLocks noGrp="1"/>
          </p:cNvSpPr>
          <p:nvPr>
            <p:ph type="dt" sz="half" idx="10"/>
          </p:nvPr>
        </p:nvSpPr>
        <p:spPr/>
        <p:txBody>
          <a:bodyPr/>
          <a:lstStyle/>
          <a:p>
            <a:fld id="{26705CB1-9F63-439B-B04F-7769F399CBD5}"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2</a:t>
            </a:fld>
            <a:endParaRPr lang="en-US" dirty="0"/>
          </a:p>
        </p:txBody>
      </p:sp>
      <p:pic>
        <p:nvPicPr>
          <p:cNvPr id="4" name="Picture 3" descr="• While there is power sharing between the two levels of government, there should&#10;also be a system in place for revenue sh..."/>
          <p:cNvPicPr/>
          <p:nvPr/>
        </p:nvPicPr>
        <p:blipFill>
          <a:blip r:embed="rId2" cstate="print"/>
          <a:srcRect/>
          <a:stretch>
            <a:fillRect/>
          </a:stretch>
        </p:blipFill>
        <p:spPr bwMode="auto">
          <a:xfrm>
            <a:off x="6858000" y="152400"/>
            <a:ext cx="2133600" cy="1219200"/>
          </a:xfrm>
          <a:prstGeom prst="rect">
            <a:avLst/>
          </a:prstGeom>
          <a:noFill/>
          <a:ln w="9525">
            <a:noFill/>
            <a:miter lim="800000"/>
            <a:headEnd/>
            <a:tailEnd/>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FEDERAL COUNTRIES IN THE WORLD</a:t>
            </a:r>
          </a:p>
        </p:txBody>
      </p:sp>
      <p:pic>
        <p:nvPicPr>
          <p:cNvPr id="1026" name="Picture 2" descr="C:\Users\COMP\Desktop\democratic-politics-chapter-2-grade-10-cbse-federalism-2-638.jpg"/>
          <p:cNvPicPr>
            <a:picLocks noGrp="1" noChangeAspect="1" noChangeArrowheads="1"/>
          </p:cNvPicPr>
          <p:nvPr>
            <p:ph idx="1"/>
          </p:nvPr>
        </p:nvPicPr>
        <p:blipFill>
          <a:blip r:embed="rId2"/>
          <a:srcRect/>
          <a:stretch>
            <a:fillRect/>
          </a:stretch>
        </p:blipFill>
        <p:spPr bwMode="auto">
          <a:xfrm>
            <a:off x="190500" y="1465422"/>
            <a:ext cx="8686800" cy="4154607"/>
          </a:xfrm>
          <a:prstGeom prst="rect">
            <a:avLst/>
          </a:prstGeom>
          <a:noFill/>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3</a:t>
            </a:fld>
            <a:endParaRPr lang="en-US" dirty="0"/>
          </a:p>
        </p:txBody>
      </p:sp>
      <p:sp>
        <p:nvSpPr>
          <p:cNvPr id="7" name="Rectangle 6"/>
          <p:cNvSpPr/>
          <p:nvPr/>
        </p:nvSpPr>
        <p:spPr>
          <a:xfrm>
            <a:off x="152400" y="5638800"/>
            <a:ext cx="8763000" cy="923330"/>
          </a:xfrm>
          <a:prstGeom prst="rect">
            <a:avLst/>
          </a:prstGeom>
        </p:spPr>
        <p:txBody>
          <a:bodyPr wrap="square">
            <a:spAutoFit/>
          </a:bodyPr>
          <a:lstStyle/>
          <a:p>
            <a:r>
              <a:rPr lang="en-US" i="1" dirty="0"/>
              <a:t>Though only 25 of the world’s 192 countries have federal political systems, their citizens make up 40 per cent of the world’s population. Most of the large countries of the world are federations.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lgerian" pitchFamily="82" charset="0"/>
              </a:rPr>
              <a:t>What is unitary system?</a:t>
            </a:r>
            <a:endParaRPr lang="en-US" dirty="0">
              <a:solidFill>
                <a:srgbClr val="FF0000"/>
              </a:solidFill>
            </a:endParaRPr>
          </a:p>
        </p:txBody>
      </p:sp>
      <p:sp>
        <p:nvSpPr>
          <p:cNvPr id="5" name="Content Placeholder 4"/>
          <p:cNvSpPr>
            <a:spLocks noGrp="1"/>
          </p:cNvSpPr>
          <p:nvPr>
            <p:ph idx="1"/>
          </p:nvPr>
        </p:nvSpPr>
        <p:spPr>
          <a:xfrm>
            <a:off x="152400" y="1506517"/>
            <a:ext cx="8839200" cy="4833323"/>
          </a:xfrm>
          <a:solidFill>
            <a:schemeClr val="bg1"/>
          </a:solidFill>
        </p:spPr>
        <p:txBody>
          <a:bodyPr>
            <a:normAutofit/>
          </a:bodyPr>
          <a:lstStyle/>
          <a:p>
            <a:r>
              <a:rPr lang="en-US" dirty="0"/>
              <a:t>In this form of administration, there is only one level of government over the whole country. If there are more sub-units, they are subordinates to central.</a:t>
            </a:r>
          </a:p>
          <a:p>
            <a:endParaRPr lang="en-US" dirty="0"/>
          </a:p>
          <a:p>
            <a:r>
              <a:rPr lang="en-US" dirty="0"/>
              <a:t>Here, central government passes on the orders to other levels of government(provincial or the local government).</a:t>
            </a:r>
          </a:p>
          <a:p>
            <a:endParaRPr lang="en-US" dirty="0"/>
          </a:p>
          <a:p>
            <a:r>
              <a:rPr lang="en-US" dirty="0"/>
              <a:t>Other levels of government are subordinate to central government</a:t>
            </a:r>
          </a:p>
          <a:p>
            <a:pPr marL="0" indent="0">
              <a:buNone/>
            </a:pPr>
            <a:endParaRPr lang="en-US" dirty="0"/>
          </a:p>
          <a:p>
            <a:r>
              <a:rPr lang="en-US" dirty="0"/>
              <a:t>Example:  United kingdom</a:t>
            </a:r>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4</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lgerian" pitchFamily="82" charset="0"/>
              </a:rPr>
              <a:t>What is Federal system?</a:t>
            </a:r>
            <a:endParaRPr lang="en-US" dirty="0">
              <a:solidFill>
                <a:srgbClr val="FF0000"/>
              </a:solidFill>
            </a:endParaRPr>
          </a:p>
        </p:txBody>
      </p:sp>
      <p:sp>
        <p:nvSpPr>
          <p:cNvPr id="5" name="Content Placeholder 4"/>
          <p:cNvSpPr>
            <a:spLocks noGrp="1"/>
          </p:cNvSpPr>
          <p:nvPr>
            <p:ph idx="1"/>
          </p:nvPr>
        </p:nvSpPr>
        <p:spPr>
          <a:xfrm>
            <a:off x="152400" y="1527048"/>
            <a:ext cx="8839200" cy="4812792"/>
          </a:xfrm>
          <a:solidFill>
            <a:schemeClr val="bg1"/>
          </a:solidFill>
        </p:spPr>
        <p:txBody>
          <a:bodyPr>
            <a:normAutofit/>
          </a:bodyPr>
          <a:lstStyle/>
          <a:p>
            <a:r>
              <a:rPr lang="en-US" dirty="0"/>
              <a:t>In this form of administration, there are two levels of government(Central/National and State).</a:t>
            </a:r>
          </a:p>
          <a:p>
            <a:pPr>
              <a:buNone/>
            </a:pPr>
            <a:endParaRPr lang="en-US" dirty="0"/>
          </a:p>
          <a:p>
            <a:r>
              <a:rPr lang="en-US" dirty="0"/>
              <a:t>The central government cannot order the state government to do something.(two different types of law-Central and states laws).</a:t>
            </a:r>
          </a:p>
          <a:p>
            <a:pPr>
              <a:buNone/>
            </a:pPr>
            <a:endParaRPr lang="en-US" dirty="0"/>
          </a:p>
          <a:p>
            <a:r>
              <a:rPr lang="en-US" dirty="0"/>
              <a:t>State government has powers of its own for which it is not answerable to the central government.</a:t>
            </a:r>
          </a:p>
          <a:p>
            <a:endParaRPr lang="en-US" dirty="0"/>
          </a:p>
          <a:p>
            <a:r>
              <a:rPr lang="en-US" dirty="0"/>
              <a:t>Both these governments are separately answerable to the people.</a:t>
            </a:r>
          </a:p>
          <a:p>
            <a:endParaRPr lang="en-US" dirty="0"/>
          </a:p>
          <a:p>
            <a:r>
              <a:rPr lang="en-US" dirty="0"/>
              <a:t>Example: USA.</a:t>
            </a:r>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5</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1066800"/>
          </a:xfrm>
        </p:spPr>
        <p:txBody>
          <a:bodyPr>
            <a:normAutofit/>
          </a:bodyPr>
          <a:lstStyle/>
          <a:p>
            <a:r>
              <a:rPr lang="en-US" b="1" dirty="0">
                <a:solidFill>
                  <a:srgbClr val="FF0000"/>
                </a:solidFill>
              </a:rPr>
              <a:t>Unitary and Federal System Countries in the World</a:t>
            </a:r>
          </a:p>
        </p:txBody>
      </p:sp>
      <p:pic>
        <p:nvPicPr>
          <p:cNvPr id="6" name="Content Placeholder 5" descr="Global map of Unitary &amp; Federal States | Ap human geography ..."/>
          <p:cNvPicPr>
            <a:picLocks noGrp="1"/>
          </p:cNvPicPr>
          <p:nvPr>
            <p:ph idx="1"/>
          </p:nvPr>
        </p:nvPicPr>
        <p:blipFill>
          <a:blip r:embed="rId2"/>
          <a:stretch>
            <a:fillRect/>
          </a:stretch>
        </p:blipFill>
        <p:spPr bwMode="auto">
          <a:xfrm>
            <a:off x="1671108" y="1825625"/>
            <a:ext cx="5801784" cy="435133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6</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latin typeface="Algerian" pitchFamily="82" charset="0"/>
              </a:rPr>
              <a:t>The Key Features of federation</a:t>
            </a:r>
          </a:p>
        </p:txBody>
      </p:sp>
      <p:sp>
        <p:nvSpPr>
          <p:cNvPr id="3" name="Content Placeholder 2"/>
          <p:cNvSpPr>
            <a:spLocks noGrp="1"/>
          </p:cNvSpPr>
          <p:nvPr>
            <p:ph idx="1"/>
          </p:nvPr>
        </p:nvSpPr>
        <p:spPr>
          <a:xfrm>
            <a:off x="152400" y="1447799"/>
            <a:ext cx="8839200" cy="4908551"/>
          </a:xfrm>
          <a:solidFill>
            <a:schemeClr val="bg1"/>
          </a:solidFill>
        </p:spPr>
        <p:txBody>
          <a:bodyPr>
            <a:normAutofit fontScale="92500" lnSpcReduction="10000"/>
          </a:bodyPr>
          <a:lstStyle/>
          <a:p>
            <a:pPr lvl="0"/>
            <a:r>
              <a:rPr lang="en-US" dirty="0"/>
              <a:t>There are two or more levels (or tiers) of government.</a:t>
            </a:r>
          </a:p>
          <a:p>
            <a:pPr lvl="0">
              <a:buNone/>
            </a:pPr>
            <a:endParaRPr lang="en-US" dirty="0"/>
          </a:p>
          <a:p>
            <a:pPr lvl="0"/>
            <a:r>
              <a:rPr lang="en-US" dirty="0"/>
              <a:t>Different tiers of government govern the same citizens, but each tier has its own </a:t>
            </a:r>
            <a:r>
              <a:rPr lang="en-US" b="1" dirty="0"/>
              <a:t>JURISDICTION</a:t>
            </a:r>
            <a:r>
              <a:rPr lang="en-US" dirty="0"/>
              <a:t> in specific matters of legislation, taxation and administration.</a:t>
            </a:r>
          </a:p>
          <a:p>
            <a:pPr lvl="0">
              <a:buNone/>
            </a:pPr>
            <a:endParaRPr lang="en-US" dirty="0"/>
          </a:p>
          <a:p>
            <a:pPr lvl="0"/>
            <a:r>
              <a:rPr lang="en-US" dirty="0"/>
              <a:t>The jurisdictions of the respective levels or tiers of government are specified in the constitution. So the existence and authority of each tier of government is constitutionally guaranteed.</a:t>
            </a:r>
          </a:p>
          <a:p>
            <a:pPr lvl="0">
              <a:buNone/>
            </a:pPr>
            <a:endParaRPr lang="en-US" dirty="0"/>
          </a:p>
          <a:p>
            <a:pPr lvl="0"/>
            <a:r>
              <a:rPr lang="en-US" dirty="0"/>
              <a:t>The fundamental provisions of the constitution cannot be unilaterally changed by one level of government. Such changes require the consent of both the levels of government.</a:t>
            </a:r>
          </a:p>
          <a:p>
            <a:pPr lvl="0">
              <a:buNone/>
            </a:pPr>
            <a:endParaRPr lang="en-US" dirty="0"/>
          </a:p>
          <a:p>
            <a:pPr lvl="0"/>
            <a:r>
              <a:rPr lang="en-US" dirty="0"/>
              <a:t> Courts have the power to interpret the constitution and the powers of different levels of government. The highest court acts as an umpire if disputes arise between different levels of government in the exercise of their respective powers.</a:t>
            </a:r>
          </a:p>
          <a:p>
            <a:pPr>
              <a:buNone/>
            </a:pPr>
            <a:endParaRPr lang="en-US" dirty="0"/>
          </a:p>
        </p:txBody>
      </p:sp>
      <p:sp>
        <p:nvSpPr>
          <p:cNvPr id="5" name="Date Placeholder 4"/>
          <p:cNvSpPr>
            <a:spLocks noGrp="1"/>
          </p:cNvSpPr>
          <p:nvPr>
            <p:ph type="dt" sz="half" idx="10"/>
          </p:nvPr>
        </p:nvSpPr>
        <p:spPr/>
        <p:txBody>
          <a:bodyPr/>
          <a:lstStyle/>
          <a:p>
            <a:fld id="{FFECEB24-E678-4087-9FCD-8EBE7BEC19B8}"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7</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latin typeface="Algerian" pitchFamily="82" charset="0"/>
              </a:rPr>
              <a:t>The Key Features of federation</a:t>
            </a:r>
          </a:p>
        </p:txBody>
      </p:sp>
      <p:sp>
        <p:nvSpPr>
          <p:cNvPr id="3" name="Content Placeholder 2"/>
          <p:cNvSpPr>
            <a:spLocks noGrp="1"/>
          </p:cNvSpPr>
          <p:nvPr>
            <p:ph idx="1"/>
          </p:nvPr>
        </p:nvSpPr>
        <p:spPr>
          <a:xfrm>
            <a:off x="152400" y="1447800"/>
            <a:ext cx="8839200" cy="5105400"/>
          </a:xfrm>
          <a:solidFill>
            <a:schemeClr val="bg1"/>
          </a:solidFill>
        </p:spPr>
        <p:txBody>
          <a:bodyPr>
            <a:normAutofit/>
          </a:bodyPr>
          <a:lstStyle/>
          <a:p>
            <a:pPr lvl="0"/>
            <a:r>
              <a:rPr lang="en-US" dirty="0">
                <a:solidFill>
                  <a:schemeClr val="bg1"/>
                </a:solidFill>
              </a:rPr>
              <a:t> </a:t>
            </a:r>
            <a:r>
              <a:rPr lang="en-US" dirty="0"/>
              <a:t>Sources of revenue for each level of government are clearly specified to ensure its financial autonomy.</a:t>
            </a:r>
          </a:p>
          <a:p>
            <a:pPr lvl="0">
              <a:buNone/>
            </a:pPr>
            <a:endParaRPr lang="en-US" dirty="0"/>
          </a:p>
          <a:p>
            <a:pPr lvl="0"/>
            <a:r>
              <a:rPr lang="en-US" dirty="0"/>
              <a:t>The federal system thus has dual objectives: </a:t>
            </a:r>
          </a:p>
          <a:p>
            <a:pPr lvl="0">
              <a:buNone/>
            </a:pPr>
            <a:r>
              <a:rPr lang="en-US" dirty="0"/>
              <a:t>    - To safeguard and promote unity of the country.</a:t>
            </a:r>
          </a:p>
          <a:p>
            <a:pPr lvl="0">
              <a:buNone/>
            </a:pPr>
            <a:r>
              <a:rPr lang="en-US" dirty="0"/>
              <a:t>    - To accommodate regional diversity. </a:t>
            </a:r>
          </a:p>
          <a:p>
            <a:pPr lvl="0"/>
            <a:r>
              <a:rPr lang="en-US" dirty="0"/>
              <a:t>Therefore, two aspects are crucial for the institutions and   </a:t>
            </a:r>
          </a:p>
          <a:p>
            <a:pPr marL="0" lvl="0" indent="0">
              <a:buNone/>
            </a:pPr>
            <a:r>
              <a:rPr lang="en-US" dirty="0"/>
              <a:t>     practice of federalism:</a:t>
            </a:r>
          </a:p>
          <a:p>
            <a:pPr lvl="0">
              <a:buNone/>
            </a:pPr>
            <a:r>
              <a:rPr lang="en-US" dirty="0"/>
              <a:t>   - Governments at different levels should agree to some rules of power-sharing. </a:t>
            </a:r>
          </a:p>
          <a:p>
            <a:pPr lvl="0">
              <a:buNone/>
            </a:pPr>
            <a:r>
              <a:rPr lang="en-US" dirty="0"/>
              <a:t>   - They should also trust that each would abide by its part of the agreement. </a:t>
            </a:r>
          </a:p>
          <a:p>
            <a:pPr lvl="0"/>
            <a:r>
              <a:rPr lang="en-US" dirty="0"/>
              <a:t>An ideal federal system has both aspects  mutual trust and agreement to live together.</a:t>
            </a:r>
          </a:p>
          <a:p>
            <a:pPr>
              <a:buNone/>
            </a:pPr>
            <a:endParaRPr lang="en-US" dirty="0"/>
          </a:p>
        </p:txBody>
      </p:sp>
      <p:sp>
        <p:nvSpPr>
          <p:cNvPr id="5" name="Date Placeholder 4"/>
          <p:cNvSpPr>
            <a:spLocks noGrp="1"/>
          </p:cNvSpPr>
          <p:nvPr>
            <p:ph type="dt" sz="half" idx="10"/>
          </p:nvPr>
        </p:nvSpPr>
        <p:spPr/>
        <p:txBody>
          <a:bodyPr/>
          <a:lstStyle/>
          <a:p>
            <a:fld id="{FFECEB24-E678-4087-9FCD-8EBE7BEC19B8}" type="datetime1">
              <a:rPr lang="en-US" smtClean="0"/>
              <a:pPr/>
              <a:t>4/16/2026</a:t>
            </a:fld>
            <a:endParaRPr lang="en-US" dirty="0"/>
          </a:p>
        </p:txBody>
      </p:sp>
      <p:sp>
        <p:nvSpPr>
          <p:cNvPr id="6" name="Slide Number Placeholder 5"/>
          <p:cNvSpPr>
            <a:spLocks noGrp="1"/>
          </p:cNvSpPr>
          <p:nvPr>
            <p:ph type="sldNum" sz="quarter" idx="12"/>
          </p:nvPr>
        </p:nvSpPr>
        <p:spPr/>
        <p:txBody>
          <a:bodyPr/>
          <a:lstStyle/>
          <a:p>
            <a:fld id="{8FAC0386-2D48-46EF-B0B1-77C2C1C46F85}" type="slidenum">
              <a:rPr lang="en-US" smtClean="0"/>
              <a:pPr/>
              <a:t>8</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Balance of power</a:t>
            </a:r>
          </a:p>
        </p:txBody>
      </p:sp>
      <p:sp>
        <p:nvSpPr>
          <p:cNvPr id="3" name="Content Placeholder 2"/>
          <p:cNvSpPr>
            <a:spLocks noGrp="1"/>
          </p:cNvSpPr>
          <p:nvPr>
            <p:ph idx="1"/>
          </p:nvPr>
        </p:nvSpPr>
        <p:spPr>
          <a:xfrm>
            <a:off x="152400" y="1527048"/>
            <a:ext cx="8839200" cy="4802512"/>
          </a:xfrm>
          <a:solidFill>
            <a:schemeClr val="bg1"/>
          </a:solidFill>
        </p:spPr>
        <p:txBody>
          <a:bodyPr/>
          <a:lstStyle/>
          <a:p>
            <a:endParaRPr lang="en-US" dirty="0"/>
          </a:p>
          <a:p>
            <a:r>
              <a:rPr lang="en-US" dirty="0"/>
              <a:t>The exact balance of power between the central and the state government varies from one federation to another.</a:t>
            </a:r>
          </a:p>
          <a:p>
            <a:pPr>
              <a:buNone/>
            </a:pPr>
            <a:endParaRPr lang="en-US" dirty="0"/>
          </a:p>
          <a:p>
            <a:r>
              <a:rPr lang="en-US" dirty="0"/>
              <a:t>This balance depends mainly on the historical context in which the federation was formed.</a:t>
            </a:r>
          </a:p>
          <a:p>
            <a:endParaRPr lang="en-US" dirty="0"/>
          </a:p>
        </p:txBody>
      </p:sp>
      <p:sp>
        <p:nvSpPr>
          <p:cNvPr id="4" name="Date Placeholder 3"/>
          <p:cNvSpPr>
            <a:spLocks noGrp="1"/>
          </p:cNvSpPr>
          <p:nvPr>
            <p:ph type="dt" sz="half" idx="10"/>
          </p:nvPr>
        </p:nvSpPr>
        <p:spPr/>
        <p:txBody>
          <a:bodyPr/>
          <a:lstStyle/>
          <a:p>
            <a:fld id="{6B1BCECD-2CA6-4ED8-A020-7CD3357A0487}" type="datetime1">
              <a:rPr lang="en-US" smtClean="0"/>
              <a:pPr/>
              <a:t>4/16/2026</a:t>
            </a:fld>
            <a:endParaRPr lang="en-US" dirty="0"/>
          </a:p>
        </p:txBody>
      </p:sp>
      <p:sp>
        <p:nvSpPr>
          <p:cNvPr id="5" name="Slide Number Placeholder 4"/>
          <p:cNvSpPr>
            <a:spLocks noGrp="1"/>
          </p:cNvSpPr>
          <p:nvPr>
            <p:ph type="sldNum" sz="quarter" idx="12"/>
          </p:nvPr>
        </p:nvSpPr>
        <p:spPr/>
        <p:txBody>
          <a:bodyPr/>
          <a:lstStyle/>
          <a:p>
            <a:fld id="{8FAC0386-2D48-46EF-B0B1-77C2C1C46F85}" type="slidenum">
              <a:rPr lang="en-US" smtClean="0"/>
              <a:pPr/>
              <a:t>9</a:t>
            </a:fld>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81800" y="228600"/>
            <a:ext cx="1548892" cy="9925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TYPES OF FEDERALISM</a:t>
            </a:r>
            <a:endParaRPr lang="en-US" dirty="0">
              <a:solidFill>
                <a:srgbClr val="FF0000"/>
              </a:solidFill>
            </a:endParaRPr>
          </a:p>
        </p:txBody>
      </p:sp>
      <p:sp>
        <p:nvSpPr>
          <p:cNvPr id="5" name="Content Placeholder 4"/>
          <p:cNvSpPr>
            <a:spLocks noGrp="1"/>
          </p:cNvSpPr>
          <p:nvPr>
            <p:ph idx="1"/>
          </p:nvPr>
        </p:nvSpPr>
        <p:spPr>
          <a:xfrm>
            <a:off x="152400" y="1524000"/>
            <a:ext cx="8839200" cy="4812792"/>
          </a:xfrm>
          <a:solidFill>
            <a:schemeClr val="bg1"/>
          </a:solidFill>
        </p:spPr>
        <p:txBody>
          <a:bodyPr>
            <a:normAutofit lnSpcReduction="10000"/>
          </a:bodyPr>
          <a:lstStyle/>
          <a:p>
            <a:pPr>
              <a:buNone/>
            </a:pPr>
            <a:endParaRPr lang="en-US" dirty="0"/>
          </a:p>
          <a:p>
            <a:pPr>
              <a:buNone/>
            </a:pPr>
            <a:endParaRPr lang="en-US" dirty="0"/>
          </a:p>
          <a:p>
            <a:pPr algn="just">
              <a:buNone/>
            </a:pPr>
            <a:r>
              <a:rPr lang="en-US" dirty="0"/>
              <a:t>There are two kinds of routes through which federations have been formed:</a:t>
            </a:r>
          </a:p>
          <a:p>
            <a:pPr algn="just">
              <a:buNone/>
            </a:pPr>
            <a:endParaRPr lang="en-US" dirty="0"/>
          </a:p>
          <a:p>
            <a:pPr marL="514350" indent="-514350">
              <a:buAutoNum type="arabicPeriod"/>
            </a:pPr>
            <a:r>
              <a:rPr lang="en-US" b="1" dirty="0">
                <a:solidFill>
                  <a:srgbClr val="FF0000"/>
                </a:solidFill>
              </a:rPr>
              <a:t>‘Coming together’ federation’</a:t>
            </a:r>
            <a:r>
              <a:rPr lang="en-US" dirty="0">
                <a:solidFill>
                  <a:srgbClr val="FF0000"/>
                </a:solidFill>
              </a:rPr>
              <a:t>:- </a:t>
            </a:r>
          </a:p>
          <a:p>
            <a:pPr marL="514350" indent="-514350">
              <a:buNone/>
            </a:pPr>
            <a:r>
              <a:rPr lang="en-US" dirty="0"/>
              <a:t>        -  it involves independent states coming together on their own to   </a:t>
            </a:r>
          </a:p>
          <a:p>
            <a:pPr marL="514350" indent="-514350">
              <a:buNone/>
            </a:pPr>
            <a:r>
              <a:rPr lang="en-US" dirty="0"/>
              <a:t>            form a bigger unit.</a:t>
            </a:r>
          </a:p>
          <a:p>
            <a:pPr marL="514350" indent="-514350">
              <a:buAutoNum type="arabicPeriod"/>
            </a:pPr>
            <a:endParaRPr lang="en-US" dirty="0"/>
          </a:p>
          <a:p>
            <a:pPr marL="514350" indent="-514350">
              <a:buNone/>
            </a:pPr>
            <a:r>
              <a:rPr lang="en-US" dirty="0"/>
              <a:t>         - It helps to maintain sovereignty and security.</a:t>
            </a:r>
          </a:p>
          <a:p>
            <a:pPr marL="514350" indent="-514350">
              <a:buAutoNum type="arabicPeriod"/>
            </a:pPr>
            <a:endParaRPr lang="en-US" dirty="0"/>
          </a:p>
          <a:p>
            <a:pPr marL="514350" indent="-514350">
              <a:buNone/>
            </a:pPr>
            <a:r>
              <a:rPr lang="en-US" dirty="0"/>
              <a:t>         - Each state is equally strong.</a:t>
            </a:r>
          </a:p>
          <a:p>
            <a:pPr marL="514350" indent="-514350">
              <a:buNone/>
            </a:pPr>
            <a:endParaRPr lang="en-US" dirty="0"/>
          </a:p>
          <a:p>
            <a:pPr marL="514350" indent="-514350">
              <a:buNone/>
            </a:pPr>
            <a:r>
              <a:rPr lang="en-US" dirty="0"/>
              <a:t>         </a:t>
            </a:r>
            <a:r>
              <a:rPr lang="en-US" dirty="0">
                <a:solidFill>
                  <a:srgbClr val="FF0000"/>
                </a:solidFill>
              </a:rPr>
              <a:t>Example: USA, Switzerland and Australia.</a:t>
            </a:r>
          </a:p>
          <a:p>
            <a:pPr marL="514350" indent="-514350">
              <a:buNone/>
            </a:pPr>
            <a:endParaRPr lang="en-US" dirty="0">
              <a:solidFill>
                <a:srgbClr val="FF0000"/>
              </a:solidFill>
            </a:endParaRPr>
          </a:p>
          <a:p>
            <a:pPr marL="514350" indent="-514350">
              <a:buNone/>
            </a:pPr>
            <a:endParaRPr lang="en-US" dirty="0"/>
          </a:p>
          <a:p>
            <a:pPr marL="514350" indent="-514350">
              <a:buNone/>
            </a:pPr>
            <a:endParaRPr lang="en-US" dirty="0"/>
          </a:p>
          <a:p>
            <a:pPr marL="514350" indent="-514350">
              <a:buAutoNum type="arabicPeriod"/>
            </a:pPr>
            <a:endParaRPr lang="en-US" dirty="0"/>
          </a:p>
          <a:p>
            <a:pPr marL="514350" indent="-514350">
              <a:buAutoNum type="arabicPeriod"/>
            </a:pPr>
            <a:endParaRPr lang="en-US" dirty="0"/>
          </a:p>
          <a:p>
            <a:pPr>
              <a:buNone/>
            </a:pPr>
            <a:endParaRPr lang="en-US" dirty="0"/>
          </a:p>
          <a:p>
            <a:pPr>
              <a:buNone/>
            </a:pPr>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10</a:t>
            </a:fld>
            <a:endParaRPr lang="en-US" dirty="0"/>
          </a:p>
        </p:txBody>
      </p:sp>
    </p:spTree>
  </p:cSld>
  <p:clrMapOvr>
    <a:masterClrMapping/>
  </p:clrMapOvr>
  <p:transition spd="slow">
    <p:comb/>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90600"/>
          </a:xfrm>
        </p:spPr>
        <p:txBody>
          <a:bodyPr>
            <a:normAutofit fontScale="90000"/>
          </a:bodyPr>
          <a:lstStyle/>
          <a:p>
            <a:r>
              <a:rPr lang="en-US" b="1" dirty="0">
                <a:solidFill>
                  <a:srgbClr val="FF0000"/>
                </a:solidFill>
              </a:rPr>
              <a:t>Example of  ‘Coming together’ federation  countries</a:t>
            </a:r>
            <a:endParaRPr lang="en-US" dirty="0">
              <a:solidFill>
                <a:srgbClr val="FF0000"/>
              </a:solidFill>
            </a:endParaRPr>
          </a:p>
        </p:txBody>
      </p:sp>
      <p:sp>
        <p:nvSpPr>
          <p:cNvPr id="5" name="Content Placeholder 4"/>
          <p:cNvSpPr>
            <a:spLocks noGrp="1"/>
          </p:cNvSpPr>
          <p:nvPr>
            <p:ph idx="1"/>
          </p:nvPr>
        </p:nvSpPr>
        <p:spPr/>
        <p:txBody>
          <a:bodyPr/>
          <a:lstStyle/>
          <a:p>
            <a:endParaRPr lang="en-US" dirty="0"/>
          </a:p>
          <a:p>
            <a:pPr>
              <a:buNone/>
            </a:pPr>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11</a:t>
            </a:fld>
            <a:endParaRPr lang="en-US" dirty="0"/>
          </a:p>
        </p:txBody>
      </p:sp>
      <p:pic>
        <p:nvPicPr>
          <p:cNvPr id="6" name="Picture 5" descr="United States Map with Capitals, US States and Capitals Map"/>
          <p:cNvPicPr/>
          <p:nvPr/>
        </p:nvPicPr>
        <p:blipFill>
          <a:blip r:embed="rId2"/>
          <a:srcRect/>
          <a:stretch>
            <a:fillRect/>
          </a:stretch>
        </p:blipFill>
        <p:spPr bwMode="auto">
          <a:xfrm>
            <a:off x="228600" y="1371600"/>
            <a:ext cx="4581690" cy="2773784"/>
          </a:xfrm>
          <a:prstGeom prst="rect">
            <a:avLst/>
          </a:prstGeom>
          <a:noFill/>
          <a:ln w="9525">
            <a:noFill/>
            <a:miter lim="800000"/>
            <a:headEnd/>
            <a:tailEnd/>
          </a:ln>
        </p:spPr>
      </p:pic>
      <p:pic>
        <p:nvPicPr>
          <p:cNvPr id="7" name="Picture 6" descr="Australia Map, Australia Travel Maps from Word Travels"/>
          <p:cNvPicPr/>
          <p:nvPr/>
        </p:nvPicPr>
        <p:blipFill>
          <a:blip r:embed="rId3"/>
          <a:srcRect/>
          <a:stretch>
            <a:fillRect/>
          </a:stretch>
        </p:blipFill>
        <p:spPr bwMode="auto">
          <a:xfrm>
            <a:off x="2075688" y="4311432"/>
            <a:ext cx="5029200" cy="2348219"/>
          </a:xfrm>
          <a:prstGeom prst="rect">
            <a:avLst/>
          </a:prstGeom>
          <a:noFill/>
          <a:ln w="9525">
            <a:noFill/>
            <a:miter lim="800000"/>
            <a:headEnd/>
            <a:tailEnd/>
          </a:ln>
        </p:spPr>
      </p:pic>
      <p:pic>
        <p:nvPicPr>
          <p:cNvPr id="8" name="Picture 7" descr="Switzerland Political Map"/>
          <p:cNvPicPr/>
          <p:nvPr/>
        </p:nvPicPr>
        <p:blipFill>
          <a:blip r:embed="rId4"/>
          <a:srcRect/>
          <a:stretch>
            <a:fillRect/>
          </a:stretch>
        </p:blipFill>
        <p:spPr bwMode="auto">
          <a:xfrm>
            <a:off x="5029200" y="1385248"/>
            <a:ext cx="3995382" cy="2749229"/>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TYPES OF FEDERALISM</a:t>
            </a:r>
            <a:endParaRPr lang="en-US" dirty="0">
              <a:solidFill>
                <a:srgbClr val="FF0000"/>
              </a:solidFill>
            </a:endParaRPr>
          </a:p>
        </p:txBody>
      </p:sp>
      <p:sp>
        <p:nvSpPr>
          <p:cNvPr id="5" name="Content Placeholder 4"/>
          <p:cNvSpPr>
            <a:spLocks noGrp="1"/>
          </p:cNvSpPr>
          <p:nvPr>
            <p:ph idx="1"/>
          </p:nvPr>
        </p:nvSpPr>
        <p:spPr>
          <a:xfrm>
            <a:off x="181560" y="1506517"/>
            <a:ext cx="8810039" cy="4833323"/>
          </a:xfrm>
          <a:solidFill>
            <a:schemeClr val="bg1"/>
          </a:solidFill>
        </p:spPr>
        <p:txBody>
          <a:bodyPr>
            <a:normAutofit/>
          </a:bodyPr>
          <a:lstStyle/>
          <a:p>
            <a:pPr marL="514350" indent="-514350">
              <a:buAutoNum type="arabicPeriod" startAt="2"/>
            </a:pPr>
            <a:r>
              <a:rPr lang="en-US" b="1" dirty="0">
                <a:solidFill>
                  <a:srgbClr val="FF0000"/>
                </a:solidFill>
              </a:rPr>
              <a:t>‘Holding together’ federation: </a:t>
            </a:r>
          </a:p>
          <a:p>
            <a:pPr marL="514350" indent="-514350">
              <a:buNone/>
            </a:pPr>
            <a:r>
              <a:rPr lang="en-US" b="1" dirty="0"/>
              <a:t>     -</a:t>
            </a:r>
            <a:r>
              <a:rPr lang="en-US" dirty="0"/>
              <a:t> It is where a large  country decides to divide its power between the constituent States and the  national government (Country is divided into states for better Administration).</a:t>
            </a:r>
          </a:p>
          <a:p>
            <a:pPr marL="514350" indent="-514350">
              <a:buNone/>
            </a:pPr>
            <a:r>
              <a:rPr lang="en-US" dirty="0"/>
              <a:t>	 - It helps for  accommodation of diversity.</a:t>
            </a:r>
          </a:p>
          <a:p>
            <a:pPr marL="514350" indent="-514350">
              <a:buNone/>
            </a:pPr>
            <a:r>
              <a:rPr lang="en-US" dirty="0"/>
              <a:t>	 - Some states might  be  given more power. The    </a:t>
            </a:r>
          </a:p>
          <a:p>
            <a:pPr marL="514350" indent="-514350">
              <a:buNone/>
            </a:pPr>
            <a:r>
              <a:rPr lang="en-US" dirty="0"/>
              <a:t>          ultimate power lies in the hand of central.</a:t>
            </a:r>
          </a:p>
          <a:p>
            <a:pPr marL="514350" indent="-514350">
              <a:buNone/>
            </a:pPr>
            <a:endParaRPr lang="en-US" dirty="0"/>
          </a:p>
          <a:p>
            <a:pPr>
              <a:buNone/>
            </a:pPr>
            <a:r>
              <a:rPr lang="en-US" dirty="0"/>
              <a:t>         </a:t>
            </a:r>
            <a:r>
              <a:rPr lang="en-US" dirty="0">
                <a:solidFill>
                  <a:srgbClr val="FF0000"/>
                </a:solidFill>
              </a:rPr>
              <a:t>Example: India, Spain and  Belgium.</a:t>
            </a:r>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12</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990600"/>
          </a:xfrm>
        </p:spPr>
        <p:txBody>
          <a:bodyPr>
            <a:normAutofit fontScale="90000"/>
          </a:bodyPr>
          <a:lstStyle/>
          <a:p>
            <a:r>
              <a:rPr lang="en-US" b="1" dirty="0">
                <a:solidFill>
                  <a:srgbClr val="FF0000"/>
                </a:solidFill>
              </a:rPr>
              <a:t>Example of ‘Holding together’ federation  countries</a:t>
            </a:r>
            <a:endParaRPr lang="en-US" dirty="0">
              <a:solidFill>
                <a:srgbClr val="FF0000"/>
              </a:solidFill>
            </a:endParaRPr>
          </a:p>
        </p:txBody>
      </p:sp>
      <p:pic>
        <p:nvPicPr>
          <p:cNvPr id="6" name="Content Placeholder 5" descr="India Map, Map of India"/>
          <p:cNvPicPr>
            <a:picLocks noGrp="1"/>
          </p:cNvPicPr>
          <p:nvPr>
            <p:ph idx="1"/>
          </p:nvPr>
        </p:nvPicPr>
        <p:blipFill>
          <a:blip r:embed="rId2"/>
          <a:srcRect/>
          <a:stretch>
            <a:fillRect/>
          </a:stretch>
        </p:blipFill>
        <p:spPr bwMode="auto">
          <a:xfrm>
            <a:off x="228600" y="1371600"/>
            <a:ext cx="3733800" cy="4953000"/>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13</a:t>
            </a:fld>
            <a:endParaRPr lang="en-US" dirty="0"/>
          </a:p>
        </p:txBody>
      </p:sp>
      <p:pic>
        <p:nvPicPr>
          <p:cNvPr id="7" name="Picture 6" descr="Destination Spain. Travel and tourist information . Map of Spain."/>
          <p:cNvPicPr/>
          <p:nvPr/>
        </p:nvPicPr>
        <p:blipFill>
          <a:blip r:embed="rId3"/>
          <a:srcRect/>
          <a:stretch>
            <a:fillRect/>
          </a:stretch>
        </p:blipFill>
        <p:spPr bwMode="auto">
          <a:xfrm>
            <a:off x="4495800" y="1447800"/>
            <a:ext cx="4038600" cy="2362200"/>
          </a:xfrm>
          <a:prstGeom prst="rect">
            <a:avLst/>
          </a:prstGeom>
          <a:noFill/>
          <a:ln w="9525">
            <a:noFill/>
            <a:miter lim="800000"/>
            <a:headEnd/>
            <a:tailEnd/>
          </a:ln>
        </p:spPr>
      </p:pic>
      <p:pic>
        <p:nvPicPr>
          <p:cNvPr id="8" name="Picture 7" descr="Destination Belgium . Map of Belgium."/>
          <p:cNvPicPr/>
          <p:nvPr/>
        </p:nvPicPr>
        <p:blipFill>
          <a:blip r:embed="rId4"/>
          <a:srcRect/>
          <a:stretch>
            <a:fillRect/>
          </a:stretch>
        </p:blipFill>
        <p:spPr bwMode="auto">
          <a:xfrm>
            <a:off x="4495800" y="3886200"/>
            <a:ext cx="4041140" cy="24384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What makes India a federal Country?</a:t>
            </a:r>
          </a:p>
        </p:txBody>
      </p:sp>
      <p:sp>
        <p:nvSpPr>
          <p:cNvPr id="7" name="Content Placeholder 6"/>
          <p:cNvSpPr>
            <a:spLocks noGrp="1"/>
          </p:cNvSpPr>
          <p:nvPr>
            <p:ph idx="1"/>
          </p:nvPr>
        </p:nvSpPr>
        <p:spPr>
          <a:xfrm>
            <a:off x="152400" y="1527048"/>
            <a:ext cx="8653272" cy="4812792"/>
          </a:xfrm>
          <a:solidFill>
            <a:schemeClr val="bg1"/>
          </a:solidFill>
        </p:spPr>
        <p:txBody>
          <a:bodyPr/>
          <a:lstStyle/>
          <a:p>
            <a:r>
              <a:rPr lang="en-US" dirty="0"/>
              <a:t>Division of powers</a:t>
            </a:r>
          </a:p>
          <a:p>
            <a:r>
              <a:rPr lang="en-US" dirty="0"/>
              <a:t>Some states are given more </a:t>
            </a:r>
          </a:p>
          <a:p>
            <a:pPr>
              <a:buNone/>
            </a:pPr>
            <a:r>
              <a:rPr lang="en-US" dirty="0"/>
              <a:t>    powers</a:t>
            </a:r>
          </a:p>
          <a:p>
            <a:r>
              <a:rPr lang="en-US" dirty="0"/>
              <a:t>Written constitution</a:t>
            </a:r>
          </a:p>
          <a:p>
            <a:r>
              <a:rPr lang="en-US" dirty="0"/>
              <a:t>Union territories</a:t>
            </a:r>
          </a:p>
          <a:p>
            <a:r>
              <a:rPr lang="en-US" dirty="0"/>
              <a:t>Jurisdiction</a:t>
            </a:r>
          </a:p>
          <a:p>
            <a:r>
              <a:rPr lang="en-US" dirty="0"/>
              <a:t>Levels of Government </a:t>
            </a:r>
          </a:p>
          <a:p>
            <a:pPr>
              <a:buNone/>
            </a:pPr>
            <a:r>
              <a:rPr lang="en-US" dirty="0"/>
              <a:t>    </a:t>
            </a:r>
          </a:p>
          <a:p>
            <a:pPr>
              <a:buNone/>
            </a:pPr>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14</a:t>
            </a:fld>
            <a:endParaRPr lang="en-US" dirty="0"/>
          </a:p>
        </p:txBody>
      </p:sp>
      <p:pic>
        <p:nvPicPr>
          <p:cNvPr id="8" name="Picture 7" descr="India Map, Map of India"/>
          <p:cNvPicPr/>
          <p:nvPr/>
        </p:nvPicPr>
        <p:blipFill>
          <a:blip r:embed="rId2"/>
          <a:srcRect/>
          <a:stretch>
            <a:fillRect/>
          </a:stretch>
        </p:blipFill>
        <p:spPr bwMode="auto">
          <a:xfrm>
            <a:off x="5029200" y="1524000"/>
            <a:ext cx="3837410" cy="4572000"/>
          </a:xfrm>
          <a:prstGeom prst="rect">
            <a:avLst/>
          </a:prstGeom>
          <a:noFill/>
          <a:ln w="9525">
            <a:noFill/>
            <a:miter lim="800000"/>
            <a:headEnd/>
            <a:tailEn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Division of power</a:t>
            </a:r>
          </a:p>
        </p:txBody>
      </p:sp>
      <p:pic>
        <p:nvPicPr>
          <p:cNvPr id="10" name="Content Placeholder 9" descr="https://image.slidesharecdn.com/federalism-090623024045-phpapp01/95/federalism-10-728.jpg?cb=1245724879"/>
          <p:cNvPicPr>
            <a:picLocks noGrp="1"/>
          </p:cNvPicPr>
          <p:nvPr>
            <p:ph idx="1"/>
          </p:nvPr>
        </p:nvPicPr>
        <p:blipFill>
          <a:blip r:embed="rId2"/>
          <a:stretch>
            <a:fillRect/>
          </a:stretch>
        </p:blipFill>
        <p:spPr bwMode="auto">
          <a:xfrm>
            <a:off x="1671108" y="1825625"/>
            <a:ext cx="5801784" cy="435133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15</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Division of power</a:t>
            </a:r>
          </a:p>
        </p:txBody>
      </p:sp>
      <p:pic>
        <p:nvPicPr>
          <p:cNvPr id="6" name="Content Placeholder 5" descr="Residuary Powers…&lt;br /&gt;Are subjects which do not fall under these three lists.&lt;br /&gt;Union government alone has the power t..."/>
          <p:cNvPicPr>
            <a:picLocks noGrp="1"/>
          </p:cNvPicPr>
          <p:nvPr>
            <p:ph idx="1"/>
          </p:nvPr>
        </p:nvPicPr>
        <p:blipFill>
          <a:blip r:embed="rId2"/>
          <a:stretch>
            <a:fillRect/>
          </a:stretch>
        </p:blipFill>
        <p:spPr bwMode="auto">
          <a:xfrm>
            <a:off x="1671108" y="1825625"/>
            <a:ext cx="5801784" cy="435133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16</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How is Federalism Practiced in India</a:t>
            </a:r>
          </a:p>
        </p:txBody>
      </p:sp>
      <p:pic>
        <p:nvPicPr>
          <p:cNvPr id="6" name="Content Placeholder 5" descr="How does India practice power sharing?&lt;br /&gt;By creating linguistic states. Which has made administration easier.-New state..."/>
          <p:cNvPicPr>
            <a:picLocks noGrp="1"/>
          </p:cNvPicPr>
          <p:nvPr>
            <p:ph idx="1"/>
          </p:nvPr>
        </p:nvPicPr>
        <p:blipFill>
          <a:blip r:embed="rId2"/>
          <a:stretch>
            <a:fillRect/>
          </a:stretch>
        </p:blipFill>
        <p:spPr bwMode="auto">
          <a:xfrm>
            <a:off x="1671108" y="1825625"/>
            <a:ext cx="5801784" cy="43513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17</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How is Federalism Practiced in India</a:t>
            </a:r>
          </a:p>
        </p:txBody>
      </p:sp>
      <p:sp>
        <p:nvSpPr>
          <p:cNvPr id="5" name="Content Placeholder 4"/>
          <p:cNvSpPr>
            <a:spLocks noGrp="1"/>
          </p:cNvSpPr>
          <p:nvPr>
            <p:ph idx="1"/>
          </p:nvPr>
        </p:nvSpPr>
        <p:spPr>
          <a:xfrm>
            <a:off x="152400" y="1467697"/>
            <a:ext cx="8839200" cy="4872143"/>
          </a:xfrm>
          <a:solidFill>
            <a:schemeClr val="bg1"/>
          </a:solidFill>
        </p:spPr>
        <p:txBody>
          <a:bodyPr>
            <a:normAutofit/>
          </a:bodyPr>
          <a:lstStyle/>
          <a:p>
            <a:pPr>
              <a:buNone/>
            </a:pPr>
            <a:r>
              <a:rPr lang="en-US" b="1" dirty="0">
                <a:solidFill>
                  <a:srgbClr val="FF0000"/>
                </a:solidFill>
              </a:rPr>
              <a:t>Linguistic States:</a:t>
            </a:r>
          </a:p>
          <a:p>
            <a:pPr algn="just"/>
            <a:r>
              <a:rPr lang="en-US" dirty="0"/>
              <a:t>The first challenge faced after independence was linguistic states.</a:t>
            </a:r>
          </a:p>
          <a:p>
            <a:pPr algn="just"/>
            <a:r>
              <a:rPr lang="en-US" dirty="0"/>
              <a:t>In 1947, the areas, boundaries and names of several old states of India were changed in order to create new states.</a:t>
            </a:r>
          </a:p>
          <a:p>
            <a:pPr algn="just"/>
            <a:r>
              <a:rPr lang="en-US" dirty="0"/>
              <a:t>New states were formed on the basis of language and culture.</a:t>
            </a:r>
          </a:p>
          <a:p>
            <a:pPr marL="0" indent="0" algn="just">
              <a:buNone/>
            </a:pPr>
            <a:r>
              <a:rPr lang="en-US" dirty="0"/>
              <a:t>    (who spoke the same language lived in the same state.) </a:t>
            </a:r>
          </a:p>
          <a:p>
            <a:pPr marL="0" indent="0" algn="just">
              <a:buNone/>
            </a:pPr>
            <a:r>
              <a:rPr lang="en-US" dirty="0"/>
              <a:t>    Ex: Gujarat, West-Bengal and Bihar.</a:t>
            </a:r>
          </a:p>
          <a:p>
            <a:pPr algn="just"/>
            <a:r>
              <a:rPr lang="en-US" dirty="0"/>
              <a:t>Some states were formed on the basis of ethnicity and geography such as Nagaland, Uttarakhand and Jharkhand</a:t>
            </a:r>
          </a:p>
          <a:p>
            <a:pPr algn="just"/>
            <a:r>
              <a:rPr lang="en-US" dirty="0"/>
              <a:t>Some concerned that it might lead to disintegration of the nation, but worked well and effectively.</a:t>
            </a:r>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18</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How is Federalism Practiced in India</a:t>
            </a:r>
          </a:p>
        </p:txBody>
      </p:sp>
      <p:sp>
        <p:nvSpPr>
          <p:cNvPr id="5" name="Content Placeholder 4"/>
          <p:cNvSpPr>
            <a:spLocks noGrp="1"/>
          </p:cNvSpPr>
          <p:nvPr>
            <p:ph idx="1"/>
          </p:nvPr>
        </p:nvSpPr>
        <p:spPr>
          <a:xfrm>
            <a:off x="152400" y="1527048"/>
            <a:ext cx="8839200" cy="4797552"/>
          </a:xfrm>
          <a:solidFill>
            <a:schemeClr val="bg1"/>
          </a:solidFill>
        </p:spPr>
        <p:txBody>
          <a:bodyPr>
            <a:normAutofit/>
          </a:bodyPr>
          <a:lstStyle/>
          <a:p>
            <a:pPr>
              <a:buNone/>
            </a:pPr>
            <a:r>
              <a:rPr lang="en-US" b="1" dirty="0">
                <a:solidFill>
                  <a:srgbClr val="FF0000"/>
                </a:solidFill>
              </a:rPr>
              <a:t>Language Policy :</a:t>
            </a:r>
          </a:p>
          <a:p>
            <a:pPr algn="just"/>
            <a:r>
              <a:rPr lang="en-US" dirty="0"/>
              <a:t>A second test for Indian federation is the language policy. Our constitution did not give the status of national language to any one language. Hindi was identified as the official language. But it is the mother tongue of only about 40% of Indians.</a:t>
            </a:r>
          </a:p>
          <a:p>
            <a:pPr algn="just"/>
            <a:r>
              <a:rPr lang="en-US" dirty="0"/>
              <a:t>There are 21 other Scheduled  languages. State can enjoy its own language for official purpose.</a:t>
            </a:r>
          </a:p>
          <a:p>
            <a:pPr algn="just"/>
            <a:r>
              <a:rPr lang="en-US" dirty="0"/>
              <a:t>We have adopted three languages structure and any two languages  can be used for administrative purpose.</a:t>
            </a:r>
          </a:p>
          <a:p>
            <a:endParaRPr lang="en-US" dirty="0"/>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19</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How is Federalism Practiced in India</a:t>
            </a:r>
          </a:p>
        </p:txBody>
      </p:sp>
      <p:sp>
        <p:nvSpPr>
          <p:cNvPr id="5" name="Content Placeholder 4"/>
          <p:cNvSpPr>
            <a:spLocks noGrp="1"/>
          </p:cNvSpPr>
          <p:nvPr>
            <p:ph idx="1"/>
          </p:nvPr>
        </p:nvSpPr>
        <p:spPr>
          <a:xfrm>
            <a:off x="152400" y="1527048"/>
            <a:ext cx="8839200" cy="4797552"/>
          </a:xfrm>
          <a:solidFill>
            <a:schemeClr val="bg1"/>
          </a:solidFill>
        </p:spPr>
        <p:txBody>
          <a:bodyPr>
            <a:normAutofit/>
          </a:bodyPr>
          <a:lstStyle/>
          <a:p>
            <a:pPr>
              <a:buNone/>
            </a:pPr>
            <a:r>
              <a:rPr lang="en-US" b="1" dirty="0">
                <a:solidFill>
                  <a:srgbClr val="FF0000"/>
                </a:solidFill>
              </a:rPr>
              <a:t>Language Policy :</a:t>
            </a:r>
            <a:endParaRPr lang="en-US" dirty="0">
              <a:solidFill>
                <a:srgbClr val="FF0000"/>
              </a:solidFill>
            </a:endParaRPr>
          </a:p>
          <a:p>
            <a:pPr algn="just"/>
            <a:r>
              <a:rPr lang="en-US" dirty="0"/>
              <a:t>According to constitution, the use of English for official Purposes was to stop in 1965. but non-Hindi speaking States demanded that the use of English, therefore the central government said to continue the use of English along with Hindi for official purposes.</a:t>
            </a:r>
          </a:p>
          <a:p>
            <a:pPr algn="just"/>
            <a:r>
              <a:rPr lang="en-US" dirty="0"/>
              <a:t>A candidate in an examination conducted  for the central government positions may opt to take the examination in any  of these languages. States too have their own official languages.</a:t>
            </a:r>
          </a:p>
          <a:p>
            <a:endParaRPr lang="en-US" dirty="0"/>
          </a:p>
          <a:p>
            <a:pPr>
              <a:buNone/>
            </a:pPr>
            <a:endParaRPr lang="en-US" dirty="0"/>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20</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916F57-25D5-4452-BFDF-BB6675DA4536}" type="datetime1">
              <a:rPr lang="en-US" smtClean="0"/>
              <a:pPr/>
              <a:t>4/16/2026</a:t>
            </a:fld>
            <a:endParaRPr lang="en-US" dirty="0"/>
          </a:p>
        </p:txBody>
      </p:sp>
      <p:sp>
        <p:nvSpPr>
          <p:cNvPr id="3" name="Slide Number Placeholder 2"/>
          <p:cNvSpPr>
            <a:spLocks noGrp="1"/>
          </p:cNvSpPr>
          <p:nvPr>
            <p:ph type="sldNum" sz="quarter" idx="12"/>
          </p:nvPr>
        </p:nvSpPr>
        <p:spPr/>
        <p:txBody>
          <a:bodyPr/>
          <a:lstStyle/>
          <a:p>
            <a:fld id="{8FAC0386-2D48-46EF-B0B1-77C2C1C46F85}" type="slidenum">
              <a:rPr lang="en-US" smtClean="0"/>
              <a:pPr/>
              <a:t>21</a:t>
            </a:fld>
            <a:endParaRPr lang="en-US" dirty="0"/>
          </a:p>
        </p:txBody>
      </p:sp>
      <p:pic>
        <p:nvPicPr>
          <p:cNvPr id="4" name="Picture 3" descr="India has 22 SCHEDULED LANGUAGES listed in the Constitution.  HINDI  is the  OFFICIAL  language of India. "/>
          <p:cNvPicPr/>
          <p:nvPr/>
        </p:nvPicPr>
        <p:blipFill>
          <a:blip r:embed="rId2">
            <a:extLst>
              <a:ext uri="{28A0092B-C50C-407E-A947-70E740481C1C}">
                <a14:useLocalDpi xmlns:a14="http://schemas.microsoft.com/office/drawing/2010/main" val="0"/>
              </a:ext>
            </a:extLst>
          </a:blip>
          <a:srcRect/>
          <a:stretch>
            <a:fillRect/>
          </a:stretch>
        </p:blipFill>
        <p:spPr bwMode="auto">
          <a:xfrm>
            <a:off x="214952" y="990600"/>
            <a:ext cx="8915400" cy="5414384"/>
          </a:xfrm>
          <a:prstGeom prst="rect">
            <a:avLst/>
          </a:prstGeom>
          <a:noFill/>
          <a:ln>
            <a:noFill/>
          </a:ln>
        </p:spPr>
      </p:pic>
      <p:graphicFrame>
        <p:nvGraphicFramePr>
          <p:cNvPr id="6" name="Table 5"/>
          <p:cNvGraphicFramePr>
            <a:graphicFrameLocks noGrp="1"/>
          </p:cNvGraphicFramePr>
          <p:nvPr>
            <p:extLst>
              <p:ext uri="{D42A27DB-BD31-4B8C-83A1-F6EECF244321}">
                <p14:modId xmlns:p14="http://schemas.microsoft.com/office/powerpoint/2010/main" val="4204197787"/>
              </p:ext>
            </p:extLst>
          </p:nvPr>
        </p:nvGraphicFramePr>
        <p:xfrm>
          <a:off x="1676400" y="228600"/>
          <a:ext cx="5638799" cy="822960"/>
        </p:xfrm>
        <a:graphic>
          <a:graphicData uri="http://schemas.openxmlformats.org/drawingml/2006/table">
            <a:tbl>
              <a:tblPr firstRow="1" bandRow="1">
                <a:tableStyleId>{5C22544A-7EE6-4342-B048-85BDC9FD1C3A}</a:tableStyleId>
              </a:tblPr>
              <a:tblGrid>
                <a:gridCol w="5407067">
                  <a:extLst>
                    <a:ext uri="{9D8B030D-6E8A-4147-A177-3AD203B41FA5}">
                      <a16:colId xmlns:a16="http://schemas.microsoft.com/office/drawing/2014/main" val="20000"/>
                    </a:ext>
                  </a:extLst>
                </a:gridCol>
                <a:gridCol w="231732">
                  <a:extLst>
                    <a:ext uri="{9D8B030D-6E8A-4147-A177-3AD203B41FA5}">
                      <a16:colId xmlns:a16="http://schemas.microsoft.com/office/drawing/2014/main" val="20001"/>
                    </a:ext>
                  </a:extLst>
                </a:gridCol>
              </a:tblGrid>
              <a:tr h="762000">
                <a:tc>
                  <a:txBody>
                    <a:bodyPr/>
                    <a:lstStyle/>
                    <a:p>
                      <a:r>
                        <a:rPr lang="en-US" sz="2400" dirty="0"/>
                        <a:t>     </a:t>
                      </a:r>
                    </a:p>
                    <a:p>
                      <a:r>
                        <a:rPr lang="en-US" sz="2400" baseline="0" dirty="0"/>
                        <a:t>     </a:t>
                      </a:r>
                      <a:r>
                        <a:rPr lang="en-US" sz="2400" dirty="0"/>
                        <a:t>Scheduled</a:t>
                      </a:r>
                      <a:r>
                        <a:rPr lang="en-US" sz="2400" baseline="0" dirty="0"/>
                        <a:t> Language of India</a:t>
                      </a:r>
                      <a:endParaRPr lang="en-US" sz="2400"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18601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How is Federalism Practiced in India</a:t>
            </a:r>
          </a:p>
        </p:txBody>
      </p:sp>
      <p:sp>
        <p:nvSpPr>
          <p:cNvPr id="5" name="Content Placeholder 4"/>
          <p:cNvSpPr>
            <a:spLocks noGrp="1"/>
          </p:cNvSpPr>
          <p:nvPr>
            <p:ph idx="1"/>
          </p:nvPr>
        </p:nvSpPr>
        <p:spPr>
          <a:xfrm>
            <a:off x="152400" y="1527048"/>
            <a:ext cx="8839200" cy="4797552"/>
          </a:xfrm>
          <a:solidFill>
            <a:schemeClr val="bg1"/>
          </a:solidFill>
        </p:spPr>
        <p:txBody>
          <a:bodyPr>
            <a:normAutofit fontScale="55000" lnSpcReduction="20000"/>
          </a:bodyPr>
          <a:lstStyle/>
          <a:p>
            <a:pPr>
              <a:buNone/>
            </a:pPr>
            <a:r>
              <a:rPr lang="en-US" sz="4400" b="1" dirty="0">
                <a:solidFill>
                  <a:srgbClr val="FF0000"/>
                </a:solidFill>
              </a:rPr>
              <a:t>Central and State Relation :</a:t>
            </a:r>
          </a:p>
          <a:p>
            <a:pPr>
              <a:buNone/>
            </a:pPr>
            <a:endParaRPr lang="en-US" b="1" dirty="0">
              <a:solidFill>
                <a:srgbClr val="FFFF00"/>
              </a:solidFill>
            </a:endParaRPr>
          </a:p>
          <a:p>
            <a:pPr>
              <a:lnSpc>
                <a:spcPct val="120000"/>
              </a:lnSpc>
            </a:pPr>
            <a:r>
              <a:rPr lang="en-US" sz="2900" dirty="0"/>
              <a:t>It helped a lot to avoid clashes between central and states.</a:t>
            </a:r>
          </a:p>
          <a:p>
            <a:pPr algn="just">
              <a:lnSpc>
                <a:spcPct val="120000"/>
              </a:lnSpc>
            </a:pPr>
            <a:r>
              <a:rPr lang="en-US" sz="2900" dirty="0"/>
              <a:t>When same political party ruling in central and state. State couldn't enjoy more power as central government could influence the decisions of states.</a:t>
            </a:r>
          </a:p>
          <a:p>
            <a:pPr algn="just">
              <a:lnSpc>
                <a:spcPct val="120000"/>
              </a:lnSpc>
            </a:pPr>
            <a:r>
              <a:rPr lang="en-US" sz="2900" dirty="0"/>
              <a:t>But after 1990, many regional parties came up and acquired the power in states. This was also the beginning  of the era of </a:t>
            </a:r>
            <a:r>
              <a:rPr lang="en-US" sz="2900" b="1" dirty="0">
                <a:solidFill>
                  <a:srgbClr val="FF0000"/>
                </a:solidFill>
              </a:rPr>
              <a:t>Coalition Governments </a:t>
            </a:r>
            <a:r>
              <a:rPr lang="en-US" sz="2900" dirty="0"/>
              <a:t>at the centre.</a:t>
            </a:r>
          </a:p>
          <a:p>
            <a:pPr algn="just">
              <a:lnSpc>
                <a:spcPct val="120000"/>
              </a:lnSpc>
            </a:pPr>
            <a:r>
              <a:rPr lang="en-US" sz="2900" dirty="0"/>
              <a:t> Since no single party  got a clear majority in the Lok Sabha, the major national parties had to enter into an alliance with many parties including several regional parties to form a government at the centre. </a:t>
            </a:r>
          </a:p>
          <a:p>
            <a:pPr algn="just">
              <a:lnSpc>
                <a:spcPct val="120000"/>
              </a:lnSpc>
            </a:pPr>
            <a:r>
              <a:rPr lang="en-US" sz="2900" dirty="0"/>
              <a:t>This led to a new culture of power sharing and respect for the autonomy of the state governments.  Thus more independent decisions were taken by states and federal system was practiced.</a:t>
            </a:r>
          </a:p>
          <a:p>
            <a:pPr>
              <a:lnSpc>
                <a:spcPct val="120000"/>
              </a:lnSpc>
            </a:pPr>
            <a:r>
              <a:rPr lang="en-US" sz="2900" dirty="0"/>
              <a:t>Today, these regional political parties  are even affecting the decision making in central also.</a:t>
            </a:r>
          </a:p>
          <a:p>
            <a:pPr algn="just">
              <a:lnSpc>
                <a:spcPct val="120000"/>
              </a:lnSpc>
            </a:pPr>
            <a:r>
              <a:rPr lang="en-US" sz="2900" dirty="0"/>
              <a:t>So we can say that today’s power sharing is more effective than it was practiced in the early days when constitution was written.</a:t>
            </a:r>
          </a:p>
          <a:p>
            <a:pPr>
              <a:lnSpc>
                <a:spcPct val="120000"/>
              </a:lnSpc>
              <a:buNone/>
            </a:pPr>
            <a:endParaRPr lang="en-US" dirty="0"/>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22</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LINGUISTIC  DIVERSITY  OF  INDIA </a:t>
            </a:r>
          </a:p>
        </p:txBody>
      </p:sp>
      <p:sp>
        <p:nvSpPr>
          <p:cNvPr id="5" name="Content Placeholder 4"/>
          <p:cNvSpPr>
            <a:spLocks noGrp="1"/>
          </p:cNvSpPr>
          <p:nvPr>
            <p:ph idx="1"/>
          </p:nvPr>
        </p:nvSpPr>
        <p:spPr>
          <a:xfrm>
            <a:off x="152400" y="1527048"/>
            <a:ext cx="8839200" cy="4797552"/>
          </a:xfrm>
          <a:solidFill>
            <a:schemeClr val="bg1"/>
          </a:solidFill>
        </p:spPr>
        <p:txBody>
          <a:bodyPr>
            <a:normAutofit/>
          </a:bodyPr>
          <a:lstStyle/>
          <a:p>
            <a:pPr>
              <a:buNone/>
            </a:pPr>
            <a:endParaRPr lang="en-US" b="1" dirty="0">
              <a:solidFill>
                <a:srgbClr val="7030A0"/>
              </a:solidFill>
            </a:endParaRPr>
          </a:p>
          <a:p>
            <a:pPr algn="just"/>
            <a:r>
              <a:rPr lang="en-US" dirty="0"/>
              <a:t>As per the census report, 2001 of India held in 2001 there are 1500 distinct languages.</a:t>
            </a:r>
          </a:p>
          <a:p>
            <a:pPr algn="just"/>
            <a:r>
              <a:rPr lang="en-US" dirty="0"/>
              <a:t>These languages were grouped together under some major languages like Bhojpuri, Magadhi, Bundelkhandi, Chattisgarhi, Rajasthani, Bhili and many others were grouped together under ‘Hindi’. </a:t>
            </a:r>
          </a:p>
          <a:p>
            <a:pPr algn="just"/>
            <a:r>
              <a:rPr lang="en-US" dirty="0"/>
              <a:t>Even after this grouping, the census found 114 major languages of these 22 languages are now included in Eighth scheduled of the Indian constitution and are therefore called scheduled languages others are called non- scheduled languages.</a:t>
            </a:r>
          </a:p>
          <a:p>
            <a:pPr algn="just"/>
            <a:r>
              <a:rPr lang="en-US" dirty="0"/>
              <a:t>In terms of languages, India is perhaps the most diverse country in the world. </a:t>
            </a:r>
          </a:p>
          <a:p>
            <a:endParaRPr lang="en-US" dirty="0"/>
          </a:p>
          <a:p>
            <a:endParaRPr lang="en-US" dirty="0"/>
          </a:p>
          <a:p>
            <a:pPr>
              <a:buNone/>
            </a:pPr>
            <a:endParaRPr lang="en-US" dirty="0"/>
          </a:p>
          <a:p>
            <a:pPr>
              <a:buNone/>
            </a:pPr>
            <a:endParaRPr lang="en-US" dirty="0"/>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23</a:t>
            </a:fld>
            <a:endParaRPr lang="en-US" dirty="0"/>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81000"/>
            <a:ext cx="8534400" cy="645372"/>
          </a:xfrm>
        </p:spPr>
        <p:txBody>
          <a:bodyPr/>
          <a:lstStyle/>
          <a:p>
            <a:r>
              <a:rPr lang="en-US" b="1" dirty="0">
                <a:solidFill>
                  <a:srgbClr val="FF0000"/>
                </a:solidFill>
              </a:rPr>
              <a:t>DECENTRALIZATION IN INDIA</a:t>
            </a:r>
          </a:p>
        </p:txBody>
      </p:sp>
      <p:sp>
        <p:nvSpPr>
          <p:cNvPr id="5" name="Content Placeholder 4"/>
          <p:cNvSpPr>
            <a:spLocks noGrp="1"/>
          </p:cNvSpPr>
          <p:nvPr>
            <p:ph idx="1"/>
          </p:nvPr>
        </p:nvSpPr>
        <p:spPr>
          <a:xfrm>
            <a:off x="152400" y="1527048"/>
            <a:ext cx="8839200" cy="4797552"/>
          </a:xfrm>
          <a:solidFill>
            <a:schemeClr val="bg1"/>
          </a:solidFill>
        </p:spPr>
        <p:txBody>
          <a:bodyPr>
            <a:normAutofit/>
          </a:bodyPr>
          <a:lstStyle/>
          <a:p>
            <a:pPr>
              <a:buNone/>
            </a:pPr>
            <a:endParaRPr lang="en-US" b="1" dirty="0">
              <a:solidFill>
                <a:srgbClr val="7030A0"/>
              </a:solidFill>
            </a:endParaRPr>
          </a:p>
          <a:p>
            <a:pPr algn="just"/>
            <a:r>
              <a:rPr lang="en-US" dirty="0"/>
              <a:t>When power is taken away from central and given to other levels of government(state government and given to local government) is called </a:t>
            </a:r>
            <a:r>
              <a:rPr lang="en-US" b="1" dirty="0">
                <a:solidFill>
                  <a:srgbClr val="FF0000"/>
                </a:solidFill>
              </a:rPr>
              <a:t>‘Decentralization</a:t>
            </a:r>
            <a:r>
              <a:rPr lang="en-US" dirty="0"/>
              <a:t>’.</a:t>
            </a:r>
          </a:p>
          <a:p>
            <a:r>
              <a:rPr lang="en-US" dirty="0"/>
              <a:t>It plays very important role in democracy as</a:t>
            </a:r>
          </a:p>
          <a:p>
            <a:pPr>
              <a:buFontTx/>
              <a:buChar char="-"/>
            </a:pPr>
            <a:r>
              <a:rPr lang="en-US" dirty="0"/>
              <a:t>It helps to reduce the burden of central government</a:t>
            </a:r>
          </a:p>
          <a:p>
            <a:pPr algn="just">
              <a:buFontTx/>
              <a:buChar char="-"/>
            </a:pPr>
            <a:r>
              <a:rPr lang="en-US" dirty="0"/>
              <a:t>It helps to increase the participation of people in decision making  and also democratic process.</a:t>
            </a:r>
          </a:p>
          <a:p>
            <a:pPr>
              <a:buFontTx/>
              <a:buChar char="-"/>
            </a:pPr>
            <a:r>
              <a:rPr lang="en-US" dirty="0"/>
              <a:t>It helps to solve local problems effectively.</a:t>
            </a:r>
          </a:p>
          <a:p>
            <a:pPr>
              <a:buFontTx/>
              <a:buChar char="-"/>
            </a:pPr>
            <a:r>
              <a:rPr lang="en-US" dirty="0"/>
              <a:t>Local self government is called schools of democracy.</a:t>
            </a:r>
          </a:p>
          <a:p>
            <a:endParaRPr lang="en-US" dirty="0"/>
          </a:p>
          <a:p>
            <a:endParaRPr lang="en-US" dirty="0"/>
          </a:p>
          <a:p>
            <a:pPr>
              <a:buNone/>
            </a:pPr>
            <a:endParaRPr lang="en-US" dirty="0"/>
          </a:p>
          <a:p>
            <a:pPr>
              <a:buNone/>
            </a:pPr>
            <a:endParaRPr lang="en-US" dirty="0"/>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24</a:t>
            </a:fld>
            <a:endParaRPr lang="en-US" dirty="0"/>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152400"/>
            <a:ext cx="8534400" cy="1143000"/>
          </a:xfrm>
        </p:spPr>
        <p:txBody>
          <a:bodyPr>
            <a:normAutofit fontScale="90000"/>
          </a:bodyPr>
          <a:lstStyle/>
          <a:p>
            <a:br>
              <a:rPr lang="en-US" b="1" dirty="0">
                <a:solidFill>
                  <a:srgbClr val="00B050"/>
                </a:solidFill>
              </a:rPr>
            </a:br>
            <a:br>
              <a:rPr lang="en-US" b="1">
                <a:solidFill>
                  <a:srgbClr val="00B050"/>
                </a:solidFill>
              </a:rPr>
            </a:br>
            <a:r>
              <a:rPr lang="en-US" b="1">
                <a:solidFill>
                  <a:srgbClr val="00B050"/>
                </a:solidFill>
              </a:rPr>
              <a:t>		</a:t>
            </a:r>
            <a:r>
              <a:rPr lang="en-US" b="1">
                <a:solidFill>
                  <a:srgbClr val="FF0000"/>
                </a:solidFill>
              </a:rPr>
              <a:t>DECENTRALIZATION </a:t>
            </a:r>
            <a:r>
              <a:rPr lang="en-US" b="1" dirty="0">
                <a:solidFill>
                  <a:srgbClr val="FF0000"/>
                </a:solidFill>
              </a:rPr>
              <a:t>IN INDIA</a:t>
            </a:r>
            <a:br>
              <a:rPr lang="en-US" dirty="0">
                <a:solidFill>
                  <a:srgbClr val="FF0000"/>
                </a:solidFill>
              </a:rPr>
            </a:br>
            <a:endParaRPr lang="en-US" dirty="0">
              <a:solidFill>
                <a:srgbClr val="FF0000"/>
              </a:solidFill>
            </a:endParaRPr>
          </a:p>
        </p:txBody>
      </p:sp>
      <p:sp>
        <p:nvSpPr>
          <p:cNvPr id="5" name="Content Placeholder 4"/>
          <p:cNvSpPr>
            <a:spLocks noGrp="1"/>
          </p:cNvSpPr>
          <p:nvPr>
            <p:ph idx="1"/>
          </p:nvPr>
        </p:nvSpPr>
        <p:spPr>
          <a:xfrm>
            <a:off x="152400" y="1467697"/>
            <a:ext cx="8839200" cy="4937287"/>
          </a:xfrm>
          <a:solidFill>
            <a:schemeClr val="bg1"/>
          </a:solidFill>
        </p:spPr>
        <p:txBody>
          <a:bodyPr>
            <a:normAutofit/>
          </a:bodyPr>
          <a:lstStyle/>
          <a:p>
            <a:pPr>
              <a:buNone/>
            </a:pPr>
            <a:endParaRPr lang="en-US" b="1" dirty="0">
              <a:solidFill>
                <a:srgbClr val="7030A0"/>
              </a:solidFill>
            </a:endParaRPr>
          </a:p>
          <a:p>
            <a:pPr algn="just"/>
            <a:r>
              <a:rPr lang="en-US" dirty="0"/>
              <a:t>We have after independence two tiers of government in our country. But now we have three tier of government in our country. Why?</a:t>
            </a:r>
          </a:p>
          <a:p>
            <a:pPr algn="just">
              <a:buFontTx/>
              <a:buChar char="-"/>
            </a:pPr>
            <a:r>
              <a:rPr lang="en-US" dirty="0"/>
              <a:t>India is a vast country therefore India cannot be run only through these two tiers government.</a:t>
            </a:r>
          </a:p>
          <a:p>
            <a:pPr algn="just">
              <a:buFontTx/>
              <a:buChar char="-"/>
            </a:pPr>
            <a:r>
              <a:rPr lang="en-US" dirty="0"/>
              <a:t>States in India are as large as independent countries of Europe.(in terms of population, Uttar Pradesh is bigger than Russia, Maharashtra is about as big as Germany).</a:t>
            </a:r>
          </a:p>
          <a:p>
            <a:pPr algn="just">
              <a:buFontTx/>
              <a:buChar char="-"/>
            </a:pPr>
            <a:r>
              <a:rPr lang="en-US" dirty="0"/>
              <a:t>Many of these states are internally very diverse so there is thus a need for power sharing within these states.</a:t>
            </a:r>
          </a:p>
          <a:p>
            <a:pPr algn="just"/>
            <a:endParaRPr lang="en-US" dirty="0"/>
          </a:p>
          <a:p>
            <a:endParaRPr lang="en-US" dirty="0"/>
          </a:p>
          <a:p>
            <a:pPr>
              <a:buNone/>
            </a:pPr>
            <a:endParaRPr lang="en-US" dirty="0"/>
          </a:p>
          <a:p>
            <a:pPr>
              <a:buNone/>
            </a:pPr>
            <a:endParaRPr lang="en-US" dirty="0"/>
          </a:p>
          <a:p>
            <a:endParaRPr lang="en-US" dirty="0"/>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25</a:t>
            </a:fld>
            <a:endParaRPr lang="en-US" dirty="0"/>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DECENTRALIZATION IN INDIA</a:t>
            </a:r>
          </a:p>
        </p:txBody>
      </p:sp>
      <p:sp>
        <p:nvSpPr>
          <p:cNvPr id="5" name="Content Placeholder 4"/>
          <p:cNvSpPr>
            <a:spLocks noGrp="1"/>
          </p:cNvSpPr>
          <p:nvPr>
            <p:ph idx="1"/>
          </p:nvPr>
        </p:nvSpPr>
        <p:spPr>
          <a:xfrm>
            <a:off x="152400" y="1467697"/>
            <a:ext cx="8839200" cy="4872143"/>
          </a:xfrm>
          <a:solidFill>
            <a:schemeClr val="bg1"/>
          </a:solidFill>
        </p:spPr>
        <p:txBody>
          <a:bodyPr>
            <a:normAutofit fontScale="92500"/>
          </a:bodyPr>
          <a:lstStyle/>
          <a:p>
            <a:pPr algn="just">
              <a:lnSpc>
                <a:spcPct val="120000"/>
              </a:lnSpc>
            </a:pPr>
            <a:r>
              <a:rPr lang="en-US" dirty="0"/>
              <a:t>A major step towards decentralization was taken in 1992. The Constitution was amended to make the third-tier of democracy more powerful and effective. Here are the key features of 3-tier democracy:</a:t>
            </a:r>
          </a:p>
          <a:p>
            <a:pPr algn="just">
              <a:lnSpc>
                <a:spcPct val="120000"/>
              </a:lnSpc>
              <a:buNone/>
            </a:pPr>
            <a:endParaRPr lang="en-US" dirty="0"/>
          </a:p>
          <a:p>
            <a:pPr lvl="0" algn="just">
              <a:lnSpc>
                <a:spcPct val="120000"/>
              </a:lnSpc>
              <a:buNone/>
            </a:pPr>
            <a:r>
              <a:rPr lang="en-US" dirty="0"/>
              <a:t> - It is constitutionally mandatory to hold regular elections to local government bodies.</a:t>
            </a:r>
          </a:p>
          <a:p>
            <a:pPr lvl="0" algn="just">
              <a:lnSpc>
                <a:spcPct val="120000"/>
              </a:lnSpc>
              <a:buNone/>
            </a:pPr>
            <a:r>
              <a:rPr lang="en-US" dirty="0"/>
              <a:t> - Seats are reserved in the elected bodies and the executive heads of these institutions for the Scheduled Castes, Scheduled Tribes and Other Backward Classes.</a:t>
            </a:r>
          </a:p>
          <a:p>
            <a:pPr lvl="0">
              <a:lnSpc>
                <a:spcPct val="120000"/>
              </a:lnSpc>
              <a:buNone/>
            </a:pPr>
            <a:r>
              <a:rPr lang="en-US" dirty="0"/>
              <a:t>  - At least one-third of all positions are reserved for women.</a:t>
            </a:r>
          </a:p>
          <a:p>
            <a:pPr lvl="0" algn="just">
              <a:lnSpc>
                <a:spcPct val="120000"/>
              </a:lnSpc>
              <a:buNone/>
            </a:pPr>
            <a:r>
              <a:rPr lang="en-US" dirty="0"/>
              <a:t> - State Election Commission has been created in each State to conduct panchayat and municipal elections.</a:t>
            </a:r>
          </a:p>
          <a:p>
            <a:pPr lvl="0" algn="just">
              <a:lnSpc>
                <a:spcPct val="120000"/>
              </a:lnSpc>
              <a:buNone/>
            </a:pPr>
            <a:r>
              <a:rPr lang="en-US" dirty="0"/>
              <a:t>  -The State governments are required to share some powers and revenue with local government bodies. The nature of sharing varies from State to State.</a:t>
            </a:r>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26</a:t>
            </a:fld>
            <a:endParaRPr lang="en-US" dirty="0"/>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0"/>
            <a:ext cx="8534400" cy="1295400"/>
          </a:xfrm>
        </p:spPr>
        <p:txBody>
          <a:bodyPr>
            <a:normAutofit/>
          </a:bodyPr>
          <a:lstStyle/>
          <a:p>
            <a:r>
              <a:rPr lang="en-US" b="1" dirty="0">
                <a:solidFill>
                  <a:srgbClr val="FF0000"/>
                </a:solidFill>
              </a:rPr>
              <a:t>DECENTRALIZATION IN INDIA</a:t>
            </a:r>
            <a:br>
              <a:rPr lang="en-US" b="1" dirty="0">
                <a:solidFill>
                  <a:srgbClr val="FF0000"/>
                </a:solidFill>
              </a:rPr>
            </a:br>
            <a:r>
              <a:rPr lang="en-US" b="1" dirty="0">
                <a:solidFill>
                  <a:srgbClr val="FF0000"/>
                </a:solidFill>
              </a:rPr>
              <a:t>Federal structure in India </a:t>
            </a:r>
          </a:p>
        </p:txBody>
      </p:sp>
      <p:pic>
        <p:nvPicPr>
          <p:cNvPr id="6" name="Content Placeholder 5" descr="NCERT Class 10 Civics Solutions: Chapter 2 Federalism (Democratic ..."/>
          <p:cNvPicPr>
            <a:picLocks noGrp="1"/>
          </p:cNvPicPr>
          <p:nvPr>
            <p:ph idx="1"/>
          </p:nvPr>
        </p:nvPicPr>
        <p:blipFill>
          <a:blip r:embed="rId4"/>
          <a:srcRect/>
          <a:stretch>
            <a:fillRect/>
          </a:stretch>
        </p:blipFill>
        <p:spPr bwMode="auto">
          <a:xfrm>
            <a:off x="228600" y="1524000"/>
            <a:ext cx="4751704" cy="4572000"/>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27</a:t>
            </a:fld>
            <a:endParaRPr lang="en-US" dirty="0"/>
          </a:p>
        </p:txBody>
      </p:sp>
      <p:pic>
        <p:nvPicPr>
          <p:cNvPr id="7" name="Picture 6" descr="An Asian group has been hacking Indian government organisations ..."/>
          <p:cNvPicPr/>
          <p:nvPr/>
        </p:nvPicPr>
        <p:blipFill>
          <a:blip r:embed="rId5"/>
          <a:srcRect/>
          <a:stretch>
            <a:fillRect/>
          </a:stretch>
        </p:blipFill>
        <p:spPr bwMode="auto">
          <a:xfrm>
            <a:off x="5056504" y="1828800"/>
            <a:ext cx="3886200" cy="3733800"/>
          </a:xfrm>
          <a:prstGeom prst="rect">
            <a:avLst/>
          </a:prstGeom>
          <a:noFill/>
          <a:ln w="9525">
            <a:noFill/>
            <a:miter lim="800000"/>
            <a:headEnd/>
            <a:tailEnd/>
          </a:ln>
        </p:spPr>
      </p:pic>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numSld="999" showWhenStopped="0">
                <p:cTn id="7" repeatCount="indefinite" fill="hold" display="0">
                  <p:stCondLst>
                    <p:cond delay="indefinite"/>
                  </p:stCondLst>
                  <p:endCondLst>
                    <p:cond evt="onStopAudio" delay="0">
                      <p:tgtEl>
                        <p:sldTgt/>
                      </p:tgtEl>
                    </p:cond>
                  </p:endCondLst>
                </p:cTn>
                <p:tgtEl>
                  <p:spTgt spid="5"/>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1066800"/>
          </a:xfrm>
        </p:spPr>
        <p:txBody>
          <a:bodyPr>
            <a:normAutofit/>
          </a:bodyPr>
          <a:lstStyle/>
          <a:p>
            <a:r>
              <a:rPr lang="en-US" b="1" dirty="0">
                <a:solidFill>
                  <a:srgbClr val="FF0000"/>
                </a:solidFill>
              </a:rPr>
              <a:t>STRUCTURE OF SELF LOCAL GOVERNMENT ( Rural)</a:t>
            </a:r>
          </a:p>
        </p:txBody>
      </p:sp>
      <p:sp>
        <p:nvSpPr>
          <p:cNvPr id="5" name="Content Placeholder 4"/>
          <p:cNvSpPr>
            <a:spLocks noGrp="1"/>
          </p:cNvSpPr>
          <p:nvPr>
            <p:ph idx="1"/>
          </p:nvPr>
        </p:nvSpPr>
        <p:spPr/>
        <p:txBody>
          <a:bodyPr/>
          <a:lstStyle/>
          <a:p>
            <a:pPr>
              <a:buNone/>
            </a:pPr>
            <a:r>
              <a:rPr lang="en-US" dirty="0">
                <a:solidFill>
                  <a:srgbClr val="C00000"/>
                </a:solidFill>
              </a:rPr>
              <a:t>  </a:t>
            </a:r>
            <a:r>
              <a:rPr lang="en-US" dirty="0"/>
              <a:t> </a:t>
            </a:r>
          </a:p>
          <a:p>
            <a:pPr>
              <a:buNone/>
            </a:pPr>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28</a:t>
            </a:fld>
            <a:endParaRPr lang="en-US" dirty="0"/>
          </a:p>
        </p:txBody>
      </p:sp>
      <p:pic>
        <p:nvPicPr>
          <p:cNvPr id="6" name="Picture 5" descr="Panchayatiraj – Local Self Government(Rural)&lt;br /&gt;"/>
          <p:cNvPicPr/>
          <p:nvPr/>
        </p:nvPicPr>
        <p:blipFill>
          <a:blip r:embed="rId4"/>
          <a:srcRect/>
          <a:stretch>
            <a:fillRect/>
          </a:stretch>
        </p:blipFill>
        <p:spPr bwMode="auto">
          <a:xfrm>
            <a:off x="152400" y="1447800"/>
            <a:ext cx="8839200" cy="4953000"/>
          </a:xfrm>
          <a:prstGeom prst="rect">
            <a:avLst/>
          </a:prstGeom>
          <a:noFill/>
          <a:ln w="9525">
            <a:noFill/>
            <a:miter lim="800000"/>
            <a:headEnd/>
            <a:tailEnd/>
          </a:ln>
        </p:spPr>
      </p:pic>
      <p:pic>
        <p:nvPicPr>
          <p:cNvPr id="7" name="Audio 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1066800"/>
          </a:xfrm>
        </p:spPr>
        <p:txBody>
          <a:bodyPr>
            <a:normAutofit/>
          </a:bodyPr>
          <a:lstStyle/>
          <a:p>
            <a:r>
              <a:rPr lang="en-US" b="1" dirty="0">
                <a:solidFill>
                  <a:srgbClr val="FF0000"/>
                </a:solidFill>
              </a:rPr>
              <a:t>STRUCTURE OF SELF LOCAL GOVERNMENT(Urban)</a:t>
            </a:r>
          </a:p>
        </p:txBody>
      </p:sp>
      <p:pic>
        <p:nvPicPr>
          <p:cNvPr id="6" name="Content Placeholder 5" descr="Local Government(Urban)&lt;br /&gt;"/>
          <p:cNvPicPr>
            <a:picLocks noGrp="1"/>
          </p:cNvPicPr>
          <p:nvPr>
            <p:ph idx="1"/>
          </p:nvPr>
        </p:nvPicPr>
        <p:blipFill>
          <a:blip r:embed="rId4"/>
          <a:stretch>
            <a:fillRect/>
          </a:stretch>
        </p:blipFill>
        <p:spPr bwMode="auto">
          <a:xfrm>
            <a:off x="1671108" y="1825625"/>
            <a:ext cx="5801784" cy="4351338"/>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29</a:t>
            </a:fld>
            <a:endParaRPr lang="en-US" dirty="0"/>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000" y="6096000"/>
            <a:ext cx="609600" cy="6096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Deficiencies of Local Self Government</a:t>
            </a:r>
          </a:p>
        </p:txBody>
      </p:sp>
      <p:sp>
        <p:nvSpPr>
          <p:cNvPr id="5" name="Content Placeholder 4"/>
          <p:cNvSpPr>
            <a:spLocks noGrp="1"/>
          </p:cNvSpPr>
          <p:nvPr>
            <p:ph idx="1"/>
          </p:nvPr>
        </p:nvSpPr>
        <p:spPr>
          <a:xfrm>
            <a:off x="152400" y="1467696"/>
            <a:ext cx="8839200" cy="5237903"/>
          </a:xfrm>
          <a:solidFill>
            <a:schemeClr val="bg1"/>
          </a:solidFill>
        </p:spPr>
        <p:txBody>
          <a:bodyPr/>
          <a:lstStyle/>
          <a:p>
            <a:endParaRPr lang="en-US" dirty="0">
              <a:solidFill>
                <a:sysClr val="windowText" lastClr="000000"/>
              </a:solidFill>
            </a:endParaRPr>
          </a:p>
          <a:p>
            <a:endParaRPr lang="en-US" dirty="0">
              <a:solidFill>
                <a:sysClr val="windowText" lastClr="000000"/>
              </a:solidFill>
            </a:endParaRPr>
          </a:p>
          <a:p>
            <a:r>
              <a:rPr lang="en-US" dirty="0">
                <a:solidFill>
                  <a:sysClr val="windowText" lastClr="000000"/>
                </a:solidFill>
              </a:rPr>
              <a:t>Elections to Gram Sabhas are not held regularly.</a:t>
            </a:r>
          </a:p>
          <a:p>
            <a:pPr>
              <a:buNone/>
            </a:pPr>
            <a:endParaRPr lang="en-US" dirty="0">
              <a:solidFill>
                <a:sysClr val="windowText" lastClr="000000"/>
              </a:solidFill>
            </a:endParaRPr>
          </a:p>
          <a:p>
            <a:r>
              <a:rPr lang="en-US" dirty="0">
                <a:solidFill>
                  <a:sysClr val="windowText" lastClr="000000"/>
                </a:solidFill>
              </a:rPr>
              <a:t>Most of the state governments are not transferring powers and resources (Ex. Financial Needs).</a:t>
            </a:r>
          </a:p>
          <a:p>
            <a:pPr>
              <a:buNone/>
            </a:pPr>
            <a:endParaRPr lang="en-US" dirty="0">
              <a:solidFill>
                <a:sysClr val="windowText" lastClr="000000"/>
              </a:solidFill>
            </a:endParaRPr>
          </a:p>
          <a:p>
            <a:r>
              <a:rPr lang="en-US" dirty="0">
                <a:solidFill>
                  <a:sysClr val="windowText" lastClr="000000"/>
                </a:solidFill>
              </a:rPr>
              <a:t>Women inactive participation.</a:t>
            </a:r>
          </a:p>
          <a:p>
            <a:endParaRPr lang="en-US" dirty="0">
              <a:solidFill>
                <a:srgbClr val="7030A0"/>
              </a:solidFill>
            </a:endParaRPr>
          </a:p>
          <a:p>
            <a:endParaRPr lang="en-US" dirty="0"/>
          </a:p>
        </p:txBody>
      </p:sp>
      <p:sp>
        <p:nvSpPr>
          <p:cNvPr id="3" name="Date Placeholder 2"/>
          <p:cNvSpPr>
            <a:spLocks noGrp="1"/>
          </p:cNvSpPr>
          <p:nvPr>
            <p:ph type="dt" sz="half" idx="10"/>
          </p:nvPr>
        </p:nvSpPr>
        <p:spPr/>
        <p:txBody>
          <a:bodyPr/>
          <a:lstStyle/>
          <a:p>
            <a:fld id="{5B3A2C3D-A268-4F8E-9026-6777D18CB712}" type="datetime1">
              <a:rPr lang="en-US" smtClean="0"/>
              <a:pPr/>
              <a:t>4/16/2026</a:t>
            </a:fld>
            <a:endParaRPr lang="en-US" dirty="0"/>
          </a:p>
        </p:txBody>
      </p:sp>
      <p:sp>
        <p:nvSpPr>
          <p:cNvPr id="4" name="Slide Number Placeholder 3"/>
          <p:cNvSpPr>
            <a:spLocks noGrp="1"/>
          </p:cNvSpPr>
          <p:nvPr>
            <p:ph type="sldNum" sz="quarter" idx="12"/>
          </p:nvPr>
        </p:nvSpPr>
        <p:spPr/>
        <p:txBody>
          <a:bodyPr/>
          <a:lstStyle/>
          <a:p>
            <a:fld id="{8FAC0386-2D48-46EF-B0B1-77C2C1C46F85}" type="slidenum">
              <a:rPr lang="en-US" smtClean="0"/>
              <a:pPr/>
              <a:t>30</a:t>
            </a:fld>
            <a:endParaRPr lang="en-US" dirty="0"/>
          </a:p>
        </p:txBody>
      </p:sp>
      <p:pic>
        <p:nvPicPr>
          <p:cNvPr id="6" name="Audio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382000" y="6096000"/>
            <a:ext cx="609600" cy="60960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9" name="Picture 7" descr="green_fairy_flying_md_wh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886200"/>
            <a:ext cx="3962400" cy="2514600"/>
          </a:xfrm>
          <a:prstGeom prst="rect">
            <a:avLst/>
          </a:prstGeom>
          <a:noFill/>
          <a:extLst>
            <a:ext uri="{909E8E84-426E-40DD-AFC4-6F175D3DCCD1}">
              <a14:hiddenFill xmlns:a14="http://schemas.microsoft.com/office/drawing/2010/main">
                <a:solidFill>
                  <a:srgbClr val="FFFFFF"/>
                </a:solidFill>
              </a14:hiddenFill>
            </a:ext>
          </a:extLst>
        </p:spPr>
      </p:pic>
      <p:sp>
        <p:nvSpPr>
          <p:cNvPr id="110600" name="WordArt 8"/>
          <p:cNvSpPr>
            <a:spLocks noChangeArrowheads="1" noChangeShapeType="1" noTextEdit="1"/>
          </p:cNvSpPr>
          <p:nvPr/>
        </p:nvSpPr>
        <p:spPr bwMode="auto">
          <a:xfrm>
            <a:off x="1066800" y="1905000"/>
            <a:ext cx="7315200" cy="1524000"/>
          </a:xfrm>
          <a:prstGeom prst="rect">
            <a:avLst/>
          </a:prstGeom>
          <a:extLst>
            <a:ext uri="{AF507438-7753-43E0-B8FC-AC1667EBCBE1}">
              <a14:hiddenEffects xmlns:a14="http://schemas.microsoft.com/office/drawing/2010/main">
                <a:effectLst/>
              </a14:hiddenEffects>
            </a:ext>
          </a:extLst>
        </p:spPr>
        <p:txBody>
          <a:bodyPr wrap="none" fromWordArt="1">
            <a:prstTxWarp prst="textDeflate">
              <a:avLst>
                <a:gd name="adj" fmla="val 26227"/>
              </a:avLst>
            </a:prstTxWarp>
          </a:bodyPr>
          <a:lstStyle/>
          <a:p>
            <a:pPr algn="ctr"/>
            <a:r>
              <a:rPr lang="en-US" sz="3600" kern="10">
                <a:ln w="9525">
                  <a:solidFill>
                    <a:srgbClr val="000000"/>
                  </a:solidFill>
                  <a:round/>
                  <a:headEnd/>
                  <a:tailEnd/>
                </a:ln>
                <a:solidFill>
                  <a:srgbClr val="000000"/>
                </a:solidFill>
                <a:latin typeface="Impact" panose="020B0806030902050204" pitchFamily="34" charset="0"/>
              </a:rPr>
              <a:t>JAI HIND</a:t>
            </a:r>
          </a:p>
        </p:txBody>
      </p:sp>
    </p:spTree>
    <p:extLst>
      <p:ext uri="{BB962C8B-B14F-4D97-AF65-F5344CB8AC3E}">
        <p14:creationId xmlns:p14="http://schemas.microsoft.com/office/powerpoint/2010/main" val="3676325093"/>
      </p:ext>
    </p:extLst>
  </p:cSld>
  <p:clrMapOvr>
    <a:masterClrMapping/>
  </p:clrMapOvr>
  <mc:AlternateContent xmlns:mc="http://schemas.openxmlformats.org/markup-compatibility/2006" xmlns:p14="http://schemas.microsoft.com/office/powerpoint/2010/main">
    <mc:Choice Requires="p14">
      <p:transition spd="slow" p14:dur="2000" advClick="0" advTm="6000"/>
    </mc:Choice>
    <mc:Fallback xmlns="">
      <p:transition spd="slow" advClick="0" advTm="6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1956</TotalTime>
  <Words>1918</Words>
  <Application>Microsoft Office PowerPoint</Application>
  <PresentationFormat>On-screen Show (4:3)</PresentationFormat>
  <Paragraphs>269</Paragraphs>
  <Slides>31</Slides>
  <Notes>3</Notes>
  <HiddenSlides>0</HiddenSlides>
  <MMClips>8</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Aharoni</vt:lpstr>
      <vt:lpstr>Algerian</vt:lpstr>
      <vt:lpstr>Arial</vt:lpstr>
      <vt:lpstr>Calibri</vt:lpstr>
      <vt:lpstr>Calibri Light</vt:lpstr>
      <vt:lpstr>Impact</vt:lpstr>
      <vt:lpstr>Wingdings</vt:lpstr>
      <vt:lpstr>Office Theme</vt:lpstr>
      <vt:lpstr>Federalism  </vt:lpstr>
      <vt:lpstr>Federalism  </vt:lpstr>
      <vt:lpstr>FEDERAL COUNTRIES IN THE WORLD</vt:lpstr>
      <vt:lpstr>What is unitary system?</vt:lpstr>
      <vt:lpstr>What is Federal system?</vt:lpstr>
      <vt:lpstr>Unitary and Federal System Countries in the World</vt:lpstr>
      <vt:lpstr>The Key Features of federation</vt:lpstr>
      <vt:lpstr>The Key Features of federation</vt:lpstr>
      <vt:lpstr>Balance of power</vt:lpstr>
      <vt:lpstr>TYPES OF FEDERALISM</vt:lpstr>
      <vt:lpstr>Example of  ‘Coming together’ federation  countries</vt:lpstr>
      <vt:lpstr>TYPES OF FEDERALISM</vt:lpstr>
      <vt:lpstr>Example of ‘Holding together’ federation  countries</vt:lpstr>
      <vt:lpstr>What makes India a federal Country?</vt:lpstr>
      <vt:lpstr>Division of power</vt:lpstr>
      <vt:lpstr>Division of power</vt:lpstr>
      <vt:lpstr>How is Federalism Practiced in India</vt:lpstr>
      <vt:lpstr>How is Federalism Practiced in India</vt:lpstr>
      <vt:lpstr>How is Federalism Practiced in India</vt:lpstr>
      <vt:lpstr>How is Federalism Practiced in India</vt:lpstr>
      <vt:lpstr>PowerPoint Presentation</vt:lpstr>
      <vt:lpstr>How is Federalism Practiced in India</vt:lpstr>
      <vt:lpstr>LINGUISTIC  DIVERSITY  OF  INDIA </vt:lpstr>
      <vt:lpstr>DECENTRALIZATION IN INDIA</vt:lpstr>
      <vt:lpstr>    DECENTRALIZATION IN INDIA </vt:lpstr>
      <vt:lpstr>DECENTRALIZATION IN INDIA</vt:lpstr>
      <vt:lpstr>DECENTRALIZATION IN INDIA Federal structure in India </vt:lpstr>
      <vt:lpstr>STRUCTURE OF SELF LOCAL GOVERNMENT ( Rural)</vt:lpstr>
      <vt:lpstr>STRUCTURE OF SELF LOCAL GOVERNMENT(Urban)</vt:lpstr>
      <vt:lpstr>Deficiencies of Local Self Government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FEDERALISM</dc:title>
  <dc:creator>COMP</dc:creator>
  <cp:lastModifiedBy>devyanigautam1371@outlook.com</cp:lastModifiedBy>
  <cp:revision>233</cp:revision>
  <cp:lastPrinted>2020-06-30T10:53:03Z</cp:lastPrinted>
  <dcterms:created xsi:type="dcterms:W3CDTF">2020-06-28T12:43:04Z</dcterms:created>
  <dcterms:modified xsi:type="dcterms:W3CDTF">2026-04-16T06:08:46Z</dcterms:modified>
</cp:coreProperties>
</file>