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  <p:sldMasterId id="2147483804" r:id="rId2"/>
  </p:sldMasterIdLst>
  <p:notesMasterIdLst>
    <p:notesMasterId r:id="rId34"/>
  </p:notesMasterIdLst>
  <p:sldIdLst>
    <p:sldId id="270" r:id="rId3"/>
    <p:sldId id="291" r:id="rId4"/>
    <p:sldId id="257" r:id="rId5"/>
    <p:sldId id="258" r:id="rId6"/>
    <p:sldId id="259" r:id="rId7"/>
    <p:sldId id="260" r:id="rId8"/>
    <p:sldId id="274" r:id="rId9"/>
    <p:sldId id="261" r:id="rId10"/>
    <p:sldId id="262" r:id="rId11"/>
    <p:sldId id="290" r:id="rId12"/>
    <p:sldId id="289" r:id="rId13"/>
    <p:sldId id="266" r:id="rId14"/>
    <p:sldId id="263" r:id="rId15"/>
    <p:sldId id="271" r:id="rId16"/>
    <p:sldId id="293" r:id="rId17"/>
    <p:sldId id="278" r:id="rId18"/>
    <p:sldId id="280" r:id="rId19"/>
    <p:sldId id="296" r:id="rId20"/>
    <p:sldId id="277" r:id="rId21"/>
    <p:sldId id="294" r:id="rId22"/>
    <p:sldId id="297" r:id="rId23"/>
    <p:sldId id="282" r:id="rId24"/>
    <p:sldId id="292" r:id="rId25"/>
    <p:sldId id="279" r:id="rId26"/>
    <p:sldId id="283" r:id="rId27"/>
    <p:sldId id="281" r:id="rId28"/>
    <p:sldId id="284" r:id="rId29"/>
    <p:sldId id="276" r:id="rId30"/>
    <p:sldId id="269" r:id="rId31"/>
    <p:sldId id="285" r:id="rId32"/>
    <p:sldId id="287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008000"/>
    <a:srgbClr val="FF9900"/>
    <a:srgbClr val="FF6600"/>
    <a:srgbClr val="FFCCFF"/>
    <a:srgbClr val="CCECFF"/>
    <a:srgbClr val="FFFF99"/>
    <a:srgbClr val="FFCC00"/>
    <a:srgbClr val="CC9900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82" autoAdjust="0"/>
    <p:restoredTop sz="94265" autoAdjust="0"/>
  </p:normalViewPr>
  <p:slideViewPr>
    <p:cSldViewPr>
      <p:cViewPr varScale="1">
        <p:scale>
          <a:sx n="100" d="100"/>
          <a:sy n="100" d="100"/>
        </p:scale>
        <p:origin x="70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41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6E5DC-4E93-48A9-8168-FC42569F0F54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761F6F-FBAF-482B-AA84-2CE2D1AD28A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761F6F-FBAF-482B-AA84-2CE2D1AD28A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761F6F-FBAF-482B-AA84-2CE2D1AD28A7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761F6F-FBAF-482B-AA84-2CE2D1AD28A7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761F6F-FBAF-482B-AA84-2CE2D1AD28A7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761F6F-FBAF-482B-AA84-2CE2D1AD28A7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newsfla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 spd="slow">
    <p:newsfla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newsfla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 spd="slow">
    <p:newsfla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 spd="slow">
    <p:newsfla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newsfla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newsfla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 spd="slow">
    <p:newsfla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  <p:transition spd="slow">
    <p:newsfla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newsfla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newsfla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slow">
    <p:newsfla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newsfla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slow">
    <p:newsfla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newsfla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newsfla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newsflash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slow">
    <p:newsflash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newsflash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  <p:transition spd="slow">
    <p:newsflash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newsflash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newsfla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ransition spd="slow">
    <p:newsflash/>
  </p:transition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ransition spd="slow">
    <p:newsflash/>
  </p:transition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one%20party%20system.jp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jpeg"/><Relationship Id="rId5" Type="http://schemas.openxmlformats.org/officeDocument/2006/relationships/hyperlink" Target="Two%20Party%20System.pptx" TargetMode="External"/><Relationship Id="rId4" Type="http://schemas.openxmlformats.org/officeDocument/2006/relationships/hyperlink" Target="Multi%20Party%20System.pptx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en.wikipedia.org/wiki/Political_party" TargetMode="Externa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olitics_of_the_United_States" TargetMode="External"/><Relationship Id="rId2" Type="http://schemas.openxmlformats.org/officeDocument/2006/relationships/hyperlink" Target="http://google.com/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en.wikipedia.org/wiki/Politics_of_Malta" TargetMode="External"/><Relationship Id="rId5" Type="http://schemas.openxmlformats.org/officeDocument/2006/relationships/hyperlink" Target="https://en.wikipedia.org/wiki/Politics_of_Jamaica" TargetMode="External"/><Relationship Id="rId4" Type="http://schemas.openxmlformats.org/officeDocument/2006/relationships/hyperlink" Target="https://en.wikipedia.org/wiki/Politics_of_Zimbabwe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Iran" TargetMode="External"/><Relationship Id="rId3" Type="http://schemas.openxmlformats.org/officeDocument/2006/relationships/hyperlink" Target="https://en.wikipedia.org/wiki/Armenia" TargetMode="External"/><Relationship Id="rId7" Type="http://schemas.openxmlformats.org/officeDocument/2006/relationships/hyperlink" Target="https://en.wikipedia.org/wiki/India" TargetMode="External"/><Relationship Id="rId2" Type="http://schemas.openxmlformats.org/officeDocument/2006/relationships/hyperlink" Target="https://en.wikipedia.org/wiki/Argentina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en.wikipedia.org/wiki/Germany" TargetMode="External"/><Relationship Id="rId5" Type="http://schemas.openxmlformats.org/officeDocument/2006/relationships/hyperlink" Target="https://en.wikipedia.org/wiki/France" TargetMode="External"/><Relationship Id="rId10" Type="http://schemas.openxmlformats.org/officeDocument/2006/relationships/hyperlink" Target="https://en.wikipedia.org/wiki/Ukraine" TargetMode="External"/><Relationship Id="rId4" Type="http://schemas.openxmlformats.org/officeDocument/2006/relationships/hyperlink" Target="https://en.wikipedia.org/wiki/Brazil" TargetMode="External"/><Relationship Id="rId9" Type="http://schemas.openxmlformats.org/officeDocument/2006/relationships/hyperlink" Target="https://en.wikipedia.org/wiki/Indonesia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33400"/>
            <a:ext cx="7772400" cy="8842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122" name="Picture 2" descr="C:\Users\Userf\Downloads\images (43) (1).jpe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newsfla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228600" y="4365008"/>
            <a:ext cx="4572000" cy="587992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28600" y="2819400"/>
            <a:ext cx="4572000" cy="609600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8600" y="5890152"/>
            <a:ext cx="4572000" cy="533400"/>
          </a:xfrm>
          <a:prstGeom prst="rect">
            <a:avLst/>
          </a:prstGeom>
          <a:solidFill>
            <a:srgbClr val="CCE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8600" y="1371600"/>
            <a:ext cx="4572000" cy="533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838200"/>
          </a:xfrm>
        </p:spPr>
        <p:txBody>
          <a:bodyPr>
            <a:normAutofit/>
          </a:bodyPr>
          <a:lstStyle/>
          <a:p>
            <a:pPr algn="ctr"/>
            <a:r>
              <a:rPr lang="en-US" sz="3500" u="sng" dirty="0">
                <a:solidFill>
                  <a:srgbClr val="FF9900"/>
                </a:solidFill>
                <a:latin typeface="Arial Rounded MT Bold" pitchFamily="34" charset="0"/>
              </a:rPr>
              <a:t>WHY DO WE NEED POLITICAL PARTY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MONARCHY (KING)		     	 CENTRE OF POWER</a:t>
            </a:r>
          </a:p>
          <a:p>
            <a:pPr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		</a:t>
            </a:r>
          </a:p>
          <a:p>
            <a:pPr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CONSTITUTIONAL MONARCHY 	  DISTRIBUTION OF POWER</a:t>
            </a:r>
          </a:p>
          <a:p>
            <a:pPr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REPRESENTATIVE DEMOCRACY         BEGINNING OF DEMOCRACY</a:t>
            </a:r>
          </a:p>
          <a:p>
            <a:pPr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	</a:t>
            </a:r>
          </a:p>
          <a:p>
            <a:pPr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POLITICAL PARTY		              MODERN DEMORRACY</a:t>
            </a:r>
          </a:p>
          <a:p>
            <a:pPr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rot="5400000">
            <a:off x="1905794" y="390247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5400000">
            <a:off x="1867694" y="2399506"/>
            <a:ext cx="685006" cy="7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rot="5400000">
            <a:off x="1867694" y="5413394"/>
            <a:ext cx="685006" cy="7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5400000">
            <a:off x="2095500" y="4152106"/>
            <a:ext cx="5410994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newsfla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1524000"/>
            <a:ext cx="43434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990600"/>
          </a:xfrm>
        </p:spPr>
        <p:txBody>
          <a:bodyPr>
            <a:noAutofit/>
          </a:bodyPr>
          <a:lstStyle/>
          <a:p>
            <a:pPr algn="ctr"/>
            <a:r>
              <a:rPr lang="en-US" sz="3800" b="1" u="sng" dirty="0">
                <a:solidFill>
                  <a:srgbClr val="008000"/>
                </a:solidFill>
                <a:effectLst/>
                <a:latin typeface="Arial Rounded MT Bold" pitchFamily="34" charset="0"/>
              </a:rPr>
              <a:t>MEANING  OF  POLITICAL  PARTY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86800" cy="5257800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Arial Rounded MT Bold" pitchFamily="34" charset="0"/>
              </a:rPr>
              <a:t>A political party is a group </a:t>
            </a:r>
          </a:p>
          <a:p>
            <a:pPr algn="just">
              <a:buNone/>
            </a:pPr>
            <a:r>
              <a:rPr lang="en-US" dirty="0">
                <a:latin typeface="Arial Rounded MT Bold" pitchFamily="34" charset="0"/>
              </a:rPr>
              <a:t>	of people who come to- </a:t>
            </a:r>
          </a:p>
          <a:p>
            <a:pPr algn="just">
              <a:buNone/>
            </a:pPr>
            <a:r>
              <a:rPr lang="en-US" dirty="0">
                <a:latin typeface="Arial Rounded MT Bold" pitchFamily="34" charset="0"/>
              </a:rPr>
              <a:t>	</a:t>
            </a:r>
            <a:r>
              <a:rPr lang="en-US" dirty="0" err="1">
                <a:latin typeface="Arial Rounded MT Bold" pitchFamily="34" charset="0"/>
              </a:rPr>
              <a:t>gether</a:t>
            </a:r>
            <a:r>
              <a:rPr lang="en-US" dirty="0">
                <a:latin typeface="Arial Rounded MT Bold" pitchFamily="34" charset="0"/>
              </a:rPr>
              <a:t> to contest </a:t>
            </a:r>
          </a:p>
          <a:p>
            <a:pPr algn="just">
              <a:buNone/>
            </a:pPr>
            <a:r>
              <a:rPr lang="en-US" dirty="0">
                <a:latin typeface="Arial Rounded MT Bold" pitchFamily="34" charset="0"/>
              </a:rPr>
              <a:t>	election and hold </a:t>
            </a:r>
          </a:p>
          <a:p>
            <a:pPr algn="just">
              <a:buNone/>
            </a:pPr>
            <a:r>
              <a:rPr lang="en-US" dirty="0">
                <a:latin typeface="Arial Rounded MT Bold" pitchFamily="34" charset="0"/>
              </a:rPr>
              <a:t>	power in the govt.</a:t>
            </a:r>
          </a:p>
          <a:p>
            <a:pPr algn="just">
              <a:buNone/>
            </a:pPr>
            <a:endParaRPr lang="en-US" sz="1600" dirty="0">
              <a:latin typeface="Arial Rounded MT Bold" pitchFamily="34" charset="0"/>
            </a:endParaRPr>
          </a:p>
          <a:p>
            <a:pPr algn="just"/>
            <a:r>
              <a:rPr lang="en-US" dirty="0">
                <a:latin typeface="Arial Rounded MT Bold" pitchFamily="34" charset="0"/>
              </a:rPr>
              <a:t>They agree on some policies and </a:t>
            </a:r>
            <a:r>
              <a:rPr lang="en-US" dirty="0" err="1">
                <a:latin typeface="Arial Rounded MT Bold" pitchFamily="34" charset="0"/>
              </a:rPr>
              <a:t>programmes</a:t>
            </a:r>
            <a:r>
              <a:rPr lang="en-US" dirty="0">
                <a:latin typeface="Arial Rounded MT Bold" pitchFamily="34" charset="0"/>
              </a:rPr>
              <a:t> for the society with a view to promote the collective good.</a:t>
            </a:r>
          </a:p>
          <a:p>
            <a:pPr algn="just"/>
            <a:endParaRPr lang="en-US" sz="3100" dirty="0">
              <a:latin typeface="Arial Rounded MT Bold" pitchFamily="34" charset="0"/>
            </a:endParaRPr>
          </a:p>
        </p:txBody>
      </p:sp>
    </p:spTree>
  </p:cSld>
  <p:clrMapOvr>
    <a:masterClrMapping/>
  </p:clrMapOvr>
  <p:transition spd="slow">
    <p:newsfla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8686800" cy="1295400"/>
          </a:xfrm>
        </p:spPr>
        <p:txBody>
          <a:bodyPr>
            <a:noAutofit/>
          </a:bodyPr>
          <a:lstStyle/>
          <a:p>
            <a:pPr algn="ctr"/>
            <a:r>
              <a:rPr lang="en-US" sz="3700" b="1" u="sng" dirty="0">
                <a:solidFill>
                  <a:srgbClr val="008000"/>
                </a:solidFill>
                <a:effectLst/>
                <a:latin typeface="Arial Rounded MT Bold" pitchFamily="34" charset="0"/>
              </a:rPr>
              <a:t>COMPONENTS OF POLITICAL  PARTY </a:t>
            </a:r>
            <a:endParaRPr lang="en-US" sz="3700" b="1" dirty="0">
              <a:solidFill>
                <a:srgbClr val="008000"/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752600"/>
            <a:ext cx="7848600" cy="48768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endParaRPr lang="en-US" sz="1500" dirty="0">
              <a:latin typeface="Arial Rounded MT Bold" pitchFamily="34" charset="0"/>
            </a:endParaRPr>
          </a:p>
          <a:p>
            <a:pPr>
              <a:spcBef>
                <a:spcPts val="0"/>
              </a:spcBef>
            </a:pPr>
            <a:r>
              <a:rPr lang="en-US" sz="3400" u="sng" dirty="0">
                <a:latin typeface="Arial Rounded MT Bold" pitchFamily="34" charset="0"/>
              </a:rPr>
              <a:t>The leaders</a:t>
            </a:r>
            <a:r>
              <a:rPr lang="en-US" sz="3400" dirty="0">
                <a:latin typeface="Arial Rounded MT Bold" pitchFamily="34" charset="0"/>
              </a:rPr>
              <a:t>, like- MLA, MP.</a:t>
            </a:r>
          </a:p>
          <a:p>
            <a:pPr>
              <a:spcBef>
                <a:spcPts val="0"/>
              </a:spcBef>
              <a:buNone/>
            </a:pPr>
            <a:endParaRPr lang="en-US" sz="1500" dirty="0">
              <a:latin typeface="Arial Rounded MT Bold" pitchFamily="34" charset="0"/>
            </a:endParaRPr>
          </a:p>
          <a:p>
            <a:pPr>
              <a:spcBef>
                <a:spcPts val="0"/>
              </a:spcBef>
            </a:pPr>
            <a:r>
              <a:rPr lang="en-US" sz="3400" u="sng" dirty="0">
                <a:latin typeface="Arial Rounded MT Bold" pitchFamily="34" charset="0"/>
              </a:rPr>
              <a:t>The active members</a:t>
            </a:r>
            <a:r>
              <a:rPr lang="en-US" sz="3400" dirty="0">
                <a:latin typeface="Arial Rounded MT Bold" pitchFamily="34" charset="0"/>
              </a:rPr>
              <a:t>, who </a:t>
            </a:r>
            <a:r>
              <a:rPr lang="en-US" sz="3400" dirty="0" err="1">
                <a:latin typeface="Arial Rounded MT Bold" pitchFamily="34" charset="0"/>
              </a:rPr>
              <a:t>organises</a:t>
            </a:r>
            <a:r>
              <a:rPr lang="en-US" sz="3400" dirty="0">
                <a:latin typeface="Arial Rounded MT Bold" pitchFamily="34" charset="0"/>
              </a:rPr>
              <a:t>, participates &amp; makes arrangement of party activities (local leaders). </a:t>
            </a:r>
          </a:p>
          <a:p>
            <a:pPr>
              <a:spcBef>
                <a:spcPts val="0"/>
              </a:spcBef>
              <a:buNone/>
            </a:pPr>
            <a:endParaRPr lang="en-US" sz="1500" dirty="0">
              <a:latin typeface="Arial Rounded MT Bold" pitchFamily="34" charset="0"/>
            </a:endParaRPr>
          </a:p>
          <a:p>
            <a:pPr>
              <a:spcBef>
                <a:spcPts val="0"/>
              </a:spcBef>
            </a:pPr>
            <a:r>
              <a:rPr lang="en-US" sz="3400" u="sng" dirty="0">
                <a:latin typeface="Arial Rounded MT Bold" pitchFamily="34" charset="0"/>
              </a:rPr>
              <a:t>The followers</a:t>
            </a:r>
            <a:r>
              <a:rPr lang="en-US" sz="3400" dirty="0">
                <a:latin typeface="Arial Rounded MT Bold" pitchFamily="34" charset="0"/>
              </a:rPr>
              <a:t>, means – common people.</a:t>
            </a:r>
          </a:p>
        </p:txBody>
      </p:sp>
    </p:spTree>
  </p:cSld>
  <p:clrMapOvr>
    <a:masterClrMapping/>
  </p:clrMapOvr>
  <p:transition spd="slow">
    <p:newsfla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8763000" cy="1371600"/>
          </a:xfrm>
        </p:spPr>
        <p:txBody>
          <a:bodyPr>
            <a:noAutofit/>
          </a:bodyPr>
          <a:lstStyle/>
          <a:p>
            <a:pPr algn="ctr"/>
            <a:r>
              <a:rPr lang="en-US" sz="3800" b="1" u="sng" dirty="0">
                <a:solidFill>
                  <a:srgbClr val="008000"/>
                </a:solidFill>
                <a:effectLst/>
                <a:latin typeface="Arial Rounded MT Bold" pitchFamily="34" charset="0"/>
              </a:rPr>
              <a:t>FUNCTIONS OF A POLITICAL  PARTY</a:t>
            </a:r>
            <a:endParaRPr lang="en-US" sz="3800" b="1" dirty="0">
              <a:solidFill>
                <a:srgbClr val="008000"/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1"/>
            <a:ext cx="8458200" cy="4724400"/>
          </a:xfrm>
        </p:spPr>
        <p:txBody>
          <a:bodyPr>
            <a:noAutofit/>
          </a:bodyPr>
          <a:lstStyle/>
          <a:p>
            <a:pPr marL="742950" indent="-742950">
              <a:buNone/>
            </a:pPr>
            <a:r>
              <a:rPr lang="en-US" sz="3400" dirty="0">
                <a:latin typeface="Arial Rounded MT Bold" pitchFamily="34" charset="0"/>
              </a:rPr>
              <a:t> 1. Parties contest elections,</a:t>
            </a:r>
          </a:p>
          <a:p>
            <a:pPr marL="742950" indent="-742950">
              <a:buAutoNum type="arabicPeriod"/>
            </a:pPr>
            <a:endParaRPr lang="en-US" sz="1500" dirty="0">
              <a:latin typeface="Arial Rounded MT Bold" pitchFamily="34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3400" dirty="0">
                <a:latin typeface="Arial Rounded MT Bold" pitchFamily="34" charset="0"/>
              </a:rPr>
              <a:t>2. They put forward different policies  </a:t>
            </a:r>
          </a:p>
          <a:p>
            <a:pPr>
              <a:spcBef>
                <a:spcPts val="0"/>
              </a:spcBef>
              <a:buNone/>
            </a:pPr>
            <a:r>
              <a:rPr lang="en-US" sz="3400" dirty="0">
                <a:latin typeface="Arial Rounded MT Bold" pitchFamily="34" charset="0"/>
              </a:rPr>
              <a:t>      and </a:t>
            </a:r>
            <a:r>
              <a:rPr lang="en-US" sz="3400" dirty="0" err="1">
                <a:latin typeface="Arial Rounded MT Bold" pitchFamily="34" charset="0"/>
              </a:rPr>
              <a:t>programmes</a:t>
            </a:r>
            <a:r>
              <a:rPr lang="en-US" sz="3400" dirty="0">
                <a:latin typeface="Arial Rounded MT Bold" pitchFamily="34" charset="0"/>
              </a:rPr>
              <a:t> for their citizen.</a:t>
            </a:r>
          </a:p>
          <a:p>
            <a:pPr>
              <a:spcBef>
                <a:spcPts val="0"/>
              </a:spcBef>
              <a:buNone/>
            </a:pPr>
            <a:endParaRPr lang="en-US" sz="1500" dirty="0">
              <a:latin typeface="Arial Rounded MT Bold" pitchFamily="34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3400" dirty="0">
                <a:latin typeface="Arial Rounded MT Bold" pitchFamily="34" charset="0"/>
              </a:rPr>
              <a:t>3. They play a decisive role in making </a:t>
            </a:r>
          </a:p>
          <a:p>
            <a:pPr>
              <a:spcBef>
                <a:spcPts val="0"/>
              </a:spcBef>
              <a:buNone/>
            </a:pPr>
            <a:r>
              <a:rPr lang="en-US" sz="3400" dirty="0">
                <a:latin typeface="Arial Rounded MT Bold" pitchFamily="34" charset="0"/>
              </a:rPr>
              <a:t>      laws for the citizen.</a:t>
            </a:r>
          </a:p>
          <a:p>
            <a:pPr>
              <a:spcBef>
                <a:spcPts val="0"/>
              </a:spcBef>
              <a:buNone/>
            </a:pPr>
            <a:endParaRPr lang="en-US" sz="1500" dirty="0">
              <a:latin typeface="Arial Rounded MT Bold" pitchFamily="34" charset="0"/>
            </a:endParaRPr>
          </a:p>
          <a:p>
            <a:pPr>
              <a:buNone/>
            </a:pPr>
            <a:r>
              <a:rPr lang="en-US" sz="3400" dirty="0">
                <a:latin typeface="Arial Rounded MT Bold" pitchFamily="34" charset="0"/>
              </a:rPr>
              <a:t>4. Parties form &amp; run the govt.</a:t>
            </a:r>
          </a:p>
          <a:p>
            <a:endParaRPr lang="en-US" sz="3400" dirty="0">
              <a:latin typeface="Arial Rounded MT Bold" pitchFamily="34" charset="0"/>
            </a:endParaRPr>
          </a:p>
        </p:txBody>
      </p:sp>
    </p:spTree>
  </p:cSld>
  <p:clrMapOvr>
    <a:masterClrMapping/>
  </p:clrMapOvr>
  <p:transition spd="slow">
    <p:newsfla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>
            <a:noAutofit/>
          </a:bodyPr>
          <a:lstStyle/>
          <a:p>
            <a:pPr algn="l"/>
            <a:r>
              <a:rPr lang="en-US" sz="3300" b="1" dirty="0">
                <a:solidFill>
                  <a:srgbClr val="C00000"/>
                </a:solidFill>
              </a:rPr>
              <a:t>Continuation …..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8229600" cy="5638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3300" dirty="0">
                <a:latin typeface="Arial Rounded MT Bold" pitchFamily="34" charset="0"/>
              </a:rPr>
              <a:t>5. Loosing parties play the role of oppositions to the party in power.</a:t>
            </a:r>
          </a:p>
          <a:p>
            <a:endParaRPr lang="en-US" sz="1400" dirty="0">
              <a:latin typeface="Arial Rounded MT Bold" pitchFamily="34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sz="3300" dirty="0">
                <a:latin typeface="Arial Rounded MT Bold" pitchFamily="34" charset="0"/>
              </a:rPr>
              <a:t>6. Parties shape public opinion, means-     fulfill the genuine demands.</a:t>
            </a:r>
          </a:p>
          <a:p>
            <a:pPr>
              <a:buNone/>
            </a:pPr>
            <a:endParaRPr lang="en-US" sz="1400" dirty="0">
              <a:latin typeface="Arial Rounded MT Bold" pitchFamily="34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3300" dirty="0">
                <a:latin typeface="Arial Rounded MT Bold" pitchFamily="34" charset="0"/>
              </a:rPr>
              <a:t>7. Parties provide opportunities to access the </a:t>
            </a:r>
            <a:r>
              <a:rPr lang="en-US" sz="3300" dirty="0" err="1">
                <a:latin typeface="Arial Rounded MT Bold" pitchFamily="34" charset="0"/>
              </a:rPr>
              <a:t>govt</a:t>
            </a:r>
            <a:r>
              <a:rPr lang="en-US" sz="3300" dirty="0">
                <a:latin typeface="Arial Rounded MT Bold" pitchFamily="34" charset="0"/>
              </a:rPr>
              <a:t> machinery and welfare schemes.</a:t>
            </a:r>
          </a:p>
          <a:p>
            <a:pPr>
              <a:spcBef>
                <a:spcPts val="0"/>
              </a:spcBef>
              <a:buNone/>
            </a:pPr>
            <a:endParaRPr lang="en-US" sz="1400" dirty="0">
              <a:latin typeface="Arial Rounded MT Bold" pitchFamily="34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sz="3300" dirty="0">
                <a:latin typeface="Arial Rounded MT Bold" pitchFamily="34" charset="0"/>
              </a:rPr>
              <a:t>8. They shape representative democratic system.</a:t>
            </a:r>
          </a:p>
          <a:p>
            <a:endParaRPr lang="en-US" sz="3400" dirty="0"/>
          </a:p>
        </p:txBody>
      </p:sp>
    </p:spTree>
  </p:cSld>
  <p:clrMapOvr>
    <a:masterClrMapping/>
  </p:clrMapOvr>
  <p:transition spd="slow">
    <p:newsfla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</p:spPr>
        <p:txBody>
          <a:bodyPr>
            <a:noAutofit/>
          </a:bodyPr>
          <a:lstStyle/>
          <a:p>
            <a:pPr algn="ctr"/>
            <a:r>
              <a:rPr lang="en-US" sz="3700" b="1" u="sng" dirty="0">
                <a:solidFill>
                  <a:srgbClr val="008000"/>
                </a:solidFill>
                <a:latin typeface="Arial Rounded MT Bold" pitchFamily="34" charset="0"/>
              </a:rPr>
              <a:t>NECCESSITY OF POLITICAL PARTY</a:t>
            </a:r>
            <a:endParaRPr lang="en-US" sz="3700" b="1" u="sng" dirty="0">
              <a:solidFill>
                <a:srgbClr val="008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867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000" dirty="0">
                <a:solidFill>
                  <a:srgbClr val="C00000"/>
                </a:solidFill>
                <a:latin typeface="Arial Rounded MT Bold" pitchFamily="34" charset="0"/>
              </a:rPr>
              <a:t>			</a:t>
            </a:r>
            <a:r>
              <a:rPr lang="en-US" sz="2600" dirty="0">
                <a:solidFill>
                  <a:srgbClr val="C00000"/>
                </a:solidFill>
                <a:latin typeface="Arial Rounded MT Bold" pitchFamily="34" charset="0"/>
              </a:rPr>
              <a:t>(Imagine a situation, if)</a:t>
            </a:r>
          </a:p>
          <a:p>
            <a:endParaRPr lang="en-US" sz="35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295400"/>
          <a:ext cx="8915400" cy="5382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721">
                <a:tc>
                  <a:txBody>
                    <a:bodyPr/>
                    <a:lstStyle/>
                    <a:p>
                      <a:r>
                        <a:rPr lang="en-US" sz="2800" baseline="0" dirty="0">
                          <a:solidFill>
                            <a:srgbClr val="FFFF00"/>
                          </a:solidFill>
                        </a:rPr>
                        <a:t> </a:t>
                      </a:r>
                      <a:r>
                        <a:rPr lang="en-US" sz="2600" dirty="0">
                          <a:solidFill>
                            <a:srgbClr val="FFFF00"/>
                          </a:solidFill>
                        </a:rPr>
                        <a:t>NO,</a:t>
                      </a:r>
                      <a:r>
                        <a:rPr lang="en-US" sz="2600" baseline="0" dirty="0">
                          <a:solidFill>
                            <a:srgbClr val="FFFF00"/>
                          </a:solidFill>
                        </a:rPr>
                        <a:t> </a:t>
                      </a:r>
                      <a:r>
                        <a:rPr lang="en-US" sz="2600" dirty="0">
                          <a:solidFill>
                            <a:srgbClr val="FFFF00"/>
                          </a:solidFill>
                        </a:rPr>
                        <a:t>POLITICAL PARTY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>
                          <a:solidFill>
                            <a:srgbClr val="FFFF00"/>
                          </a:solidFill>
                        </a:rPr>
                        <a:t> POLITICAL PARTY, </a:t>
                      </a:r>
                      <a:r>
                        <a:rPr lang="en-US" sz="2200" dirty="0">
                          <a:solidFill>
                            <a:srgbClr val="FFFF00"/>
                          </a:solidFill>
                        </a:rPr>
                        <a:t>PRESENT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066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itchFamily="34" charset="0"/>
                        </a:rPr>
                        <a:t>No</a:t>
                      </a:r>
                      <a:r>
                        <a:rPr lang="en-US" sz="280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itchFamily="34" charset="0"/>
                        </a:rPr>
                        <a:t> uniform decision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Arial Rounded MT Bol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itchFamily="34" charset="0"/>
                        </a:rPr>
                        <a:t>Decision as a whole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Arial Rounded MT Bold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465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itchFamily="34" charset="0"/>
                        </a:rPr>
                        <a:t>Independent</a:t>
                      </a:r>
                      <a:r>
                        <a:rPr lang="en-US" sz="280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itchFamily="34" charset="0"/>
                        </a:rPr>
                        <a:t> candidates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Arial Rounded MT Bol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itchFamily="34" charset="0"/>
                        </a:rPr>
                        <a:t>Representative democracy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465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itchFamily="34" charset="0"/>
                        </a:rPr>
                        <a:t>No major</a:t>
                      </a:r>
                      <a:r>
                        <a:rPr lang="en-US" sz="280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itchFamily="34" charset="0"/>
                        </a:rPr>
                        <a:t> accountability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Arial Rounded MT Bol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itchFamily="34" charset="0"/>
                        </a:rPr>
                        <a:t>An accountable </a:t>
                      </a:r>
                      <a:r>
                        <a:rPr lang="en-US" sz="28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itchFamily="34" charset="0"/>
                        </a:rPr>
                        <a:t>Govt</a:t>
                      </a:r>
                      <a:r>
                        <a:rPr lang="en-US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itchFamily="34" charset="0"/>
                        </a:rPr>
                        <a:t>  </a:t>
                      </a:r>
                    </a:p>
                    <a:p>
                      <a:r>
                        <a:rPr lang="en-US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itchFamily="34" charset="0"/>
                        </a:rPr>
                        <a:t>may be set 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465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itchFamily="34" charset="0"/>
                        </a:rPr>
                        <a:t>Limited to constituency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itchFamily="34" charset="0"/>
                        </a:rPr>
                        <a:t>May work beyond the Constituency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405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itchFamily="34" charset="0"/>
                        </a:rPr>
                        <a:t>No one to take care the 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itchFamily="34" charset="0"/>
                        </a:rPr>
                        <a:t>Certain party</a:t>
                      </a:r>
                      <a:r>
                        <a:rPr lang="en-US" sz="280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itchFamily="34" charset="0"/>
                        </a:rPr>
                        <a:t> may take care the country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386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itchFamily="34" charset="0"/>
                        </a:rPr>
                        <a:t>More conflict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itchFamily="34" charset="0"/>
                        </a:rPr>
                        <a:t>Less conflict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newsfla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1295400"/>
          </a:xfrm>
        </p:spPr>
        <p:txBody>
          <a:bodyPr>
            <a:normAutofit/>
          </a:bodyPr>
          <a:lstStyle/>
          <a:p>
            <a:pPr algn="ctr"/>
            <a:r>
              <a:rPr lang="en-US" sz="3700" b="1" u="sng" dirty="0">
                <a:solidFill>
                  <a:srgbClr val="008000"/>
                </a:solidFill>
                <a:latin typeface="Arial Rounded MT Bold" pitchFamily="34" charset="0"/>
              </a:rPr>
              <a:t>HOW MANY PARTIES SHOUD WE HAVE….??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8305800" cy="50292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buNone/>
            </a:pPr>
            <a:r>
              <a:rPr lang="en-US" sz="3300" dirty="0">
                <a:latin typeface="Arial Rounded MT Bold" pitchFamily="34" charset="0"/>
              </a:rPr>
              <a:t>   </a:t>
            </a:r>
            <a:r>
              <a:rPr lang="en-US" sz="3300" dirty="0">
                <a:solidFill>
                  <a:schemeClr val="accent1">
                    <a:lumMod val="75000"/>
                  </a:schemeClr>
                </a:solidFill>
                <a:latin typeface="Arial Rounded MT Bold" pitchFamily="34" charset="0"/>
              </a:rPr>
              <a:t>In a democracy, any group of citizens is free to form a political party. It evolves- 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3300" dirty="0">
                <a:solidFill>
                  <a:schemeClr val="accent1">
                    <a:lumMod val="75000"/>
                  </a:schemeClr>
                </a:solidFill>
                <a:latin typeface="Arial Rounded MT Bold" pitchFamily="34" charset="0"/>
              </a:rPr>
              <a:t>   </a:t>
            </a:r>
            <a:r>
              <a:rPr lang="en-US" sz="3300" dirty="0">
                <a:latin typeface="Arial Rounded MT Bold" pitchFamily="34" charset="0"/>
              </a:rPr>
              <a:t>-over a long period of time, 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3300" dirty="0">
                <a:latin typeface="Arial Rounded MT Bold" pitchFamily="34" charset="0"/>
              </a:rPr>
              <a:t>   -depending on its socio-cultural views, 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3300" dirty="0">
                <a:latin typeface="Arial Rounded MT Bold" pitchFamily="34" charset="0"/>
              </a:rPr>
              <a:t>   -regional and geographical divisions,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3300" dirty="0">
                <a:latin typeface="Arial Rounded MT Bold" pitchFamily="34" charset="0"/>
              </a:rPr>
              <a:t>   -history of politics etc.</a:t>
            </a:r>
          </a:p>
          <a:p>
            <a:pPr algn="just">
              <a:buNone/>
            </a:pPr>
            <a:r>
              <a:rPr lang="en-US" sz="3300" dirty="0">
                <a:latin typeface="Arial Rounded MT Bold" pitchFamily="34" charset="0"/>
              </a:rPr>
              <a:t>   </a:t>
            </a:r>
            <a:r>
              <a:rPr lang="en-US" sz="3300" dirty="0">
                <a:solidFill>
                  <a:schemeClr val="bg1">
                    <a:lumMod val="50000"/>
                  </a:schemeClr>
                </a:solidFill>
                <a:latin typeface="Arial Rounded MT Bold" pitchFamily="34" charset="0"/>
              </a:rPr>
              <a:t> 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3300" dirty="0">
                <a:latin typeface="Arial Rounded MT Bold" pitchFamily="34" charset="0"/>
              </a:rPr>
              <a:t>  </a:t>
            </a:r>
            <a:r>
              <a:rPr lang="en-US" sz="3300" dirty="0">
                <a:solidFill>
                  <a:srgbClr val="7030A0"/>
                </a:solidFill>
                <a:latin typeface="Arial Rounded MT Bold" pitchFamily="34" charset="0"/>
              </a:rPr>
              <a:t>Thus, we can say: </a:t>
            </a:r>
            <a:r>
              <a:rPr lang="en-US" sz="3300" dirty="0">
                <a:solidFill>
                  <a:schemeClr val="accent1">
                    <a:lumMod val="75000"/>
                  </a:schemeClr>
                </a:solidFill>
                <a:latin typeface="Arial Rounded MT Bold" pitchFamily="34" charset="0"/>
              </a:rPr>
              <a:t>“No system is ideal for all countries and all situations”.</a:t>
            </a:r>
          </a:p>
          <a:p>
            <a:pPr algn="just">
              <a:buNone/>
            </a:pPr>
            <a:r>
              <a:rPr lang="en-US" sz="3300" dirty="0">
                <a:latin typeface="Arial Rounded MT Bold" pitchFamily="34" charset="0"/>
              </a:rPr>
              <a:t>   </a:t>
            </a:r>
          </a:p>
        </p:txBody>
      </p:sp>
      <p:sp>
        <p:nvSpPr>
          <p:cNvPr id="2055" name="AutoShape 7" descr="C:\Users\Userf\Desktop\National-parties-india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 spd="slow">
    <p:newsfla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3366868" y="2895580"/>
            <a:ext cx="2133600" cy="14478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hlinkClick r:id="rId3" action="ppaction://hlinkfile"/>
          </p:cNvPr>
          <p:cNvSpPr/>
          <p:nvPr/>
        </p:nvSpPr>
        <p:spPr>
          <a:xfrm>
            <a:off x="457200" y="1254360"/>
            <a:ext cx="2286000" cy="167054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Oval 8">
            <a:hlinkClick r:id="rId4" action="ppaction://hlinkpres?slideindex=1&amp;slidetitle="/>
          </p:cNvPr>
          <p:cNvSpPr/>
          <p:nvPr/>
        </p:nvSpPr>
        <p:spPr>
          <a:xfrm>
            <a:off x="3234396" y="5164020"/>
            <a:ext cx="2486464" cy="1600200"/>
          </a:xfrm>
          <a:prstGeom prst="ellipse">
            <a:avLst/>
          </a:prstGeom>
          <a:solidFill>
            <a:srgbClr val="FF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hlinkClick r:id="rId5" action="ppaction://hlinkpres?slideindex=1&amp;slidetitle="/>
          </p:cNvPr>
          <p:cNvSpPr/>
          <p:nvPr/>
        </p:nvSpPr>
        <p:spPr>
          <a:xfrm>
            <a:off x="6172200" y="1276636"/>
            <a:ext cx="2362200" cy="16764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667000"/>
            <a:ext cx="8229600" cy="114300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55626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dirty="0"/>
              <a:t>    </a:t>
            </a:r>
          </a:p>
          <a:p>
            <a:pPr>
              <a:spcBef>
                <a:spcPts val="0"/>
              </a:spcBef>
              <a:buNone/>
            </a:pPr>
            <a:r>
              <a:rPr lang="en-US" dirty="0"/>
              <a:t>   </a:t>
            </a:r>
            <a:r>
              <a:rPr lang="en-US" sz="3400" dirty="0">
                <a:latin typeface="Arial Rounded MT Bold" pitchFamily="34" charset="0"/>
              </a:rPr>
              <a:t>One Party                                       Two Party</a:t>
            </a:r>
          </a:p>
          <a:p>
            <a:pPr>
              <a:spcBef>
                <a:spcPts val="0"/>
              </a:spcBef>
              <a:buNone/>
            </a:pPr>
            <a:r>
              <a:rPr lang="en-US" sz="3400" dirty="0">
                <a:latin typeface="Arial Rounded MT Bold" pitchFamily="34" charset="0"/>
              </a:rPr>
              <a:t>      System                                             Systems</a:t>
            </a:r>
          </a:p>
          <a:p>
            <a:pPr>
              <a:spcBef>
                <a:spcPts val="0"/>
              </a:spcBef>
              <a:buNone/>
            </a:pPr>
            <a:r>
              <a:rPr lang="en-US" sz="3400" dirty="0">
                <a:latin typeface="Arial Rounded MT Bold" pitchFamily="34" charset="0"/>
              </a:rPr>
              <a:t>				        </a:t>
            </a:r>
          </a:p>
          <a:p>
            <a:pPr>
              <a:spcBef>
                <a:spcPts val="0"/>
              </a:spcBef>
              <a:buNone/>
            </a:pPr>
            <a:r>
              <a:rPr lang="en-US" sz="3400" dirty="0">
                <a:latin typeface="Arial Rounded MT Bold" pitchFamily="34" charset="0"/>
              </a:rPr>
              <a:t>				         </a:t>
            </a:r>
            <a:r>
              <a:rPr lang="en-US" sz="3700" dirty="0">
                <a:latin typeface="Arial Rounded MT Bold" pitchFamily="34" charset="0"/>
              </a:rPr>
              <a:t>Party</a:t>
            </a:r>
          </a:p>
          <a:p>
            <a:pPr>
              <a:spcBef>
                <a:spcPts val="0"/>
              </a:spcBef>
              <a:buNone/>
            </a:pPr>
            <a:r>
              <a:rPr lang="en-US" sz="3700" dirty="0">
                <a:latin typeface="Arial Rounded MT Bold" pitchFamily="34" charset="0"/>
              </a:rPr>
              <a:t>				      System</a:t>
            </a:r>
          </a:p>
          <a:p>
            <a:pPr>
              <a:buNone/>
            </a:pPr>
            <a:r>
              <a:rPr lang="en-US" sz="3700" dirty="0">
                <a:latin typeface="Arial Rounded MT Bold" pitchFamily="34" charset="0"/>
              </a:rPr>
              <a:t>					</a:t>
            </a:r>
            <a:r>
              <a:rPr lang="en-US" sz="3400" dirty="0">
                <a:latin typeface="Arial Rounded MT Bold" pitchFamily="34" charset="0"/>
              </a:rPr>
              <a:t> </a:t>
            </a:r>
          </a:p>
          <a:p>
            <a:pPr>
              <a:buNone/>
            </a:pPr>
            <a:r>
              <a:rPr lang="en-US" sz="3400" dirty="0">
                <a:latin typeface="Arial Rounded MT Bold" pitchFamily="34" charset="0"/>
              </a:rPr>
              <a:t>				             </a:t>
            </a:r>
          </a:p>
          <a:p>
            <a:pPr>
              <a:buNone/>
            </a:pPr>
            <a:endParaRPr lang="en-US" sz="1700" dirty="0">
              <a:latin typeface="Arial Rounded MT Bold" pitchFamily="34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3400" dirty="0">
                <a:latin typeface="Arial Rounded MT Bold" pitchFamily="34" charset="0"/>
              </a:rPr>
              <a:t>			              Multi-Party</a:t>
            </a:r>
          </a:p>
          <a:p>
            <a:pPr>
              <a:spcBef>
                <a:spcPts val="0"/>
              </a:spcBef>
              <a:buNone/>
            </a:pPr>
            <a:r>
              <a:rPr lang="en-US" sz="3400" dirty="0">
                <a:latin typeface="Arial Rounded MT Bold" pitchFamily="34" charset="0"/>
              </a:rPr>
              <a:t>				        System</a:t>
            </a:r>
          </a:p>
        </p:txBody>
      </p:sp>
      <p:cxnSp>
        <p:nvCxnSpPr>
          <p:cNvPr id="12" name="Straight Connector 11"/>
          <p:cNvCxnSpPr/>
          <p:nvPr/>
        </p:nvCxnSpPr>
        <p:spPr>
          <a:xfrm rot="5400000" flipH="1" flipV="1">
            <a:off x="3124200" y="2438400"/>
            <a:ext cx="158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514600" y="2667000"/>
            <a:ext cx="954256" cy="553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0800000" flipV="1">
            <a:off x="5342208" y="2667000"/>
            <a:ext cx="982392" cy="589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16200000" flipH="1">
            <a:off x="4111870" y="4721470"/>
            <a:ext cx="762000" cy="58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D:\RPS\POLITICAL PARTY\istockphoto-493211544-1024x1024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85448" y="344714"/>
            <a:ext cx="3048000" cy="2322286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newsfla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 descr="D:\RPS\POLITICAL PARTY\one party system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newsfla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839200" cy="762000"/>
          </a:xfrm>
        </p:spPr>
        <p:txBody>
          <a:bodyPr>
            <a:noAutofit/>
          </a:bodyPr>
          <a:lstStyle/>
          <a:p>
            <a:r>
              <a:rPr lang="en-US" sz="3200" b="1" cap="all" dirty="0">
                <a:solidFill>
                  <a:srgbClr val="008000"/>
                </a:solidFill>
                <a:latin typeface="Arial Rounded MT Bold" pitchFamily="34" charset="0"/>
              </a:rPr>
              <a:t>	</a:t>
            </a:r>
            <a:r>
              <a:rPr lang="en-US" sz="3200" b="1" u="sng" cap="all" dirty="0">
                <a:solidFill>
                  <a:srgbClr val="008000"/>
                </a:solidFill>
                <a:latin typeface="Arial Rounded MT Bold" pitchFamily="34" charset="0"/>
              </a:rPr>
              <a:t>Continue</a:t>
            </a:r>
            <a:r>
              <a:rPr lang="en-US" sz="3500" b="1" u="sng" cap="all" dirty="0">
                <a:solidFill>
                  <a:srgbClr val="008000"/>
                </a:solidFill>
                <a:latin typeface="Arial Rounded MT Bold" pitchFamily="34" charset="0"/>
              </a:rPr>
              <a:t>….</a:t>
            </a:r>
            <a:endParaRPr lang="en-US" sz="3500" b="1" u="sng" cap="all" dirty="0">
              <a:solidFill>
                <a:srgbClr val="008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1600"/>
            <a:ext cx="8153400" cy="5257800"/>
          </a:xfrm>
        </p:spPr>
        <p:txBody>
          <a:bodyPr>
            <a:normAutofit/>
          </a:bodyPr>
          <a:lstStyle/>
          <a:p>
            <a:r>
              <a:rPr lang="en-US" sz="3050" b="1" dirty="0">
                <a:latin typeface="Arial Rounded MT Bold" pitchFamily="34" charset="0"/>
              </a:rPr>
              <a:t>Thus, One-party system</a:t>
            </a:r>
            <a:r>
              <a:rPr lang="en-US" sz="3050" dirty="0">
                <a:latin typeface="Arial Rounded MT Bold" pitchFamily="34" charset="0"/>
              </a:rPr>
              <a:t> is a type of system of a state in which one </a:t>
            </a:r>
            <a:r>
              <a:rPr lang="en-US" sz="3050" dirty="0">
                <a:solidFill>
                  <a:schemeClr val="tx1"/>
                </a:solidFill>
                <a:latin typeface="Arial Rounded MT Bold" pitchFamily="34" charset="0"/>
                <a:hlinkClick r:id="rId2" tooltip="Political party"/>
              </a:rPr>
              <a:t>political party</a:t>
            </a:r>
            <a:r>
              <a:rPr lang="en-US" sz="3050" dirty="0">
                <a:solidFill>
                  <a:srgbClr val="7030A0"/>
                </a:solidFill>
                <a:latin typeface="Arial Rounded MT Bold" pitchFamily="34" charset="0"/>
              </a:rPr>
              <a:t> </a:t>
            </a:r>
            <a:r>
              <a:rPr lang="en-US" sz="3050" dirty="0">
                <a:latin typeface="Arial Rounded MT Bold" pitchFamily="34" charset="0"/>
              </a:rPr>
              <a:t>has the right to form the govt. All other parties are either outlawed or allowed to take only a limited participation in elections.</a:t>
            </a:r>
          </a:p>
          <a:p>
            <a:endParaRPr lang="en-US" sz="3050" u="sng" dirty="0">
              <a:latin typeface="Arial Rounded MT Bold" pitchFamily="34" charset="0"/>
            </a:endParaRPr>
          </a:p>
          <a:p>
            <a:r>
              <a:rPr lang="en-US" sz="3050" u="sng" dirty="0">
                <a:latin typeface="Arial Rounded MT Bold" pitchFamily="34" charset="0"/>
              </a:rPr>
              <a:t>Example</a:t>
            </a:r>
            <a:r>
              <a:rPr lang="en-US" sz="3050" dirty="0">
                <a:latin typeface="Arial Rounded MT Bold" pitchFamily="34" charset="0"/>
              </a:rPr>
              <a:t>: </a:t>
            </a:r>
            <a:r>
              <a:rPr lang="en-US" sz="3050" u="sng" dirty="0">
                <a:solidFill>
                  <a:srgbClr val="FF9900"/>
                </a:solidFill>
                <a:latin typeface="Arial Rounded MT Bold" pitchFamily="34" charset="0"/>
              </a:rPr>
              <a:t>China….. </a:t>
            </a:r>
            <a:endParaRPr lang="en-US" sz="3050" dirty="0"/>
          </a:p>
        </p:txBody>
      </p:sp>
      <p:pic>
        <p:nvPicPr>
          <p:cNvPr id="3074" name="Picture 2" descr="C:\Users\User\Desktop\IMG_20200710_02204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0" y="4419600"/>
            <a:ext cx="2743200" cy="21336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newsfla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0"/>
            <a:ext cx="8305800" cy="91439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8000"/>
                </a:solidFill>
                <a:effectLst/>
                <a:latin typeface="Arial Rounded MT Bold" pitchFamily="34" charset="0"/>
              </a:rPr>
              <a:t>	</a:t>
            </a:r>
            <a:r>
              <a:rPr lang="en-US" sz="4000" b="1" u="sng" dirty="0">
                <a:solidFill>
                  <a:srgbClr val="008000"/>
                </a:solidFill>
                <a:effectLst/>
                <a:latin typeface="Arial Rounded MT Bold" pitchFamily="34" charset="0"/>
              </a:rPr>
              <a:t>Two-Party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295400"/>
            <a:ext cx="8610600" cy="54102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 sz="31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itchFamily="34" charset="0"/>
              </a:rPr>
              <a:t>Two</a:t>
            </a:r>
            <a:r>
              <a:rPr lang="en-US" sz="31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itchFamily="34" charset="0"/>
              </a:rPr>
              <a:t>-</a:t>
            </a:r>
            <a:r>
              <a:rPr lang="en-US" sz="31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itchFamily="34" charset="0"/>
              </a:rPr>
              <a:t>party system</a:t>
            </a:r>
            <a:r>
              <a:rPr lang="en-US" sz="3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itchFamily="34" charset="0"/>
              </a:rPr>
              <a:t> </a:t>
            </a:r>
            <a:r>
              <a:rPr lang="en-US" sz="3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itchFamily="34" charset="0"/>
              </a:rPr>
              <a:t>where two major political parties dominate the political landscape. At any point of time, one of the </a:t>
            </a:r>
            <a:r>
              <a:rPr lang="en-US" sz="3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itchFamily="34" charset="0"/>
              </a:rPr>
              <a:t>two parties</a:t>
            </a:r>
            <a:r>
              <a:rPr lang="en-US" sz="3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itchFamily="34" charset="0"/>
              </a:rPr>
              <a:t> typically holds a majority in the legislature and is usually referred to as the </a:t>
            </a:r>
            <a:r>
              <a:rPr lang="en-US" sz="31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itchFamily="34" charset="0"/>
              </a:rPr>
              <a:t>majority or governing party</a:t>
            </a:r>
            <a:r>
              <a:rPr lang="en-US" sz="3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itchFamily="34" charset="0"/>
              </a:rPr>
              <a:t> while the other is called as the </a:t>
            </a:r>
            <a:r>
              <a:rPr lang="en-US" sz="3100" u="sng" dirty="0">
                <a:solidFill>
                  <a:srgbClr val="92D050"/>
                </a:solidFill>
                <a:latin typeface="Arial Rounded MT Bold" pitchFamily="34" charset="0"/>
              </a:rPr>
              <a:t>Minority</a:t>
            </a:r>
            <a:r>
              <a:rPr lang="en-US" sz="3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itchFamily="34" charset="0"/>
              </a:rPr>
              <a:t> or</a:t>
            </a:r>
            <a:r>
              <a:rPr lang="en-US" sz="31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itchFamily="34" charset="0"/>
              </a:rPr>
              <a:t> </a:t>
            </a:r>
            <a:r>
              <a:rPr lang="en-US" sz="3100" u="sng" dirty="0">
                <a:solidFill>
                  <a:srgbClr val="92D050"/>
                </a:solidFill>
                <a:latin typeface="Arial Rounded MT Bold" pitchFamily="34" charset="0"/>
              </a:rPr>
              <a:t>O</a:t>
            </a:r>
            <a:r>
              <a:rPr lang="en-US" sz="3100" u="sng" dirty="0">
                <a:solidFill>
                  <a:srgbClr val="92D050"/>
                </a:solidFill>
                <a:latin typeface="Arial Rounded MT Bold" pitchFamily="34" charset="0"/>
                <a:hlinkClick r:id="rId2"/>
              </a:rPr>
              <a:t>pposition</a:t>
            </a:r>
            <a:r>
              <a:rPr lang="en-US" sz="3100" u="sng" dirty="0">
                <a:solidFill>
                  <a:srgbClr val="92D050"/>
                </a:solidFill>
                <a:latin typeface="Arial Rounded MT Bold" pitchFamily="34" charset="0"/>
              </a:rPr>
              <a:t> Party</a:t>
            </a:r>
            <a:r>
              <a:rPr lang="en-US" sz="31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itchFamily="34" charset="0"/>
              </a:rPr>
              <a:t>.</a:t>
            </a:r>
            <a:r>
              <a:rPr lang="en-US" sz="3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itchFamily="34" charset="0"/>
              </a:rPr>
              <a:t>‎</a:t>
            </a:r>
          </a:p>
          <a:p>
            <a:pPr algn="just"/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sz="3100" u="sng" dirty="0">
                <a:solidFill>
                  <a:schemeClr val="tx1"/>
                </a:solidFill>
                <a:latin typeface="Arial Rounded MT Bold" pitchFamily="34" charset="0"/>
              </a:rPr>
              <a:t>Example:</a:t>
            </a:r>
            <a:r>
              <a:rPr lang="en-US" sz="3100" dirty="0">
                <a:solidFill>
                  <a:schemeClr val="tx1"/>
                </a:solidFill>
                <a:latin typeface="Arial Rounded MT Bold" pitchFamily="34" charset="0"/>
              </a:rPr>
              <a:t> </a:t>
            </a:r>
            <a:r>
              <a:rPr lang="en-US" sz="3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itchFamily="34" charset="0"/>
                <a:hlinkClick r:id="rId3" tooltip="Politics of the United States"/>
              </a:rPr>
              <a:t>United</a:t>
            </a: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  <a:hlinkClick r:id="rId3" tooltip="Politics of the United States"/>
              </a:rPr>
              <a:t> States</a:t>
            </a: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,</a:t>
            </a: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  <a:hlinkClick r:id="rId4" tooltip="Politics of Zimbabwe"/>
              </a:rPr>
              <a:t> Zimbabwe, </a:t>
            </a:r>
            <a:r>
              <a:rPr lang="en-US" sz="3100" u="sng" dirty="0">
                <a:solidFill>
                  <a:srgbClr val="92D050"/>
                </a:solidFill>
                <a:latin typeface="Arial Rounded MT Bold" pitchFamily="34" charset="0"/>
              </a:rPr>
              <a:t>United Kingdom</a:t>
            </a:r>
            <a:r>
              <a:rPr lang="en-US" sz="31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,</a:t>
            </a: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 </a:t>
            </a: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  <a:hlinkClick r:id="rId5" tooltip="Politics of Jamaica"/>
              </a:rPr>
              <a:t>Jamaica</a:t>
            </a: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, </a:t>
            </a: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  <a:hlinkClick r:id="rId6" tooltip="Politics of Malta"/>
              </a:rPr>
              <a:t>Malta</a:t>
            </a: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 etc.</a:t>
            </a:r>
          </a:p>
        </p:txBody>
      </p:sp>
    </p:spTree>
  </p:cSld>
  <p:clrMapOvr>
    <a:masterClrMapping/>
  </p:clrMapOvr>
  <p:transition spd="slow">
    <p:newsfla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52401"/>
            <a:ext cx="8686800" cy="838199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solidFill>
                  <a:srgbClr val="008000"/>
                </a:solidFill>
                <a:effectLst/>
                <a:latin typeface="Arial Rounded MT Bold" pitchFamily="34" charset="0"/>
              </a:rPr>
              <a:t>Multi-Party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371600"/>
            <a:ext cx="8382000" cy="5257800"/>
          </a:xfrm>
        </p:spPr>
        <p:txBody>
          <a:bodyPr>
            <a:noAutofit/>
          </a:bodyPr>
          <a:lstStyle/>
          <a:p>
            <a:pPr algn="just"/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itchFamily="34" charset="0"/>
              </a:rPr>
              <a:t>A multi-party system is a political system in which multiple political parties across the political spectrum run for national election and all have the capacity to gain control of government offices, separately or in </a:t>
            </a:r>
            <a:r>
              <a:rPr lang="en-US" sz="3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itchFamily="34" charset="0"/>
              </a:rPr>
              <a:t>coalition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itchFamily="34" charset="0"/>
              </a:rPr>
              <a:t>.</a:t>
            </a:r>
          </a:p>
          <a:p>
            <a:pPr algn="just"/>
            <a:endParaRPr lang="en-US" sz="1200" dirty="0">
              <a:solidFill>
                <a:schemeClr val="tx1"/>
              </a:solidFill>
              <a:latin typeface="Arial Rounded MT Bold" pitchFamily="34" charset="0"/>
            </a:endParaRPr>
          </a:p>
          <a:p>
            <a:pPr algn="just"/>
            <a:r>
              <a:rPr lang="en-US" sz="3200" dirty="0">
                <a:solidFill>
                  <a:schemeClr val="tx1"/>
                </a:solidFill>
                <a:latin typeface="Arial Rounded MT Bold" pitchFamily="34" charset="0"/>
              </a:rPr>
              <a:t>Example: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itchFamily="34" charset="0"/>
                <a:hlinkClick r:id="rId2" tooltip="Argentina"/>
              </a:rPr>
              <a:t>Argentina</a:t>
            </a:r>
            <a:r>
              <a:rPr lang="en-US" sz="3200" dirty="0">
                <a:solidFill>
                  <a:schemeClr val="tx1"/>
                </a:solidFill>
                <a:latin typeface="Arial Rounded MT Bold" pitchFamily="34" charset="0"/>
              </a:rPr>
              <a:t>, </a:t>
            </a:r>
            <a:r>
              <a:rPr lang="en-US" sz="3200" dirty="0">
                <a:solidFill>
                  <a:schemeClr val="tx1"/>
                </a:solidFill>
                <a:latin typeface="Arial Rounded MT Bold" pitchFamily="34" charset="0"/>
                <a:hlinkClick r:id="rId3" tooltip="Armenia"/>
              </a:rPr>
              <a:t>Armenia</a:t>
            </a:r>
            <a:r>
              <a:rPr lang="en-US" sz="3200" dirty="0">
                <a:solidFill>
                  <a:schemeClr val="tx1"/>
                </a:solidFill>
                <a:latin typeface="Arial Rounded MT Bold" pitchFamily="34" charset="0"/>
              </a:rPr>
              <a:t>, </a:t>
            </a:r>
            <a:r>
              <a:rPr lang="en-US" sz="3200" dirty="0">
                <a:solidFill>
                  <a:schemeClr val="tx1"/>
                </a:solidFill>
                <a:latin typeface="Arial Rounded MT Bold" pitchFamily="34" charset="0"/>
                <a:hlinkClick r:id="rId4" tooltip="Brazil"/>
              </a:rPr>
              <a:t>Brazil</a:t>
            </a:r>
            <a:r>
              <a:rPr lang="en-US" sz="3200" dirty="0">
                <a:solidFill>
                  <a:schemeClr val="tx1"/>
                </a:solidFill>
                <a:latin typeface="Arial Rounded MT Bold" pitchFamily="34" charset="0"/>
              </a:rPr>
              <a:t>, </a:t>
            </a:r>
            <a:r>
              <a:rPr lang="en-US" sz="3200" dirty="0">
                <a:solidFill>
                  <a:schemeClr val="tx1"/>
                </a:solidFill>
                <a:latin typeface="Arial Rounded MT Bold" pitchFamily="34" charset="0"/>
                <a:hlinkClick r:id="rId5" tooltip="France"/>
              </a:rPr>
              <a:t>France</a:t>
            </a:r>
            <a:r>
              <a:rPr lang="en-US" sz="3200" dirty="0">
                <a:solidFill>
                  <a:schemeClr val="tx1"/>
                </a:solidFill>
                <a:latin typeface="Arial Rounded MT Bold" pitchFamily="34" charset="0"/>
              </a:rPr>
              <a:t>, </a:t>
            </a:r>
            <a:r>
              <a:rPr lang="en-US" sz="3200" dirty="0">
                <a:solidFill>
                  <a:schemeClr val="tx1"/>
                </a:solidFill>
                <a:latin typeface="Arial Rounded MT Bold" pitchFamily="34" charset="0"/>
                <a:hlinkClick r:id="rId6" tooltip="Germany"/>
              </a:rPr>
              <a:t>Germany</a:t>
            </a:r>
            <a:r>
              <a:rPr lang="en-US" sz="3200" dirty="0">
                <a:solidFill>
                  <a:schemeClr val="tx1"/>
                </a:solidFill>
                <a:latin typeface="Arial Rounded MT Bold" pitchFamily="34" charset="0"/>
              </a:rPr>
              <a:t>, </a:t>
            </a:r>
            <a:r>
              <a:rPr lang="en-US" sz="3200" dirty="0">
                <a:solidFill>
                  <a:schemeClr val="tx1"/>
                </a:solidFill>
                <a:latin typeface="Arial Rounded MT Bold" pitchFamily="34" charset="0"/>
                <a:hlinkClick r:id="rId7" tooltip="India"/>
              </a:rPr>
              <a:t>India</a:t>
            </a:r>
            <a:r>
              <a:rPr lang="en-US" sz="3200" dirty="0">
                <a:solidFill>
                  <a:schemeClr val="tx1"/>
                </a:solidFill>
                <a:latin typeface="Arial Rounded MT Bold" pitchFamily="34" charset="0"/>
              </a:rPr>
              <a:t>, </a:t>
            </a:r>
            <a:r>
              <a:rPr lang="en-US" sz="3200" dirty="0">
                <a:solidFill>
                  <a:schemeClr val="tx1"/>
                </a:solidFill>
                <a:latin typeface="Arial Rounded MT Bold" pitchFamily="34" charset="0"/>
                <a:hlinkClick r:id="rId8" tooltip="Iran"/>
              </a:rPr>
              <a:t>Iran</a:t>
            </a:r>
            <a:r>
              <a:rPr lang="en-US" sz="3200" dirty="0">
                <a:solidFill>
                  <a:schemeClr val="tx1"/>
                </a:solidFill>
                <a:latin typeface="Arial Rounded MT Bold" pitchFamily="34" charset="0"/>
              </a:rPr>
              <a:t>, </a:t>
            </a:r>
            <a:r>
              <a:rPr lang="en-US" sz="3200" dirty="0">
                <a:solidFill>
                  <a:schemeClr val="tx1"/>
                </a:solidFill>
                <a:latin typeface="Arial Rounded MT Bold" pitchFamily="34" charset="0"/>
                <a:hlinkClick r:id="rId9" tooltip="Indonesia"/>
              </a:rPr>
              <a:t>Indonesia</a:t>
            </a:r>
            <a:r>
              <a:rPr lang="en-US" sz="3200" dirty="0">
                <a:solidFill>
                  <a:schemeClr val="tx1"/>
                </a:solidFill>
                <a:latin typeface="Arial Rounded MT Bold" pitchFamily="34" charset="0"/>
              </a:rPr>
              <a:t> and </a:t>
            </a:r>
            <a:r>
              <a:rPr lang="en-US" sz="3200" dirty="0">
                <a:solidFill>
                  <a:schemeClr val="tx1"/>
                </a:solidFill>
                <a:latin typeface="Arial Rounded MT Bold" pitchFamily="34" charset="0"/>
                <a:hlinkClick r:id="rId10" tooltip="Ukraine"/>
              </a:rPr>
              <a:t>Ukraine</a:t>
            </a:r>
            <a:r>
              <a:rPr lang="en-US" sz="3200" dirty="0">
                <a:solidFill>
                  <a:schemeClr val="tx1"/>
                </a:solidFill>
                <a:latin typeface="Arial Rounded MT Bold" pitchFamily="34" charset="0"/>
              </a:rPr>
              <a:t> etc. </a:t>
            </a:r>
          </a:p>
        </p:txBody>
      </p:sp>
    </p:spTree>
  </p:cSld>
  <p:clrMapOvr>
    <a:masterClrMapping/>
  </p:clrMapOvr>
  <p:transition spd="slow">
    <p:newsfla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34400" cy="792162"/>
          </a:xfrm>
        </p:spPr>
        <p:txBody>
          <a:bodyPr>
            <a:noAutofit/>
          </a:bodyPr>
          <a:lstStyle/>
          <a:p>
            <a:pPr algn="ctr"/>
            <a:r>
              <a:rPr lang="en-US" sz="3800" b="1" u="sng" dirty="0">
                <a:solidFill>
                  <a:srgbClr val="008000"/>
                </a:solidFill>
                <a:effectLst/>
                <a:latin typeface="Arial Rounded MT Bold" pitchFamily="34" charset="0"/>
              </a:rPr>
              <a:t>NATIONAL POLITICAL PARTIES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8458200" cy="5105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u="sng" dirty="0">
                <a:solidFill>
                  <a:srgbClr val="FF9900"/>
                </a:solidFill>
                <a:latin typeface="Arial Rounded MT Bold" pitchFamily="34" charset="0"/>
              </a:rPr>
              <a:t>QUALIFICATIONS</a:t>
            </a:r>
            <a:r>
              <a:rPr lang="en-US" sz="3300" u="sng" dirty="0">
                <a:solidFill>
                  <a:srgbClr val="FF9900"/>
                </a:solidFill>
                <a:latin typeface="Arial Rounded MT Bold" pitchFamily="34" charset="0"/>
              </a:rPr>
              <a:t>:</a:t>
            </a:r>
          </a:p>
          <a:p>
            <a:pPr>
              <a:buNone/>
            </a:pPr>
            <a:endParaRPr lang="en-US" sz="1500" u="sng" dirty="0">
              <a:latin typeface="Arial Rounded MT Bold" pitchFamily="34" charset="0"/>
            </a:endParaRPr>
          </a:p>
          <a:p>
            <a:pPr>
              <a:buNone/>
            </a:pPr>
            <a:r>
              <a:rPr lang="en-US" sz="3300" dirty="0">
                <a:latin typeface="Arial Rounded MT Bold" pitchFamily="34" charset="0"/>
              </a:rPr>
              <a:t>  </a:t>
            </a:r>
            <a:r>
              <a:rPr lang="en-US" sz="3100" dirty="0">
                <a:latin typeface="Arial Rounded MT Bold" pitchFamily="34" charset="0"/>
              </a:rPr>
              <a:t> -A party that secures at least 6% of the </a:t>
            </a:r>
          </a:p>
          <a:p>
            <a:pPr>
              <a:buNone/>
            </a:pPr>
            <a:r>
              <a:rPr lang="en-US" sz="3100" dirty="0">
                <a:latin typeface="Arial Rounded MT Bold" pitchFamily="34" charset="0"/>
              </a:rPr>
              <a:t>     total votes in –</a:t>
            </a:r>
          </a:p>
          <a:p>
            <a:pPr lvl="1"/>
            <a:r>
              <a:rPr lang="en-US" sz="3100" dirty="0" err="1">
                <a:latin typeface="Arial Rounded MT Bold" pitchFamily="34" charset="0"/>
              </a:rPr>
              <a:t>Lok</a:t>
            </a:r>
            <a:r>
              <a:rPr lang="en-US" sz="3100" dirty="0">
                <a:latin typeface="Arial Rounded MT Bold" pitchFamily="34" charset="0"/>
              </a:rPr>
              <a:t> </a:t>
            </a:r>
            <a:r>
              <a:rPr lang="en-US" sz="3100" dirty="0" err="1">
                <a:latin typeface="Arial Rounded MT Bold" pitchFamily="34" charset="0"/>
              </a:rPr>
              <a:t>Sabha</a:t>
            </a:r>
            <a:r>
              <a:rPr lang="en-US" sz="3100" dirty="0">
                <a:latin typeface="Arial Rounded MT Bold" pitchFamily="34" charset="0"/>
              </a:rPr>
              <a:t> Election, or</a:t>
            </a:r>
          </a:p>
          <a:p>
            <a:pPr lvl="1"/>
            <a:r>
              <a:rPr lang="en-US" sz="3100" dirty="0">
                <a:latin typeface="Arial Rounded MT Bold" pitchFamily="34" charset="0"/>
              </a:rPr>
              <a:t>Assembly Election in four states.</a:t>
            </a:r>
          </a:p>
          <a:p>
            <a:pPr lvl="1"/>
            <a:r>
              <a:rPr lang="en-US" sz="3100" dirty="0">
                <a:latin typeface="Arial Rounded MT Bold" pitchFamily="34" charset="0"/>
              </a:rPr>
              <a:t>Wins at least four seats in </a:t>
            </a:r>
            <a:r>
              <a:rPr lang="en-US" sz="3100" dirty="0" err="1">
                <a:latin typeface="Arial Rounded MT Bold" pitchFamily="34" charset="0"/>
              </a:rPr>
              <a:t>Lok</a:t>
            </a:r>
            <a:r>
              <a:rPr lang="en-US" sz="3100" dirty="0">
                <a:latin typeface="Arial Rounded MT Bold" pitchFamily="34" charset="0"/>
              </a:rPr>
              <a:t> </a:t>
            </a:r>
            <a:r>
              <a:rPr lang="en-US" sz="3100" dirty="0" err="1">
                <a:latin typeface="Arial Rounded MT Bold" pitchFamily="34" charset="0"/>
              </a:rPr>
              <a:t>Sabha</a:t>
            </a:r>
            <a:r>
              <a:rPr lang="en-US" sz="3100" dirty="0">
                <a:latin typeface="Arial Rounded MT Bold" pitchFamily="34" charset="0"/>
              </a:rPr>
              <a:t>.</a:t>
            </a:r>
          </a:p>
          <a:p>
            <a:pPr lvl="1"/>
            <a:endParaRPr lang="en-US" sz="3100" dirty="0">
              <a:latin typeface="Arial Rounded MT Bold" pitchFamily="34" charset="0"/>
            </a:endParaRPr>
          </a:p>
          <a:p>
            <a:pPr lvl="1">
              <a:buNone/>
            </a:pPr>
            <a:r>
              <a:rPr lang="en-US" sz="3100" dirty="0">
                <a:latin typeface="Arial Rounded MT Bold" pitchFamily="34" charset="0"/>
              </a:rPr>
              <a:t>-They contribute in national unity.</a:t>
            </a:r>
          </a:p>
          <a:p>
            <a:pPr lvl="1"/>
            <a:endParaRPr lang="en-US" sz="3100" dirty="0"/>
          </a:p>
        </p:txBody>
      </p:sp>
    </p:spTree>
  </p:cSld>
  <p:clrMapOvr>
    <a:masterClrMapping/>
  </p:clrMapOvr>
  <p:transition spd="slow">
    <p:newsfla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</p:spPr>
        <p:txBody>
          <a:bodyPr>
            <a:noAutofit/>
          </a:bodyPr>
          <a:lstStyle/>
          <a:p>
            <a:pPr algn="ctr"/>
            <a:r>
              <a:rPr lang="en-US" sz="3500" b="1" u="sng" dirty="0">
                <a:solidFill>
                  <a:srgbClr val="C00000"/>
                </a:solidFill>
                <a:effectLst/>
                <a:latin typeface="Arial Rounded MT Bold" pitchFamily="34" charset="0"/>
              </a:rPr>
              <a:t>Can you identify the symbols of the National Political parties …?? </a:t>
            </a:r>
          </a:p>
        </p:txBody>
      </p:sp>
      <p:pic>
        <p:nvPicPr>
          <p:cNvPr id="4" name="Picture 2" descr="C:\Users\Userf\Downloads\images (43).jpe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47800"/>
            <a:ext cx="9144000" cy="54102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newsfla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792162"/>
          </a:xfrm>
        </p:spPr>
        <p:txBody>
          <a:bodyPr>
            <a:normAutofit/>
          </a:bodyPr>
          <a:lstStyle/>
          <a:p>
            <a:pPr algn="ctr"/>
            <a:r>
              <a:rPr lang="en-US" sz="3800" u="sng" dirty="0">
                <a:solidFill>
                  <a:srgbClr val="FF6600"/>
                </a:solidFill>
                <a:latin typeface="Arial Rounded MT Bold" pitchFamily="34" charset="0"/>
              </a:rPr>
              <a:t>    </a:t>
            </a:r>
            <a:r>
              <a:rPr lang="en-US" sz="3800" dirty="0">
                <a:solidFill>
                  <a:srgbClr val="FF6600"/>
                </a:solidFill>
                <a:latin typeface="Arial Rounded MT Bold" pitchFamily="34" charset="0"/>
              </a:rPr>
              <a:t>         </a:t>
            </a:r>
            <a:r>
              <a:rPr lang="en-US" sz="3800" u="sng" dirty="0">
                <a:solidFill>
                  <a:srgbClr val="FF6600"/>
                </a:solidFill>
                <a:latin typeface="Arial Rounded MT Bold" pitchFamily="34" charset="0"/>
              </a:rPr>
              <a:t>BHARATIYA JANATA PARTY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28800"/>
            <a:ext cx="8229600" cy="48768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3300" dirty="0">
                <a:latin typeface="Arial Rounded MT Bold" pitchFamily="34" charset="0"/>
              </a:rPr>
              <a:t>Founded in 1980 by reviving former </a:t>
            </a:r>
            <a:r>
              <a:rPr lang="en-US" sz="3300" dirty="0" err="1">
                <a:latin typeface="Arial Rounded MT Bold" pitchFamily="34" charset="0"/>
              </a:rPr>
              <a:t>Bharatiya</a:t>
            </a:r>
            <a:r>
              <a:rPr lang="en-US" sz="3300" dirty="0">
                <a:latin typeface="Arial Rounded MT Bold" pitchFamily="34" charset="0"/>
              </a:rPr>
              <a:t> Jana </a:t>
            </a:r>
            <a:r>
              <a:rPr lang="en-US" sz="3300" dirty="0" err="1">
                <a:latin typeface="Arial Rounded MT Bold" pitchFamily="34" charset="0"/>
              </a:rPr>
              <a:t>Sangh</a:t>
            </a:r>
            <a:r>
              <a:rPr lang="en-US" sz="3300" dirty="0">
                <a:latin typeface="Arial Rounded MT Bold" pitchFamily="34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en-US" sz="3300" dirty="0">
                <a:latin typeface="Arial Rounded MT Bold" pitchFamily="34" charset="0"/>
              </a:rPr>
              <a:t>Presently </a:t>
            </a:r>
            <a:r>
              <a:rPr lang="en-US" sz="3300" dirty="0" err="1">
                <a:latin typeface="Arial Rounded MT Bold" pitchFamily="34" charset="0"/>
              </a:rPr>
              <a:t>largesst</a:t>
            </a:r>
            <a:r>
              <a:rPr lang="en-US" sz="3300" dirty="0">
                <a:latin typeface="Arial Rounded MT Bold" pitchFamily="34" charset="0"/>
              </a:rPr>
              <a:t> single political party of the country.</a:t>
            </a:r>
          </a:p>
          <a:p>
            <a:pPr>
              <a:spcBef>
                <a:spcPts val="600"/>
              </a:spcBef>
            </a:pPr>
            <a:r>
              <a:rPr lang="en-US" sz="3300" dirty="0">
                <a:latin typeface="Arial Rounded MT Bold" pitchFamily="34" charset="0"/>
              </a:rPr>
              <a:t>Taking inspiration by India’s Ancient Culture and Values.</a:t>
            </a:r>
          </a:p>
          <a:p>
            <a:pPr>
              <a:spcBef>
                <a:spcPts val="600"/>
              </a:spcBef>
            </a:pPr>
            <a:r>
              <a:rPr lang="en-US" sz="3300" dirty="0">
                <a:latin typeface="Arial Rounded MT Bold" pitchFamily="34" charset="0"/>
              </a:rPr>
              <a:t>The major conceptual element is its Cultural Nationalism [</a:t>
            </a:r>
            <a:r>
              <a:rPr lang="en-US" sz="3300" dirty="0" err="1">
                <a:latin typeface="Arial Rounded MT Bold" pitchFamily="34" charset="0"/>
              </a:rPr>
              <a:t>Hindutva</a:t>
            </a:r>
            <a:r>
              <a:rPr lang="en-US" sz="3300" dirty="0">
                <a:latin typeface="Arial Rounded MT Bold" pitchFamily="34" charset="0"/>
              </a:rPr>
              <a:t>].</a:t>
            </a:r>
          </a:p>
          <a:p>
            <a:pPr>
              <a:spcBef>
                <a:spcPts val="600"/>
              </a:spcBef>
            </a:pPr>
            <a:endParaRPr lang="en-US" sz="3300" dirty="0">
              <a:latin typeface="Arial Rounded MT Bold" pitchFamily="34" charset="0"/>
            </a:endParaRPr>
          </a:p>
          <a:p>
            <a:pPr>
              <a:spcBef>
                <a:spcPts val="600"/>
              </a:spcBef>
            </a:pPr>
            <a:endParaRPr lang="en-US" sz="3300" dirty="0">
              <a:latin typeface="Arial Rounded MT Bold" pitchFamily="34" charset="0"/>
            </a:endParaRPr>
          </a:p>
          <a:p>
            <a:pPr>
              <a:spcBef>
                <a:spcPts val="600"/>
              </a:spcBef>
            </a:pPr>
            <a:endParaRPr lang="en-US" sz="3300" dirty="0">
              <a:latin typeface="Arial Rounded MT Bold" pitchFamily="34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sz="3300" dirty="0">
                <a:latin typeface="Arial Rounded MT Bold" pitchFamily="34" charset="0"/>
              </a:rPr>
              <a:t>  </a:t>
            </a:r>
          </a:p>
        </p:txBody>
      </p:sp>
      <p:pic>
        <p:nvPicPr>
          <p:cNvPr id="2050" name="Picture 2" descr="D:\RPS\vote-for-your-party-i-bharatiya-janata-party-symbols-pin-badge-500x50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2057400" cy="17526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newsfla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458200" cy="12192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Arial Rounded MT Bold" pitchFamily="34" charset="0"/>
              </a:rPr>
              <a:t>    </a:t>
            </a:r>
            <a:r>
              <a:rPr lang="en-US" sz="3300" b="1" dirty="0">
                <a:solidFill>
                  <a:srgbClr val="C00000"/>
                </a:solidFill>
                <a:latin typeface="Arial Rounded MT Bold" pitchFamily="34" charset="0"/>
              </a:rPr>
              <a:t>Continuation</a:t>
            </a:r>
            <a:r>
              <a:rPr lang="en-US" sz="3600" b="1" dirty="0">
                <a:solidFill>
                  <a:srgbClr val="C00000"/>
                </a:solidFill>
                <a:latin typeface="Arial Rounded MT Bold" pitchFamily="34" charset="0"/>
              </a:rPr>
              <a:t>…. </a:t>
            </a:r>
            <a:br>
              <a:rPr lang="en-US" sz="3600" b="1" dirty="0">
                <a:solidFill>
                  <a:srgbClr val="C00000"/>
                </a:solidFill>
                <a:latin typeface="Arial Rounded MT Bold" pitchFamily="34" charset="0"/>
              </a:rPr>
            </a:br>
            <a:br>
              <a:rPr lang="en-US" sz="1600" b="1" dirty="0">
                <a:solidFill>
                  <a:srgbClr val="C00000"/>
                </a:solidFill>
                <a:latin typeface="Arial Rounded MT Bold" pitchFamily="34" charset="0"/>
              </a:rPr>
            </a:br>
            <a:r>
              <a:rPr lang="en-US" sz="1600" b="1" dirty="0">
                <a:solidFill>
                  <a:srgbClr val="C00000"/>
                </a:solidFill>
                <a:latin typeface="Arial Rounded MT Bold" pitchFamily="34" charset="0"/>
              </a:rPr>
              <a:t>          </a:t>
            </a:r>
            <a:r>
              <a:rPr lang="en-US" sz="3700" b="1" dirty="0">
                <a:solidFill>
                  <a:srgbClr val="008000"/>
                </a:solidFill>
                <a:latin typeface="Arial Rounded MT Bold" pitchFamily="34" charset="0"/>
              </a:rPr>
              <a:t>Identify the picture …??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8458200" cy="4953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000" dirty="0">
                <a:solidFill>
                  <a:srgbClr val="FF6600"/>
                </a:solidFill>
                <a:latin typeface="Arial Rounded MT Bold" pitchFamily="34" charset="0"/>
              </a:rPr>
              <a:t>	 </a:t>
            </a:r>
            <a:r>
              <a:rPr lang="en-US" b="1" u="sng" dirty="0">
                <a:solidFill>
                  <a:srgbClr val="FF6600"/>
                </a:solidFill>
                <a:latin typeface="Arial Rounded MT Bold" pitchFamily="34" charset="0"/>
              </a:rPr>
              <a:t>Major Agenda Of BJP: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Wants to build a strong and modern India.</a:t>
            </a:r>
          </a:p>
          <a:p>
            <a:pPr>
              <a:spcBef>
                <a:spcPts val="600"/>
              </a:spcBef>
            </a:pP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A Uniform Civil Code for all citizen.</a:t>
            </a:r>
          </a:p>
          <a:p>
            <a:pPr>
              <a:spcBef>
                <a:spcPts val="600"/>
              </a:spcBef>
            </a:pP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Territorial and political integration of Jammu &amp; Kashmir.</a:t>
            </a:r>
          </a:p>
          <a:p>
            <a:pPr>
              <a:spcBef>
                <a:spcPts val="600"/>
              </a:spcBef>
            </a:pP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Ban on religious conversion.</a:t>
            </a:r>
          </a:p>
          <a:p>
            <a:pPr>
              <a:spcBef>
                <a:spcPts val="600"/>
              </a:spcBef>
            </a:pP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Currently in power and leading the NDA</a:t>
            </a:r>
          </a:p>
          <a:p>
            <a:pPr>
              <a:spcBef>
                <a:spcPts val="600"/>
              </a:spcBef>
              <a:buNone/>
            </a:pP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    [National Democratic Alliance] at Centre.</a:t>
            </a:r>
          </a:p>
          <a:p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itchFamily="34" charset="0"/>
            </a:endParaRPr>
          </a:p>
          <a:p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itchFamily="34" charset="0"/>
            </a:endParaRPr>
          </a:p>
          <a:p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itchFamily="34" charset="0"/>
            </a:endParaRPr>
          </a:p>
          <a:p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itchFamily="34" charset="0"/>
            </a:endParaRPr>
          </a:p>
          <a:p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itchFamily="34" charset="0"/>
            </a:endParaRPr>
          </a:p>
          <a:p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itchFamily="34" charset="0"/>
            </a:endParaRPr>
          </a:p>
          <a:p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itchFamily="34" charset="0"/>
            </a:endParaRPr>
          </a:p>
          <a:p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itchFamily="34" charset="0"/>
            </a:endParaRPr>
          </a:p>
          <a:p>
            <a:pPr>
              <a:buNone/>
            </a:pPr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itchFamily="34" charset="0"/>
            </a:endParaRPr>
          </a:p>
        </p:txBody>
      </p:sp>
      <p:pic>
        <p:nvPicPr>
          <p:cNvPr id="2050" name="Picture 2" descr="C:\Users\JNVVSKP\Downloads\IMG_20200715_02084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304800"/>
            <a:ext cx="2743200" cy="15240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newsfla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838200"/>
          </a:xfrm>
        </p:spPr>
        <p:txBody>
          <a:bodyPr>
            <a:normAutofit/>
          </a:bodyPr>
          <a:lstStyle/>
          <a:p>
            <a:pPr algn="ctr"/>
            <a:r>
              <a:rPr lang="en-US" sz="3500" b="1" u="sng" dirty="0">
                <a:solidFill>
                  <a:srgbClr val="FF9900"/>
                </a:solidFill>
                <a:latin typeface="Arial Rounded MT Bold" pitchFamily="34" charset="0"/>
              </a:rPr>
              <a:t>NATIONAL  DEMOCRATIC  ALLIANCE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991600" cy="54102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194" name="Picture 2" descr="C:\Users\JNVVSKP\Downloads\images (61)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43000"/>
            <a:ext cx="9143999" cy="57150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newsfla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:\RPS\image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41564"/>
            <a:ext cx="1676400" cy="1489364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>
            <a:normAutofit/>
          </a:bodyPr>
          <a:lstStyle/>
          <a:p>
            <a:r>
              <a:rPr lang="en-US" sz="3800" b="1" dirty="0">
                <a:solidFill>
                  <a:srgbClr val="009900"/>
                </a:solidFill>
                <a:latin typeface="Arial Rounded MT Bold" pitchFamily="34" charset="0"/>
              </a:rPr>
              <a:t>             </a:t>
            </a:r>
            <a:r>
              <a:rPr lang="en-US" sz="3800" b="1" u="sng" dirty="0">
                <a:solidFill>
                  <a:srgbClr val="0099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INDIAN </a:t>
            </a:r>
            <a:r>
              <a:rPr lang="en-US" sz="3800" u="sng" dirty="0">
                <a:solidFill>
                  <a:srgbClr val="FF66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NATIONAL </a:t>
            </a:r>
            <a:r>
              <a:rPr lang="en-US" sz="3800" b="1" u="sng" dirty="0">
                <a:solidFill>
                  <a:srgbClr val="0099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CONGRESS</a:t>
            </a:r>
            <a:endParaRPr lang="en-US" sz="380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8382000" cy="4724400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3200" dirty="0">
                <a:latin typeface="Arial Rounded MT Bold" pitchFamily="34" charset="0"/>
              </a:rPr>
              <a:t>Oldest party of India, Founded in 1885.</a:t>
            </a:r>
          </a:p>
          <a:p>
            <a:pPr>
              <a:spcBef>
                <a:spcPts val="1000"/>
              </a:spcBef>
            </a:pPr>
            <a:r>
              <a:rPr lang="en-US" sz="3200" dirty="0">
                <a:latin typeface="Arial Rounded MT Bold" pitchFamily="34" charset="0"/>
              </a:rPr>
              <a:t>Popularly known as the Congress Party.</a:t>
            </a:r>
          </a:p>
          <a:p>
            <a:pPr>
              <a:spcBef>
                <a:spcPts val="1000"/>
              </a:spcBef>
            </a:pPr>
            <a:r>
              <a:rPr lang="en-US" sz="3200" dirty="0">
                <a:latin typeface="Arial Rounded MT Bold" pitchFamily="34" charset="0"/>
              </a:rPr>
              <a:t>Present  President of the </a:t>
            </a:r>
          </a:p>
          <a:p>
            <a:pPr>
              <a:spcBef>
                <a:spcPts val="1000"/>
              </a:spcBef>
              <a:buNone/>
            </a:pPr>
            <a:r>
              <a:rPr lang="en-US" sz="3200" dirty="0">
                <a:latin typeface="Arial Rounded MT Bold" pitchFamily="34" charset="0"/>
              </a:rPr>
              <a:t>   party is: </a:t>
            </a:r>
            <a:r>
              <a:rPr lang="en-US" sz="3200" dirty="0" err="1">
                <a:latin typeface="Arial Rounded MT Bold" pitchFamily="34" charset="0"/>
              </a:rPr>
              <a:t>Smt</a:t>
            </a:r>
            <a:r>
              <a:rPr lang="en-US" sz="3200" dirty="0">
                <a:latin typeface="Arial Rounded MT Bold" pitchFamily="34" charset="0"/>
              </a:rPr>
              <a:t> Sonia Gandhi</a:t>
            </a:r>
          </a:p>
          <a:p>
            <a:pPr>
              <a:spcBef>
                <a:spcPts val="1000"/>
              </a:spcBef>
            </a:pPr>
            <a:r>
              <a:rPr lang="en-US" sz="3200" dirty="0">
                <a:latin typeface="Arial Rounded MT Bold" pitchFamily="34" charset="0"/>
              </a:rPr>
              <a:t>Adopted the theory of </a:t>
            </a:r>
          </a:p>
          <a:p>
            <a:pPr>
              <a:spcBef>
                <a:spcPts val="1000"/>
              </a:spcBef>
              <a:buNone/>
            </a:pPr>
            <a:r>
              <a:rPr lang="en-US" sz="3200" dirty="0">
                <a:latin typeface="Arial Rounded MT Bold" pitchFamily="34" charset="0"/>
              </a:rPr>
              <a:t>   secularism, welfare of weaker section </a:t>
            </a:r>
          </a:p>
          <a:p>
            <a:pPr>
              <a:spcBef>
                <a:spcPts val="1000"/>
              </a:spcBef>
              <a:buNone/>
            </a:pPr>
            <a:r>
              <a:rPr lang="en-US" sz="3200" dirty="0">
                <a:latin typeface="Arial Rounded MT Bold" pitchFamily="34" charset="0"/>
              </a:rPr>
              <a:t>   &amp; minorities.</a:t>
            </a:r>
          </a:p>
          <a:p>
            <a:pPr>
              <a:spcBef>
                <a:spcPts val="1000"/>
              </a:spcBef>
            </a:pPr>
            <a:endParaRPr lang="en-US" sz="3200" dirty="0">
              <a:latin typeface="Arial Rounded MT Bold" pitchFamily="34" charset="0"/>
            </a:endParaRPr>
          </a:p>
        </p:txBody>
      </p:sp>
      <p:pic>
        <p:nvPicPr>
          <p:cNvPr id="3074" name="Picture 2" descr="C:\Users\JNVVSKP\Downloads\IMG_20200715_021156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00800" y="3109408"/>
            <a:ext cx="2666932" cy="1694608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newsfla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763000" cy="7159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  <a:effectLst/>
                <a:latin typeface="Arial Rounded MT Bold" pitchFamily="34" charset="0"/>
              </a:rPr>
              <a:t>	</a:t>
            </a:r>
            <a:r>
              <a:rPr lang="en-US" b="1" u="sng" dirty="0">
                <a:solidFill>
                  <a:srgbClr val="C00000"/>
                </a:solidFill>
                <a:effectLst/>
                <a:latin typeface="Arial Rounded MT Bold" pitchFamily="34" charset="0"/>
              </a:rPr>
              <a:t>C</a:t>
            </a:r>
            <a:r>
              <a:rPr lang="en-US" b="1" u="sng" dirty="0">
                <a:solidFill>
                  <a:srgbClr val="C00000"/>
                </a:solidFill>
                <a:latin typeface="Arial Rounded MT Bold" pitchFamily="34" charset="0"/>
              </a:rPr>
              <a:t>ontinuation…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8382000" cy="5257800"/>
          </a:xfrm>
        </p:spPr>
        <p:txBody>
          <a:bodyPr>
            <a:noAutofit/>
          </a:bodyPr>
          <a:lstStyle/>
          <a:p>
            <a:pPr>
              <a:spcBef>
                <a:spcPts val="1000"/>
              </a:spcBef>
            </a:pPr>
            <a:r>
              <a:rPr lang="en-US" sz="3300" dirty="0">
                <a:latin typeface="Arial Rounded MT Bold" pitchFamily="34" charset="0"/>
              </a:rPr>
              <a:t>Introduced - New Economic Reforms.</a:t>
            </a:r>
          </a:p>
          <a:p>
            <a:pPr>
              <a:spcBef>
                <a:spcPts val="1000"/>
              </a:spcBef>
            </a:pPr>
            <a:r>
              <a:rPr lang="en-US" sz="3300" dirty="0">
                <a:latin typeface="Arial Rounded MT Bold" pitchFamily="34" charset="0"/>
              </a:rPr>
              <a:t>It was a dominant political party and ruled over 60 years either as major party or as alliance. </a:t>
            </a:r>
          </a:p>
          <a:p>
            <a:pPr>
              <a:spcBef>
                <a:spcPts val="1000"/>
              </a:spcBef>
            </a:pPr>
            <a:r>
              <a:rPr lang="en-US" sz="3300" dirty="0">
                <a:latin typeface="Arial Rounded MT Bold" pitchFamily="34" charset="0"/>
              </a:rPr>
              <a:t>It gave most Prime Minister to the nation.  </a:t>
            </a:r>
          </a:p>
          <a:p>
            <a:r>
              <a:rPr lang="en-US" sz="3300" dirty="0">
                <a:latin typeface="Arial Rounded MT Bold" pitchFamily="34" charset="0"/>
              </a:rPr>
              <a:t>Currently lost support, but, leading the  alliance as - UPA [ United Progressive Alliance] at Centre.</a:t>
            </a:r>
          </a:p>
          <a:p>
            <a:endParaRPr lang="en-US" sz="3300" dirty="0"/>
          </a:p>
        </p:txBody>
      </p:sp>
    </p:spTree>
  </p:cSld>
  <p:clrMapOvr>
    <a:masterClrMapping/>
  </p:clrMapOvr>
  <p:transition spd="slow">
    <p:newsfla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792162"/>
          </a:xfrm>
        </p:spPr>
        <p:txBody>
          <a:bodyPr>
            <a:normAutofit/>
          </a:bodyPr>
          <a:lstStyle/>
          <a:p>
            <a:pPr algn="ctr"/>
            <a:r>
              <a:rPr lang="en-US" sz="3700" u="sng" dirty="0">
                <a:solidFill>
                  <a:srgbClr val="009900"/>
                </a:solidFill>
                <a:effectLst/>
                <a:latin typeface="Arial Rounded MT Bold" pitchFamily="34" charset="0"/>
              </a:rPr>
              <a:t>UNITED  PROGRESSIVE  ALLIANCE</a:t>
            </a:r>
          </a:p>
        </p:txBody>
      </p:sp>
      <p:pic>
        <p:nvPicPr>
          <p:cNvPr id="9218" name="Picture 2" descr="C:\Users\JNVVSKP\Downloads\images (43)_1594770211745.jpe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19200"/>
            <a:ext cx="9144000" cy="56388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newsfla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:\RPS\BSP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51500"/>
            <a:ext cx="1524000" cy="1095375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762000"/>
          </a:xfrm>
        </p:spPr>
        <p:txBody>
          <a:bodyPr>
            <a:normAutofit/>
          </a:bodyPr>
          <a:lstStyle/>
          <a:p>
            <a:r>
              <a:rPr lang="en-US" sz="3700" b="1" u="sng" dirty="0">
                <a:solidFill>
                  <a:srgbClr val="0000FF"/>
                </a:solidFill>
                <a:effectLst/>
                <a:latin typeface="Arial Rounded MT Bold" pitchFamily="34" charset="0"/>
              </a:rPr>
              <a:t>             BAHUJAN SAMAJWADI PARTY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8382000" cy="5257800"/>
          </a:xfrm>
        </p:spPr>
        <p:txBody>
          <a:bodyPr>
            <a:noAutofit/>
          </a:bodyPr>
          <a:lstStyle/>
          <a:p>
            <a:r>
              <a:rPr lang="en-US" sz="3100" dirty="0">
                <a:solidFill>
                  <a:srgbClr val="002060"/>
                </a:solidFill>
                <a:latin typeface="Arial Rounded MT Bold" pitchFamily="34" charset="0"/>
              </a:rPr>
              <a:t>Formed in 1984 under the leadership of </a:t>
            </a:r>
            <a:r>
              <a:rPr lang="en-US" sz="3100" dirty="0" err="1">
                <a:solidFill>
                  <a:srgbClr val="002060"/>
                </a:solidFill>
                <a:latin typeface="Arial Rounded MT Bold" pitchFamily="34" charset="0"/>
              </a:rPr>
              <a:t>Kanshi</a:t>
            </a:r>
            <a:r>
              <a:rPr lang="en-US" sz="3100" dirty="0">
                <a:solidFill>
                  <a:srgbClr val="002060"/>
                </a:solidFill>
                <a:latin typeface="Arial Rounded MT Bold" pitchFamily="34" charset="0"/>
              </a:rPr>
              <a:t> Ram.</a:t>
            </a:r>
          </a:p>
          <a:p>
            <a:r>
              <a:rPr lang="en-US" sz="3100" dirty="0">
                <a:solidFill>
                  <a:srgbClr val="002060"/>
                </a:solidFill>
                <a:latin typeface="Arial Rounded MT Bold" pitchFamily="34" charset="0"/>
              </a:rPr>
              <a:t>Present President of the</a:t>
            </a:r>
          </a:p>
          <a:p>
            <a:pPr>
              <a:buNone/>
            </a:pPr>
            <a:r>
              <a:rPr lang="en-US" sz="3100" dirty="0">
                <a:solidFill>
                  <a:srgbClr val="002060"/>
                </a:solidFill>
                <a:latin typeface="Arial Rounded MT Bold" pitchFamily="34" charset="0"/>
              </a:rPr>
              <a:t>   party is – </a:t>
            </a:r>
            <a:r>
              <a:rPr lang="en-US" sz="3100" dirty="0" err="1">
                <a:solidFill>
                  <a:srgbClr val="002060"/>
                </a:solidFill>
                <a:latin typeface="Arial Rounded MT Bold" pitchFamily="34" charset="0"/>
              </a:rPr>
              <a:t>Mayawati</a:t>
            </a:r>
            <a:r>
              <a:rPr lang="en-US" sz="3100" dirty="0">
                <a:solidFill>
                  <a:srgbClr val="002060"/>
                </a:solidFill>
                <a:latin typeface="Arial Rounded MT Bold" pitchFamily="34" charset="0"/>
              </a:rPr>
              <a:t>.</a:t>
            </a:r>
          </a:p>
          <a:p>
            <a:r>
              <a:rPr lang="en-US" sz="3100" dirty="0">
                <a:solidFill>
                  <a:srgbClr val="002060"/>
                </a:solidFill>
                <a:latin typeface="Arial Rounded MT Bold" pitchFamily="34" charset="0"/>
              </a:rPr>
              <a:t>Draws inspiration from </a:t>
            </a:r>
          </a:p>
          <a:p>
            <a:pPr>
              <a:buNone/>
            </a:pPr>
            <a:r>
              <a:rPr lang="en-US" sz="3100" dirty="0">
                <a:solidFill>
                  <a:srgbClr val="002060"/>
                </a:solidFill>
                <a:latin typeface="Arial Rounded MT Bold" pitchFamily="34" charset="0"/>
              </a:rPr>
              <a:t>   </a:t>
            </a:r>
            <a:r>
              <a:rPr lang="en-US" sz="3100" dirty="0" err="1">
                <a:solidFill>
                  <a:srgbClr val="002060"/>
                </a:solidFill>
                <a:latin typeface="Arial Rounded MT Bold" pitchFamily="34" charset="0"/>
              </a:rPr>
              <a:t>Sahu</a:t>
            </a:r>
            <a:r>
              <a:rPr lang="en-US" sz="3100" dirty="0">
                <a:solidFill>
                  <a:srgbClr val="002060"/>
                </a:solidFill>
                <a:latin typeface="Arial Rounded MT Bold" pitchFamily="34" charset="0"/>
              </a:rPr>
              <a:t> Maharaja, Mahatma </a:t>
            </a:r>
            <a:r>
              <a:rPr lang="en-US" sz="3100" dirty="0" err="1">
                <a:solidFill>
                  <a:srgbClr val="002060"/>
                </a:solidFill>
                <a:latin typeface="Arial Rounded MT Bold" pitchFamily="34" charset="0"/>
              </a:rPr>
              <a:t>Phule</a:t>
            </a:r>
            <a:r>
              <a:rPr lang="en-US" sz="3100" dirty="0">
                <a:solidFill>
                  <a:srgbClr val="002060"/>
                </a:solidFill>
                <a:latin typeface="Arial Rounded MT Bold" pitchFamily="34" charset="0"/>
              </a:rPr>
              <a:t>, </a:t>
            </a:r>
            <a:r>
              <a:rPr lang="en-US" sz="3100" dirty="0" err="1">
                <a:solidFill>
                  <a:srgbClr val="002060"/>
                </a:solidFill>
                <a:latin typeface="Arial Rounded MT Bold" pitchFamily="34" charset="0"/>
              </a:rPr>
              <a:t>Periyar</a:t>
            </a:r>
            <a:r>
              <a:rPr lang="en-US" sz="3100" dirty="0">
                <a:solidFill>
                  <a:srgbClr val="002060"/>
                </a:solidFill>
                <a:latin typeface="Arial Rounded MT Bold" pitchFamily="34" charset="0"/>
              </a:rPr>
              <a:t> </a:t>
            </a:r>
            <a:r>
              <a:rPr lang="en-US" sz="3100" dirty="0" err="1">
                <a:solidFill>
                  <a:srgbClr val="002060"/>
                </a:solidFill>
                <a:latin typeface="Arial Rounded MT Bold" pitchFamily="34" charset="0"/>
              </a:rPr>
              <a:t>Ramaswami</a:t>
            </a:r>
            <a:r>
              <a:rPr lang="en-US" sz="3100" dirty="0">
                <a:solidFill>
                  <a:srgbClr val="002060"/>
                </a:solidFill>
                <a:latin typeface="Arial Rounded MT Bold" pitchFamily="34" charset="0"/>
              </a:rPr>
              <a:t> </a:t>
            </a:r>
            <a:r>
              <a:rPr lang="en-US" sz="3100" dirty="0" err="1">
                <a:solidFill>
                  <a:srgbClr val="002060"/>
                </a:solidFill>
                <a:latin typeface="Arial Rounded MT Bold" pitchFamily="34" charset="0"/>
              </a:rPr>
              <a:t>Naicker</a:t>
            </a:r>
            <a:r>
              <a:rPr lang="en-US" sz="3100" dirty="0">
                <a:solidFill>
                  <a:srgbClr val="002060"/>
                </a:solidFill>
                <a:latin typeface="Arial Rounded MT Bold" pitchFamily="34" charset="0"/>
              </a:rPr>
              <a:t>, B R </a:t>
            </a:r>
            <a:r>
              <a:rPr lang="en-US" sz="3100" dirty="0" err="1">
                <a:solidFill>
                  <a:srgbClr val="002060"/>
                </a:solidFill>
                <a:latin typeface="Arial Rounded MT Bold" pitchFamily="34" charset="0"/>
              </a:rPr>
              <a:t>Ambedkar</a:t>
            </a:r>
            <a:r>
              <a:rPr lang="en-US" sz="3100" dirty="0">
                <a:solidFill>
                  <a:srgbClr val="002060"/>
                </a:solidFill>
                <a:latin typeface="Arial Rounded MT Bold" pitchFamily="34" charset="0"/>
              </a:rPr>
              <a:t> etc.</a:t>
            </a:r>
          </a:p>
          <a:p>
            <a:r>
              <a:rPr lang="en-US" sz="3100" dirty="0">
                <a:solidFill>
                  <a:srgbClr val="002060"/>
                </a:solidFill>
                <a:latin typeface="Arial Rounded MT Bold" pitchFamily="34" charset="0"/>
              </a:rPr>
              <a:t>Fighting for : the Social Transformation and Economic Emancipation of the </a:t>
            </a:r>
            <a:r>
              <a:rPr lang="en-US" sz="3100" dirty="0" err="1">
                <a:solidFill>
                  <a:srgbClr val="002060"/>
                </a:solidFill>
                <a:latin typeface="Arial Rounded MT Bold" pitchFamily="34" charset="0"/>
              </a:rPr>
              <a:t>Bahujans</a:t>
            </a:r>
            <a:r>
              <a:rPr lang="en-US" sz="3100" dirty="0">
                <a:solidFill>
                  <a:srgbClr val="002060"/>
                </a:solidFill>
                <a:latin typeface="Arial Rounded MT Bold" pitchFamily="34" charset="0"/>
              </a:rPr>
              <a:t>. </a:t>
            </a:r>
          </a:p>
          <a:p>
            <a:endParaRPr lang="en-US" sz="3100" dirty="0">
              <a:solidFill>
                <a:srgbClr val="002060"/>
              </a:solidFill>
              <a:latin typeface="Arial Rounded MT Bold" pitchFamily="34" charset="0"/>
            </a:endParaRPr>
          </a:p>
          <a:p>
            <a:pPr>
              <a:buNone/>
            </a:pPr>
            <a:r>
              <a:rPr lang="en-US" sz="3100" dirty="0">
                <a:solidFill>
                  <a:srgbClr val="002060"/>
                </a:solidFill>
                <a:latin typeface="Arial Rounded MT Bold" pitchFamily="34" charset="0"/>
              </a:rPr>
              <a:t>  </a:t>
            </a:r>
          </a:p>
        </p:txBody>
      </p:sp>
      <p:pic>
        <p:nvPicPr>
          <p:cNvPr id="5" name="Picture 2" descr="C:\Users\JNVVSKP\Downloads\images (58)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60664" y="2057400"/>
            <a:ext cx="2819400" cy="19812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newsfla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763000" cy="79216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Arial Rounded MT Bold" pitchFamily="34" charset="0"/>
              </a:rPr>
              <a:t>	continuation…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305800" cy="51054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The Party represents- SCs, STs, OBCs and Religious Minorities.</a:t>
            </a:r>
          </a:p>
          <a:p>
            <a:pPr>
              <a:buNone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itchFamily="34" charset="0"/>
            </a:endParaRPr>
          </a:p>
          <a:p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Supports the reservation policy of the </a:t>
            </a:r>
            <a:r>
              <a:rPr lang="en-US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Govt</a:t>
            </a: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  for their </a:t>
            </a:r>
            <a:r>
              <a:rPr lang="en-US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upliftment</a:t>
            </a: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. </a:t>
            </a:r>
          </a:p>
          <a:p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itchFamily="34" charset="0"/>
            </a:endParaRPr>
          </a:p>
          <a:p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Having strong base in Uttar Pradesh and substantial base in Madhya Pradesh, Delhi, Chhattisgarh, </a:t>
            </a:r>
            <a:r>
              <a:rPr lang="en-US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Uttarakhand</a:t>
            </a: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, Punjab etc.</a:t>
            </a:r>
          </a:p>
          <a:p>
            <a:pPr>
              <a:buNone/>
            </a:pPr>
            <a:endParaRPr lang="en-US" sz="3200" dirty="0">
              <a:solidFill>
                <a:srgbClr val="002060"/>
              </a:solidFill>
              <a:latin typeface="Arial Rounded MT Bold" pitchFamily="34" charset="0"/>
            </a:endParaRPr>
          </a:p>
          <a:p>
            <a:pPr>
              <a:buNone/>
            </a:pPr>
            <a:endParaRPr lang="en-US" sz="3200" dirty="0">
              <a:solidFill>
                <a:srgbClr val="002060"/>
              </a:solidFill>
              <a:latin typeface="Arial Rounded MT Bold" pitchFamily="34" charset="0"/>
            </a:endParaRPr>
          </a:p>
          <a:p>
            <a:pPr>
              <a:buNone/>
            </a:pPr>
            <a:endParaRPr lang="en-US" sz="3200" dirty="0">
              <a:solidFill>
                <a:srgbClr val="002060"/>
              </a:solidFill>
              <a:latin typeface="Arial Rounded MT Bold" pitchFamily="34" charset="0"/>
            </a:endParaRPr>
          </a:p>
          <a:p>
            <a:pPr>
              <a:buNone/>
            </a:pPr>
            <a:endParaRPr lang="en-US" sz="3200" dirty="0">
              <a:solidFill>
                <a:srgbClr val="002060"/>
              </a:solidFill>
              <a:latin typeface="Arial Rounded MT Bold" pitchFamily="34" charset="0"/>
            </a:endParaRPr>
          </a:p>
          <a:p>
            <a:endParaRPr lang="en-US" sz="3200" dirty="0"/>
          </a:p>
        </p:txBody>
      </p:sp>
    </p:spTree>
  </p:cSld>
  <p:clrMapOvr>
    <a:masterClrMapping/>
  </p:clrMapOvr>
  <p:transition spd="slow">
    <p:newsfla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:\RPS\61ZUzZvZeML._SL1500_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1447799" cy="14478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686800" cy="914400"/>
          </a:xfrm>
        </p:spPr>
        <p:txBody>
          <a:bodyPr>
            <a:normAutofit/>
          </a:bodyPr>
          <a:lstStyle/>
          <a:p>
            <a:pPr algn="r"/>
            <a:r>
              <a:rPr lang="en-US" sz="3500" b="1" u="sng" dirty="0">
                <a:solidFill>
                  <a:srgbClr val="008000"/>
                </a:solidFill>
                <a:latin typeface="Arial Rounded MT Bold" pitchFamily="34" charset="0"/>
              </a:rPr>
              <a:t>NATIONALIST </a:t>
            </a:r>
            <a:r>
              <a:rPr lang="en-US" sz="3500" b="1" u="sng" dirty="0">
                <a:solidFill>
                  <a:srgbClr val="FF6600"/>
                </a:solidFill>
                <a:latin typeface="Arial Rounded MT Bold" pitchFamily="34" charset="0"/>
              </a:rPr>
              <a:t>CONGRESS</a:t>
            </a:r>
            <a:r>
              <a:rPr lang="en-US" sz="3500" b="1" u="sng" dirty="0">
                <a:solidFill>
                  <a:srgbClr val="008000"/>
                </a:solidFill>
                <a:latin typeface="Arial Rounded MT Bold" pitchFamily="34" charset="0"/>
              </a:rPr>
              <a:t> PARTY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8839200" cy="50292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3100" dirty="0">
                <a:latin typeface="Arial Rounded MT Bold" pitchFamily="34" charset="0"/>
              </a:rPr>
              <a:t>Formed in 1999, due to split </a:t>
            </a:r>
          </a:p>
          <a:p>
            <a:pPr>
              <a:spcBef>
                <a:spcPts val="0"/>
              </a:spcBef>
              <a:buNone/>
            </a:pPr>
            <a:r>
              <a:rPr lang="en-US" sz="3100" dirty="0">
                <a:latin typeface="Arial Rounded MT Bold" pitchFamily="34" charset="0"/>
              </a:rPr>
              <a:t>	in the Congress Party.</a:t>
            </a:r>
          </a:p>
          <a:p>
            <a:pPr>
              <a:spcBef>
                <a:spcPts val="0"/>
              </a:spcBef>
            </a:pPr>
            <a:r>
              <a:rPr lang="en-US" sz="3100" dirty="0">
                <a:latin typeface="Arial Rounded MT Bold" pitchFamily="34" charset="0"/>
              </a:rPr>
              <a:t>Present President of the </a:t>
            </a:r>
          </a:p>
          <a:p>
            <a:pPr>
              <a:spcBef>
                <a:spcPts val="0"/>
              </a:spcBef>
              <a:buNone/>
            </a:pPr>
            <a:r>
              <a:rPr lang="en-US" sz="3100" dirty="0">
                <a:latin typeface="Arial Rounded MT Bold" pitchFamily="34" charset="0"/>
              </a:rPr>
              <a:t>	party is: </a:t>
            </a:r>
            <a:r>
              <a:rPr lang="en-US" sz="3100" dirty="0" err="1">
                <a:latin typeface="Arial Rounded MT Bold" pitchFamily="34" charset="0"/>
              </a:rPr>
              <a:t>Sharad</a:t>
            </a:r>
            <a:r>
              <a:rPr lang="en-US" sz="3100" dirty="0">
                <a:latin typeface="Arial Rounded MT Bold" pitchFamily="34" charset="0"/>
              </a:rPr>
              <a:t> </a:t>
            </a:r>
            <a:r>
              <a:rPr lang="en-US" sz="3100" dirty="0" err="1">
                <a:latin typeface="Arial Rounded MT Bold" pitchFamily="34" charset="0"/>
              </a:rPr>
              <a:t>Pawar</a:t>
            </a:r>
            <a:r>
              <a:rPr lang="en-US" sz="3100" dirty="0">
                <a:latin typeface="Arial Rounded MT Bold" pitchFamily="34" charset="0"/>
              </a:rPr>
              <a:t>.</a:t>
            </a:r>
          </a:p>
          <a:p>
            <a:pPr>
              <a:spcBef>
                <a:spcPts val="0"/>
              </a:spcBef>
            </a:pPr>
            <a:r>
              <a:rPr lang="en-US" sz="3100" dirty="0">
                <a:latin typeface="Arial Rounded MT Bold" pitchFamily="34" charset="0"/>
              </a:rPr>
              <a:t>Ideology: </a:t>
            </a:r>
            <a:r>
              <a:rPr lang="en-US" sz="3100" dirty="0" err="1">
                <a:latin typeface="Arial Rounded MT Bold" pitchFamily="34" charset="0"/>
              </a:rPr>
              <a:t>Gandhian</a:t>
            </a:r>
            <a:r>
              <a:rPr lang="en-US" sz="3100" dirty="0">
                <a:latin typeface="Arial Rounded MT Bold" pitchFamily="34" charset="0"/>
              </a:rPr>
              <a:t> secularism, Equality, Democracy, Federalism and Social Justice.</a:t>
            </a:r>
          </a:p>
          <a:p>
            <a:pPr>
              <a:spcBef>
                <a:spcPts val="0"/>
              </a:spcBef>
            </a:pPr>
            <a:r>
              <a:rPr lang="en-US" sz="3100" dirty="0">
                <a:latin typeface="Arial Rounded MT Bold" pitchFamily="34" charset="0"/>
              </a:rPr>
              <a:t>Only Indian born citizen to take over the high offices of the govt.</a:t>
            </a:r>
          </a:p>
          <a:p>
            <a:pPr>
              <a:spcBef>
                <a:spcPts val="0"/>
              </a:spcBef>
            </a:pPr>
            <a:r>
              <a:rPr lang="en-US" sz="3100" dirty="0">
                <a:latin typeface="Arial Rounded MT Bold" pitchFamily="34" charset="0"/>
              </a:rPr>
              <a:t>Coalition </a:t>
            </a:r>
            <a:r>
              <a:rPr lang="en-US" sz="3100" dirty="0" err="1">
                <a:latin typeface="Arial Rounded MT Bold" pitchFamily="34" charset="0"/>
              </a:rPr>
              <a:t>govt</a:t>
            </a:r>
            <a:r>
              <a:rPr lang="en-US" sz="3100" dirty="0">
                <a:latin typeface="Arial Rounded MT Bold" pitchFamily="34" charset="0"/>
              </a:rPr>
              <a:t> in many states with UPA .</a:t>
            </a:r>
          </a:p>
          <a:p>
            <a:pPr>
              <a:spcBef>
                <a:spcPts val="0"/>
              </a:spcBef>
            </a:pPr>
            <a:endParaRPr lang="en-US" sz="3100" dirty="0">
              <a:latin typeface="Arial Rounded MT Bold" pitchFamily="34" charset="0"/>
            </a:endParaRPr>
          </a:p>
        </p:txBody>
      </p:sp>
      <p:pic>
        <p:nvPicPr>
          <p:cNvPr id="7172" name="Picture 4" descr="C:\Users\JNVVSKP\Downloads\IMG_20200715_04480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600" y="1556984"/>
            <a:ext cx="2590800" cy="189704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newsfla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839200" cy="12954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solidFill>
                  <a:srgbClr val="FF0000"/>
                </a:solidFill>
                <a:effectLst/>
                <a:latin typeface="Arial Rounded MT Bold" pitchFamily="34" charset="0"/>
              </a:rPr>
              <a:t>        </a:t>
            </a:r>
            <a:r>
              <a:rPr lang="en-US" sz="4100" b="1" u="sng" dirty="0">
                <a:solidFill>
                  <a:srgbClr val="FF0000"/>
                </a:solidFill>
                <a:effectLst/>
                <a:latin typeface="Arial Rounded MT Bold" pitchFamily="34" charset="0"/>
              </a:rPr>
              <a:t>COMMUNIST PARTY OF </a:t>
            </a:r>
            <a:br>
              <a:rPr lang="en-US" sz="4100" b="1" u="sng" dirty="0">
                <a:solidFill>
                  <a:srgbClr val="FF0000"/>
                </a:solidFill>
                <a:effectLst/>
                <a:latin typeface="Arial Rounded MT Bold" pitchFamily="34" charset="0"/>
              </a:rPr>
            </a:br>
            <a:r>
              <a:rPr lang="en-US" sz="4100" b="1" u="sng" dirty="0">
                <a:solidFill>
                  <a:srgbClr val="008000"/>
                </a:solidFill>
                <a:effectLst/>
                <a:latin typeface="Arial Rounded MT Bold" pitchFamily="34" charset="0"/>
              </a:rPr>
              <a:t>         </a:t>
            </a:r>
            <a:r>
              <a:rPr lang="en-US" sz="4100" b="1" u="sng" dirty="0">
                <a:solidFill>
                  <a:srgbClr val="FF0000"/>
                </a:solidFill>
                <a:effectLst/>
                <a:latin typeface="Arial Rounded MT Bold" pitchFamily="34" charset="0"/>
              </a:rPr>
              <a:t> INDIA</a:t>
            </a:r>
            <a:endParaRPr lang="en-US" sz="4100" b="1" u="sng" dirty="0">
              <a:effectLst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33400" y="1828800"/>
            <a:ext cx="8458200" cy="4876800"/>
          </a:xfrm>
        </p:spPr>
        <p:txBody>
          <a:bodyPr>
            <a:normAutofit lnSpcReduction="10000"/>
          </a:bodyPr>
          <a:lstStyle/>
          <a:p>
            <a:r>
              <a:rPr 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Founded in 1925 by M N Roy.</a:t>
            </a:r>
          </a:p>
          <a:p>
            <a:r>
              <a:rPr 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Believes in Marxism-Leninism, Socialism, Secularism and Democracy.</a:t>
            </a:r>
          </a:p>
          <a:p>
            <a:r>
              <a:rPr 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Opposes- the forces of Secessionism and Communalism.</a:t>
            </a:r>
          </a:p>
          <a:p>
            <a:r>
              <a:rPr 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Having supports among poor, farmer, </a:t>
            </a:r>
          </a:p>
          <a:p>
            <a:pPr>
              <a:buNone/>
            </a:pPr>
            <a:r>
              <a:rPr 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	factory  worker, agricultural </a:t>
            </a:r>
            <a:r>
              <a:rPr lang="en-US" sz="3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labourers</a:t>
            </a:r>
            <a:r>
              <a:rPr 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 and </a:t>
            </a:r>
          </a:p>
          <a:p>
            <a:pPr>
              <a:buNone/>
            </a:pPr>
            <a:r>
              <a:rPr 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	the intelligentsia.</a:t>
            </a:r>
          </a:p>
          <a:p>
            <a:r>
              <a:rPr 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At present, enjoys strong support in Kerala, West Bengal and Tripura.</a:t>
            </a:r>
          </a:p>
          <a:p>
            <a:pPr>
              <a:buNone/>
            </a:pPr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itchFamily="34" charset="0"/>
            </a:endParaRPr>
          </a:p>
          <a:p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itchFamily="34" charset="0"/>
            </a:endParaRPr>
          </a:p>
          <a:p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itchFamily="34" charset="0"/>
            </a:endParaRPr>
          </a:p>
          <a:p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itchFamily="34" charset="0"/>
            </a:endParaRPr>
          </a:p>
          <a:p>
            <a:endParaRPr lang="en-US" sz="3000" dirty="0"/>
          </a:p>
        </p:txBody>
      </p:sp>
      <p:pic>
        <p:nvPicPr>
          <p:cNvPr id="1026" name="Picture 2" descr="D:\RPS\CPI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275" y="193970"/>
            <a:ext cx="1988125" cy="1143000"/>
          </a:xfrm>
          <a:prstGeom prst="rect">
            <a:avLst/>
          </a:prstGeom>
          <a:noFill/>
        </p:spPr>
      </p:pic>
      <p:pic>
        <p:nvPicPr>
          <p:cNvPr id="5122" name="Picture 2" descr="C:\Users\JNVVSKP\Downloads\images (57)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5200" y="838200"/>
            <a:ext cx="1828800" cy="14478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newsfla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144780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rial Rounded MT Bold" pitchFamily="34" charset="0"/>
              </a:rPr>
              <a:t>    </a:t>
            </a:r>
            <a:r>
              <a:rPr lang="en-US" sz="3600" b="1" u="sng" dirty="0">
                <a:solidFill>
                  <a:srgbClr val="FF0000"/>
                </a:solidFill>
                <a:latin typeface="Arial Rounded MT Bold" pitchFamily="34" charset="0"/>
              </a:rPr>
              <a:t>COMMUNIST PARTY OF </a:t>
            </a:r>
            <a:br>
              <a:rPr lang="en-US" sz="3600" b="1" u="sng" dirty="0">
                <a:solidFill>
                  <a:srgbClr val="FF0000"/>
                </a:solidFill>
                <a:latin typeface="Arial Rounded MT Bold" pitchFamily="34" charset="0"/>
              </a:rPr>
            </a:br>
            <a:r>
              <a:rPr lang="en-US" sz="3600" b="1" u="sng" dirty="0">
                <a:solidFill>
                  <a:srgbClr val="FF0000"/>
                </a:solidFill>
                <a:latin typeface="Arial Rounded MT Bold" pitchFamily="34" charset="0"/>
              </a:rPr>
              <a:t>INDIA-MARXIST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828800"/>
            <a:ext cx="8839200" cy="4876800"/>
          </a:xfrm>
        </p:spPr>
        <p:txBody>
          <a:bodyPr>
            <a:noAutofit/>
          </a:bodyPr>
          <a:lstStyle/>
          <a:p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Founded in 1964.</a:t>
            </a:r>
          </a:p>
          <a:p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Believes in Marxism-Leninism, </a:t>
            </a:r>
          </a:p>
          <a:p>
            <a:pPr>
              <a:buNone/>
            </a:pP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   Socialism, Secularism and Democracy.</a:t>
            </a:r>
          </a:p>
          <a:p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Opposes- Imperialism and Communalism.</a:t>
            </a:r>
          </a:p>
          <a:p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Against of free flow of capitals and goods.</a:t>
            </a:r>
          </a:p>
          <a:p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At present, enjoys strong support in </a:t>
            </a:r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Arial Rounded MT Bold" pitchFamily="34" charset="0"/>
              </a:rPr>
              <a:t>Kerala</a:t>
            </a: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 and lost support from West Bengal and Tripura.</a:t>
            </a:r>
          </a:p>
          <a:p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Currently supports UPA from outside.</a:t>
            </a:r>
          </a:p>
          <a:p>
            <a:pPr>
              <a:buNone/>
            </a:pPr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itchFamily="34" charset="0"/>
            </a:endParaRPr>
          </a:p>
          <a:p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itchFamily="34" charset="0"/>
            </a:endParaRPr>
          </a:p>
          <a:p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itchFamily="34" charset="0"/>
            </a:endParaRPr>
          </a:p>
          <a:p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itchFamily="34" charset="0"/>
            </a:endParaRPr>
          </a:p>
        </p:txBody>
      </p:sp>
      <p:pic>
        <p:nvPicPr>
          <p:cNvPr id="5122" name="Picture 2" descr="D:\RPS\CPI 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905000" cy="1523999"/>
          </a:xfrm>
          <a:prstGeom prst="rect">
            <a:avLst/>
          </a:prstGeom>
          <a:noFill/>
        </p:spPr>
      </p:pic>
      <p:pic>
        <p:nvPicPr>
          <p:cNvPr id="4098" name="Picture 2" descr="C:\Users\JNVVSKP\Downloads\IMG_20200715_02462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1143000"/>
            <a:ext cx="2667000" cy="16764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newsfla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RPS\TMC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"/>
            <a:ext cx="1752600" cy="12954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/>
              </a:rPr>
              <a:t>		  </a:t>
            </a:r>
            <a:r>
              <a:rPr lang="en-US" b="1" dirty="0">
                <a:solidFill>
                  <a:srgbClr val="008000"/>
                </a:solidFill>
                <a:effectLst/>
                <a:latin typeface="Arial Rounded MT Bold" pitchFamily="34" charset="0"/>
              </a:rPr>
              <a:t> </a:t>
            </a:r>
            <a:r>
              <a:rPr lang="en-US" sz="4100" b="1" u="sng" dirty="0">
                <a:solidFill>
                  <a:srgbClr val="008000"/>
                </a:solidFill>
                <a:effectLst/>
                <a:latin typeface="Arial Rounded MT Bold" pitchFamily="34" charset="0"/>
              </a:rPr>
              <a:t>ALL INDIA TRINAMOOL</a:t>
            </a:r>
            <a:r>
              <a:rPr lang="en-US" sz="4100" b="1" dirty="0">
                <a:solidFill>
                  <a:srgbClr val="008000"/>
                </a:solidFill>
                <a:effectLst/>
                <a:latin typeface="Arial Rounded MT Bold" pitchFamily="34" charset="0"/>
              </a:rPr>
              <a:t> </a:t>
            </a:r>
            <a:r>
              <a:rPr lang="en-US" b="1" dirty="0">
                <a:solidFill>
                  <a:srgbClr val="008000"/>
                </a:solidFill>
                <a:effectLst/>
                <a:latin typeface="Arial Rounded MT Bold" pitchFamily="34" charset="0"/>
              </a:rPr>
              <a:t>					</a:t>
            </a:r>
            <a:r>
              <a:rPr lang="en-US" b="1" u="sng" dirty="0">
                <a:solidFill>
                  <a:srgbClr val="008000"/>
                </a:solidFill>
                <a:effectLst/>
                <a:latin typeface="Arial Rounded MT Bold" pitchFamily="34" charset="0"/>
              </a:rPr>
              <a:t>CONGRESS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52600"/>
            <a:ext cx="8839200" cy="49530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Founded in 1998, developed </a:t>
            </a:r>
          </a:p>
          <a:p>
            <a:pPr lvl="1">
              <a:spcBef>
                <a:spcPts val="0"/>
              </a:spcBef>
              <a:buNone/>
            </a:pP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due  to split in the INC Party. </a:t>
            </a:r>
          </a:p>
          <a:p>
            <a:pPr>
              <a:spcBef>
                <a:spcPts val="0"/>
              </a:spcBef>
            </a:pP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Founder &amp; Chairperson-</a:t>
            </a:r>
          </a:p>
          <a:p>
            <a:pPr>
              <a:spcBef>
                <a:spcPts val="0"/>
              </a:spcBef>
              <a:buNone/>
            </a:pP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   </a:t>
            </a:r>
            <a:r>
              <a:rPr lang="en-US" sz="3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Mamata</a:t>
            </a: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 </a:t>
            </a:r>
            <a:r>
              <a:rPr lang="en-US" sz="3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Banerjee</a:t>
            </a: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.</a:t>
            </a:r>
          </a:p>
          <a:p>
            <a:pPr>
              <a:spcBef>
                <a:spcPts val="0"/>
              </a:spcBef>
            </a:pP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Ideology: Anti-Communism &amp; Bengali Nationalism [ </a:t>
            </a:r>
            <a:r>
              <a:rPr lang="en-US" sz="3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Maa-Mati-Manush</a:t>
            </a: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].</a:t>
            </a:r>
          </a:p>
          <a:p>
            <a:pPr>
              <a:spcBef>
                <a:spcPts val="0"/>
              </a:spcBef>
            </a:pP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Currently ruling in West Bengal and have substantial base in Manipur, Tripura and Kerala.</a:t>
            </a:r>
          </a:p>
          <a:p>
            <a:pPr>
              <a:spcBef>
                <a:spcPts val="0"/>
              </a:spcBef>
            </a:pP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itchFamily="34" charset="0"/>
              </a:rPr>
              <a:t>Currently supports UPA at centre.</a:t>
            </a:r>
          </a:p>
          <a:p>
            <a:pPr>
              <a:spcBef>
                <a:spcPts val="0"/>
              </a:spcBef>
            </a:pPr>
            <a:endParaRPr lang="en-US" sz="31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itchFamily="34" charset="0"/>
            </a:endParaRPr>
          </a:p>
        </p:txBody>
      </p:sp>
      <p:pic>
        <p:nvPicPr>
          <p:cNvPr id="6146" name="Picture 2" descr="C:\Users\JNVVSKP\Downloads\images (59)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1600200"/>
            <a:ext cx="2105025" cy="19812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newsfla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715962"/>
          </a:xfrm>
        </p:spPr>
        <p:txBody>
          <a:bodyPr>
            <a:noAutofit/>
          </a:bodyPr>
          <a:lstStyle/>
          <a:p>
            <a:pPr algn="ctr"/>
            <a:r>
              <a:rPr lang="en-US" sz="4000" b="1" u="sng" dirty="0">
                <a:solidFill>
                  <a:srgbClr val="008000"/>
                </a:solidFill>
                <a:effectLst/>
                <a:latin typeface="Arial Rounded MT Bold" pitchFamily="34" charset="0"/>
              </a:rPr>
              <a:t>STATE  POLITICAL  PARTIES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344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6600"/>
                </a:solidFill>
                <a:latin typeface="Arial Rounded MT Bold" pitchFamily="34" charset="0"/>
              </a:rPr>
              <a:t>		</a:t>
            </a:r>
            <a:r>
              <a:rPr lang="en-US" sz="3200" b="1" u="sng" dirty="0">
                <a:solidFill>
                  <a:srgbClr val="FF6600"/>
                </a:solidFill>
                <a:latin typeface="Arial Rounded MT Bold" pitchFamily="34" charset="0"/>
              </a:rPr>
              <a:t>QUALIFICATIONS:</a:t>
            </a:r>
          </a:p>
          <a:p>
            <a:pPr>
              <a:buNone/>
            </a:pPr>
            <a:endParaRPr lang="en-US" sz="1000" u="sng" dirty="0">
              <a:solidFill>
                <a:srgbClr val="008000"/>
              </a:solidFill>
              <a:latin typeface="Arial Rounded MT Bold" pitchFamily="34" charset="0"/>
            </a:endParaRPr>
          </a:p>
          <a:p>
            <a:pPr>
              <a:buNone/>
            </a:pPr>
            <a:r>
              <a:rPr lang="en-US" sz="2800" dirty="0">
                <a:latin typeface="Arial Rounded MT Bold" pitchFamily="34" charset="0"/>
              </a:rPr>
              <a:t>  </a:t>
            </a:r>
            <a:r>
              <a:rPr lang="en-US" sz="3200" dirty="0">
                <a:latin typeface="Arial Rounded MT Bold" pitchFamily="34" charset="0"/>
              </a:rPr>
              <a:t>-A party that secures at least 6% of the  total votes in –</a:t>
            </a:r>
          </a:p>
          <a:p>
            <a:pPr lvl="1"/>
            <a:r>
              <a:rPr lang="en-US" sz="3200" dirty="0">
                <a:latin typeface="Arial Rounded MT Bold" pitchFamily="34" charset="0"/>
              </a:rPr>
              <a:t>An election to the Legislative Assembly election of a state</a:t>
            </a:r>
          </a:p>
          <a:p>
            <a:pPr lvl="1"/>
            <a:r>
              <a:rPr lang="en-US" sz="3200" dirty="0">
                <a:latin typeface="Arial Rounded MT Bold" pitchFamily="34" charset="0"/>
              </a:rPr>
              <a:t>Wins at least two seats. </a:t>
            </a:r>
          </a:p>
          <a:p>
            <a:pPr>
              <a:buNone/>
            </a:pPr>
            <a:r>
              <a:rPr lang="en-US" sz="3200" dirty="0">
                <a:latin typeface="Arial Rounded MT Bold" pitchFamily="34" charset="0"/>
              </a:rPr>
              <a:t>  -Commonly referred as Regional Party.</a:t>
            </a:r>
          </a:p>
          <a:p>
            <a:pPr>
              <a:buNone/>
            </a:pPr>
            <a:r>
              <a:rPr lang="en-US" sz="3200" dirty="0">
                <a:latin typeface="Arial Rounded MT Bold" pitchFamily="34" charset="0"/>
              </a:rPr>
              <a:t>  -Contributed to the strengthening of     federalism and democracy. </a:t>
            </a:r>
          </a:p>
          <a:p>
            <a:pPr>
              <a:buNone/>
            </a:pPr>
            <a:endParaRPr lang="en-US" sz="3200" dirty="0">
              <a:latin typeface="Arial Rounded MT Bold" pitchFamily="34" charset="0"/>
            </a:endParaRPr>
          </a:p>
        </p:txBody>
      </p:sp>
    </p:spTree>
  </p:cSld>
  <p:clrMapOvr>
    <a:masterClrMapping/>
  </p:clrMapOvr>
  <p:transition spd="slow">
    <p:newsfla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f\Downloads\images (55).jpe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0"/>
            <a:ext cx="5943599" cy="68580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newsfla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8683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solidFill>
                  <a:srgbClr val="008000"/>
                </a:solidFill>
                <a:latin typeface="Arial Rounded MT Bold" pitchFamily="34" charset="0"/>
              </a:rPr>
              <a:t>CHALLENGES TO POLITICAL PARTY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447800"/>
            <a:ext cx="8458200" cy="5257800"/>
          </a:xfrm>
        </p:spPr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lang="en-US" sz="3200" dirty="0">
                <a:latin typeface="Arial Rounded MT Bold" pitchFamily="34" charset="0"/>
              </a:rPr>
              <a:t>Lack of internal democracy within parties.</a:t>
            </a:r>
          </a:p>
          <a:p>
            <a:pPr>
              <a:spcBef>
                <a:spcPts val="800"/>
              </a:spcBef>
            </a:pPr>
            <a:r>
              <a:rPr lang="en-US" sz="3200" dirty="0">
                <a:latin typeface="Arial Rounded MT Bold" pitchFamily="34" charset="0"/>
              </a:rPr>
              <a:t>Challenges of dynastic </a:t>
            </a:r>
          </a:p>
          <a:p>
            <a:pPr>
              <a:spcBef>
                <a:spcPts val="800"/>
              </a:spcBef>
              <a:buNone/>
            </a:pPr>
            <a:r>
              <a:rPr lang="en-US" sz="3200" dirty="0">
                <a:latin typeface="Arial Rounded MT Bold" pitchFamily="34" charset="0"/>
              </a:rPr>
              <a:t>   succession.</a:t>
            </a:r>
          </a:p>
          <a:p>
            <a:pPr>
              <a:spcBef>
                <a:spcPts val="800"/>
              </a:spcBef>
            </a:pPr>
            <a:r>
              <a:rPr lang="en-US" sz="3200" dirty="0">
                <a:latin typeface="Arial Rounded MT Bold" pitchFamily="34" charset="0"/>
              </a:rPr>
              <a:t>Growing role of money </a:t>
            </a:r>
          </a:p>
          <a:p>
            <a:pPr>
              <a:spcBef>
                <a:spcPts val="800"/>
              </a:spcBef>
              <a:buNone/>
            </a:pPr>
            <a:r>
              <a:rPr lang="en-US" sz="3200" dirty="0">
                <a:latin typeface="Arial Rounded MT Bold" pitchFamily="34" charset="0"/>
              </a:rPr>
              <a:t>   and muscle power.</a:t>
            </a:r>
          </a:p>
          <a:p>
            <a:pPr>
              <a:spcBef>
                <a:spcPts val="800"/>
              </a:spcBef>
            </a:pPr>
            <a:r>
              <a:rPr lang="en-US" sz="3200" dirty="0">
                <a:latin typeface="Arial Rounded MT Bold" pitchFamily="34" charset="0"/>
              </a:rPr>
              <a:t>Don’t seem to offer a </a:t>
            </a:r>
          </a:p>
          <a:p>
            <a:pPr>
              <a:spcBef>
                <a:spcPts val="800"/>
              </a:spcBef>
              <a:buNone/>
            </a:pPr>
            <a:r>
              <a:rPr lang="en-US" sz="3200" dirty="0">
                <a:latin typeface="Arial Rounded MT Bold" pitchFamily="34" charset="0"/>
              </a:rPr>
              <a:t>   meaningful choice to the voters.</a:t>
            </a:r>
          </a:p>
          <a:p>
            <a:pPr>
              <a:spcBef>
                <a:spcPts val="800"/>
              </a:spcBef>
            </a:pPr>
            <a:endParaRPr lang="en-US" sz="3200" dirty="0">
              <a:latin typeface="Arial Rounded MT Bold" pitchFamily="34" charset="0"/>
            </a:endParaRPr>
          </a:p>
          <a:p>
            <a:pPr>
              <a:spcBef>
                <a:spcPts val="800"/>
              </a:spcBef>
            </a:pPr>
            <a:endParaRPr lang="en-US" sz="3200" dirty="0">
              <a:latin typeface="Arial Rounded MT Bold" pitchFamily="34" charset="0"/>
            </a:endParaRPr>
          </a:p>
        </p:txBody>
      </p:sp>
      <p:pic>
        <p:nvPicPr>
          <p:cNvPr id="6146" name="Picture 2" descr="C:\Users\User\Downloads\IMG_20200710_02565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2209800"/>
            <a:ext cx="3657600" cy="29718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newsfla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:\RPS\POLITICAL PARTY\istockphoto-493211544-1024x102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2743200"/>
            <a:ext cx="3429000" cy="2667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792162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>
                <a:solidFill>
                  <a:srgbClr val="008000"/>
                </a:solidFill>
                <a:effectLst/>
                <a:latin typeface="Arial Rounded MT Bold" pitchFamily="34" charset="0"/>
              </a:rPr>
              <a:t>  </a:t>
            </a:r>
            <a:r>
              <a:rPr lang="en-US" sz="3500" b="1" u="sng" dirty="0">
                <a:solidFill>
                  <a:srgbClr val="008000"/>
                </a:solidFill>
                <a:effectLst/>
                <a:latin typeface="Arial Rounded MT Bold" pitchFamily="34" charset="0"/>
              </a:rPr>
              <a:t>HOW CAN PARTY BE REFORMED..?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8458200" cy="5105400"/>
          </a:xfrm>
        </p:spPr>
        <p:txBody>
          <a:bodyPr>
            <a:normAutofit lnSpcReduction="10000"/>
          </a:bodyPr>
          <a:lstStyle/>
          <a:p>
            <a:r>
              <a:rPr lang="en-US" sz="3000" dirty="0">
                <a:latin typeface="Arial Rounded MT Bold" pitchFamily="34" charset="0"/>
              </a:rPr>
              <a:t>Through, Anti-Defection Law, 1985.</a:t>
            </a:r>
          </a:p>
          <a:p>
            <a:r>
              <a:rPr lang="en-US" sz="3000" dirty="0">
                <a:latin typeface="Arial Rounded MT Bold" pitchFamily="34" charset="0"/>
              </a:rPr>
              <a:t>By reducing the influence of money and muscle power.</a:t>
            </a:r>
          </a:p>
          <a:p>
            <a:r>
              <a:rPr lang="en-US" sz="3000" dirty="0">
                <a:latin typeface="Arial Rounded MT Bold" pitchFamily="34" charset="0"/>
              </a:rPr>
              <a:t>Filing income tax returns.</a:t>
            </a:r>
          </a:p>
          <a:p>
            <a:r>
              <a:rPr lang="en-US" sz="3000" dirty="0">
                <a:latin typeface="Arial Rounded MT Bold" pitchFamily="34" charset="0"/>
              </a:rPr>
              <a:t>By holding </a:t>
            </a:r>
            <a:r>
              <a:rPr lang="en-US" sz="3000" dirty="0" err="1">
                <a:latin typeface="Arial Rounded MT Bold" pitchFamily="34" charset="0"/>
              </a:rPr>
              <a:t>organisational</a:t>
            </a:r>
            <a:r>
              <a:rPr lang="en-US" sz="3000" dirty="0">
                <a:latin typeface="Arial Rounded MT Bold" pitchFamily="34" charset="0"/>
              </a:rPr>
              <a:t> </a:t>
            </a:r>
          </a:p>
          <a:p>
            <a:pPr>
              <a:buNone/>
            </a:pPr>
            <a:r>
              <a:rPr lang="en-US" sz="3000" dirty="0">
                <a:latin typeface="Arial Rounded MT Bold" pitchFamily="34" charset="0"/>
              </a:rPr>
              <a:t>   elections.</a:t>
            </a:r>
          </a:p>
          <a:p>
            <a:r>
              <a:rPr lang="en-US" sz="3000" dirty="0">
                <a:latin typeface="Arial Rounded MT Bold" pitchFamily="34" charset="0"/>
              </a:rPr>
              <a:t>Declaration of property every </a:t>
            </a:r>
          </a:p>
          <a:p>
            <a:pPr>
              <a:buNone/>
            </a:pPr>
            <a:r>
              <a:rPr lang="en-US" sz="3000" dirty="0">
                <a:latin typeface="Arial Rounded MT Bold" pitchFamily="34" charset="0"/>
              </a:rPr>
              <a:t>    year.</a:t>
            </a:r>
          </a:p>
          <a:p>
            <a:r>
              <a:rPr lang="en-US" sz="3000" dirty="0">
                <a:latin typeface="Arial Rounded MT Bold" pitchFamily="34" charset="0"/>
              </a:rPr>
              <a:t>Educational and political awareness of </a:t>
            </a:r>
          </a:p>
          <a:p>
            <a:pPr>
              <a:buNone/>
            </a:pPr>
            <a:r>
              <a:rPr lang="en-US" sz="3000" dirty="0">
                <a:latin typeface="Arial Rounded MT Bold" pitchFamily="34" charset="0"/>
              </a:rPr>
              <a:t>	the party members.</a:t>
            </a:r>
          </a:p>
          <a:p>
            <a:endParaRPr lang="en-US" sz="3200" dirty="0">
              <a:latin typeface="Arial Rounded MT Bold" pitchFamily="34" charset="0"/>
            </a:endParaRPr>
          </a:p>
          <a:p>
            <a:endParaRPr lang="en-US" sz="3200" dirty="0">
              <a:latin typeface="Arial Rounded MT Bold" pitchFamily="34" charset="0"/>
            </a:endParaRPr>
          </a:p>
          <a:p>
            <a:endParaRPr lang="en-US" sz="3200" dirty="0">
              <a:latin typeface="Arial Rounded MT Bold" pitchFamily="34" charset="0"/>
            </a:endParaRPr>
          </a:p>
          <a:p>
            <a:endParaRPr lang="en-US" sz="3200" dirty="0">
              <a:latin typeface="Arial Rounded MT Bold" pitchFamily="34" charset="0"/>
            </a:endParaRPr>
          </a:p>
        </p:txBody>
      </p:sp>
    </p:spTree>
  </p:cSld>
  <p:clrMapOvr>
    <a:masterClrMapping/>
  </p:clrMapOvr>
  <p:transition spd="slow">
    <p:newsflash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1_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2484</TotalTime>
  <Words>1393</Words>
  <Application>Microsoft Office PowerPoint</Application>
  <PresentationFormat>On-screen Show (4:3)</PresentationFormat>
  <Paragraphs>235</Paragraphs>
  <Slides>31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Arial</vt:lpstr>
      <vt:lpstr>Arial Rounded MT Bold</vt:lpstr>
      <vt:lpstr>Arial Unicode MS</vt:lpstr>
      <vt:lpstr>Calibri</vt:lpstr>
      <vt:lpstr>Franklin Gothic Book</vt:lpstr>
      <vt:lpstr>Gill Sans MT</vt:lpstr>
      <vt:lpstr>Perpetua</vt:lpstr>
      <vt:lpstr>Verdana</vt:lpstr>
      <vt:lpstr>Wingdings 2</vt:lpstr>
      <vt:lpstr>1_Equity</vt:lpstr>
      <vt:lpstr>Solstice</vt:lpstr>
      <vt:lpstr>PowerPoint Presentation</vt:lpstr>
      <vt:lpstr>WHY DO WE NEED POLITICAL PARTY</vt:lpstr>
      <vt:lpstr>MEANING  OF  POLITICAL  PARTY </vt:lpstr>
      <vt:lpstr>COMPONENTS OF POLITICAL  PARTY </vt:lpstr>
      <vt:lpstr>FUNCTIONS OF A POLITICAL  PARTY</vt:lpstr>
      <vt:lpstr>Continuation …..</vt:lpstr>
      <vt:lpstr>NECCESSITY OF POLITICAL PARTY</vt:lpstr>
      <vt:lpstr>HOW MANY PARTIES SHOUD WE HAVE….??</vt:lpstr>
      <vt:lpstr> </vt:lpstr>
      <vt:lpstr>PowerPoint Presentation</vt:lpstr>
      <vt:lpstr> Continue….</vt:lpstr>
      <vt:lpstr> Two-Party System</vt:lpstr>
      <vt:lpstr>Multi-Party System</vt:lpstr>
      <vt:lpstr>NATIONAL POLITICAL PARTIES</vt:lpstr>
      <vt:lpstr>Can you identify the symbols of the National Political parties …?? </vt:lpstr>
      <vt:lpstr>             BHARATIYA JANATA PARTY</vt:lpstr>
      <vt:lpstr>    Continuation….             Identify the picture …??</vt:lpstr>
      <vt:lpstr>NATIONAL  DEMOCRATIC  ALLIANCE</vt:lpstr>
      <vt:lpstr>             INDIAN NATIONAL CONGRESS</vt:lpstr>
      <vt:lpstr> Continuation…</vt:lpstr>
      <vt:lpstr>UNITED  PROGRESSIVE  ALLIANCE</vt:lpstr>
      <vt:lpstr>             BAHUJAN SAMAJWADI PARTY</vt:lpstr>
      <vt:lpstr> continuation…</vt:lpstr>
      <vt:lpstr>NATIONALIST CONGRESS PARTY</vt:lpstr>
      <vt:lpstr>        COMMUNIST PARTY OF            INDIA</vt:lpstr>
      <vt:lpstr>    COMMUNIST PARTY OF  INDIA-MARXIST</vt:lpstr>
      <vt:lpstr>     ALL INDIA TRINAMOOL      CONGRESS</vt:lpstr>
      <vt:lpstr>STATE  POLITICAL  PARTIES</vt:lpstr>
      <vt:lpstr>PowerPoint Presentation</vt:lpstr>
      <vt:lpstr>CHALLENGES TO POLITICAL PARTY</vt:lpstr>
      <vt:lpstr>  HOW CAN PARTY BE REFORMED..?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devyanigautam1371@outlook.com</cp:lastModifiedBy>
  <cp:revision>424</cp:revision>
  <dcterms:created xsi:type="dcterms:W3CDTF">2006-08-16T00:00:00Z</dcterms:created>
  <dcterms:modified xsi:type="dcterms:W3CDTF">2026-04-16T06:11:49Z</dcterms:modified>
</cp:coreProperties>
</file>