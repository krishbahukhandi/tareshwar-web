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9" r:id="rId3"/>
    <p:sldId id="258" r:id="rId4"/>
    <p:sldId id="260" r:id="rId5"/>
    <p:sldId id="261" r:id="rId6"/>
    <p:sldId id="285" r:id="rId7"/>
    <p:sldId id="262" r:id="rId8"/>
    <p:sldId id="263" r:id="rId9"/>
    <p:sldId id="264" r:id="rId10"/>
    <p:sldId id="265" r:id="rId11"/>
    <p:sldId id="286" r:id="rId12"/>
    <p:sldId id="266" r:id="rId13"/>
    <p:sldId id="267" r:id="rId14"/>
    <p:sldId id="287" r:id="rId15"/>
    <p:sldId id="268" r:id="rId16"/>
    <p:sldId id="269" r:id="rId17"/>
    <p:sldId id="288" r:id="rId18"/>
    <p:sldId id="270" r:id="rId19"/>
    <p:sldId id="289" r:id="rId20"/>
    <p:sldId id="271" r:id="rId21"/>
    <p:sldId id="290" r:id="rId22"/>
    <p:sldId id="272" r:id="rId23"/>
    <p:sldId id="274" r:id="rId24"/>
    <p:sldId id="275" r:id="rId25"/>
    <p:sldId id="291" r:id="rId26"/>
    <p:sldId id="273" r:id="rId27"/>
    <p:sldId id="277" r:id="rId28"/>
    <p:sldId id="276" r:id="rId29"/>
    <p:sldId id="278" r:id="rId30"/>
    <p:sldId id="280" r:id="rId31"/>
    <p:sldId id="279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71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09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03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28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36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407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29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62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40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233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0CE563C-FC2D-4BB5-B06D-A63926FF7AD6}" type="datetimeFigureOut">
              <a:rPr lang="en-US" smtClean="0"/>
              <a:pPr/>
              <a:t>4/16/2026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>
              <a:solidFill>
                <a:srgbClr val="2DA2BF">
                  <a:tint val="2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5E7E9B4-2636-4072-B579-39487DF47A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244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563C-FC2D-4BB5-B06D-A63926FF7AD6}" type="datetimeFigureOut">
              <a:rPr lang="en-US" smtClean="0">
                <a:solidFill>
                  <a:prstClr val="black"/>
                </a:solidFill>
              </a:rPr>
              <a:pPr/>
              <a:t>4/16/2026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E9B4-2636-4072-B579-39487DF47AC7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6971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563C-FC2D-4BB5-B06D-A63926FF7AD6}" type="datetimeFigureOut">
              <a:rPr lang="en-US" smtClean="0">
                <a:solidFill>
                  <a:prstClr val="white"/>
                </a:solidFill>
              </a:rPr>
              <a:pPr/>
              <a:t>4/16/2026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E9B4-2636-4072-B579-39487DF47AC7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333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563C-FC2D-4BB5-B06D-A63926FF7AD6}" type="datetimeFigureOut">
              <a:rPr lang="en-US" smtClean="0">
                <a:solidFill>
                  <a:prstClr val="white"/>
                </a:solidFill>
              </a:rPr>
              <a:pPr/>
              <a:t>4/16/2026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E9B4-2636-4072-B579-39487DF47AC7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0315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563C-FC2D-4BB5-B06D-A63926FF7AD6}" type="datetimeFigureOut">
              <a:rPr lang="en-US" smtClean="0">
                <a:solidFill>
                  <a:prstClr val="black"/>
                </a:solidFill>
              </a:rPr>
              <a:pPr/>
              <a:t>4/16/2026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E9B4-2636-4072-B579-39487DF47AC7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23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563C-FC2D-4BB5-B06D-A63926FF7AD6}" type="datetimeFigureOut">
              <a:rPr lang="en-US" smtClean="0">
                <a:solidFill>
                  <a:prstClr val="white"/>
                </a:solidFill>
              </a:rPr>
              <a:pPr/>
              <a:t>4/16/2026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E9B4-2636-4072-B579-39487DF47AC7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7755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563C-FC2D-4BB5-B06D-A63926FF7AD6}" type="datetimeFigureOut">
              <a:rPr lang="en-US" smtClean="0">
                <a:solidFill>
                  <a:prstClr val="black"/>
                </a:solidFill>
              </a:rPr>
              <a:pPr/>
              <a:t>4/16/2026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E9B4-2636-4072-B579-39487DF47AC7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4822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60CE563C-FC2D-4BB5-B06D-A63926FF7AD6}" type="datetimeFigureOut">
              <a:rPr lang="en-US" smtClean="0">
                <a:solidFill>
                  <a:prstClr val="black"/>
                </a:solidFill>
              </a:rPr>
              <a:pPr/>
              <a:t>4/16/2026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E9B4-2636-4072-B579-39487DF47AC7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660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0CE563C-FC2D-4BB5-B06D-A63926FF7AD6}" type="datetimeFigureOut">
              <a:rPr lang="en-US" smtClean="0">
                <a:solidFill>
                  <a:prstClr val="white"/>
                </a:solidFill>
              </a:rPr>
              <a:pPr/>
              <a:t>4/16/2026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5E7E9B4-2636-4072-B579-39487DF47AC7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955249" y="5001994"/>
            <a:ext cx="506933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71414" y="5785023"/>
            <a:ext cx="506933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094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563C-FC2D-4BB5-B06D-A63926FF7AD6}" type="datetimeFigureOut">
              <a:rPr lang="en-US" smtClean="0">
                <a:solidFill>
                  <a:prstClr val="black"/>
                </a:solidFill>
              </a:rPr>
              <a:pPr/>
              <a:t>4/16/2026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E9B4-2636-4072-B579-39487DF47AC7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299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563C-FC2D-4BB5-B06D-A63926FF7AD6}" type="datetimeFigureOut">
              <a:rPr lang="en-US" smtClean="0">
                <a:solidFill>
                  <a:prstClr val="black"/>
                </a:solidFill>
              </a:rPr>
              <a:pPr/>
              <a:t>4/16/2026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E9B4-2636-4072-B579-39487DF47AC7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195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BAF72-ABD6-4A87-B7FA-6B77F4427B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ABB08-3E4F-4C88-8570-B71824353DF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33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955249" y="5001994"/>
            <a:ext cx="506933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71414" y="5785023"/>
            <a:ext cx="506933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0CE563C-FC2D-4BB5-B06D-A63926FF7AD6}" type="datetimeFigureOut">
              <a:rPr lang="en-US" smtClean="0">
                <a:solidFill>
                  <a:prstClr val="black"/>
                </a:solidFill>
              </a:rPr>
              <a:pPr/>
              <a:t>4/16/2026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5E7E9B4-2636-4072-B579-39487DF47AC7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17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google.co.in/imgres?imgurl=https://img.aws.livestrongcdn.com/ls-article-image-400/cme/cme_public_images/www_livestrong_com/photos.demandstudios.com/getty/article/94/47/119605884_XS.jpg&amp;imgrefurl=https://www.livestrong.com/article/170330-the-difference-between-citric-acid-ascorbic-acid-sorbic-acid/&amp;docid=5ebnr__z1KIoGM&amp;tbnid=zbOqys5vPFGURM:&amp;vet=10ahUKEwiRnNGBnbLbAhVLX30KHZiZBm8QMwhwKCYwJg..i&amp;w=400&amp;h=277&amp;hl=en&amp;bih=651&amp;biw=1366&amp;q=natural%20sources%20of%20caboxylic%20acids&amp;ved=0ahUKEwiRnNGBnbLbAhVLX30KHZiZBm8QMwhwKCYwJg&amp;iact=mrc&amp;uact=8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.in/url?sa=i&amp;source=images&amp;cd=&amp;ved=2ahUKEwibi8TNnbLbAhWGfysKHZYaC7AQjRx6BAgBEAU&amp;url=https://www.quora.com/What-are-natural-sources-of-acids-found-in-nature&amp;psig=AOvVaw0ZIn2ifahoBqbHoVKlFJz0&amp;ust=1527934314867648" TargetMode="Externa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5291" y="168811"/>
            <a:ext cx="10621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3895" y="6358597"/>
            <a:ext cx="119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10" name="TextBox 9"/>
          <p:cNvSpPr txBox="1"/>
          <p:nvPr/>
        </p:nvSpPr>
        <p:spPr>
          <a:xfrm flipH="1">
            <a:off x="1045467" y="1047713"/>
            <a:ext cx="996814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CARBOXYLIC ACIDS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Review of previous session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What are carboxylic acids?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Nomenclature of carboxylic acids 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Structure of the carboxyl group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Methods of preparation of carboxylic acids 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Physical properties of carboxylic acids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Uses of carboxylic acids</a:t>
            </a:r>
          </a:p>
        </p:txBody>
      </p:sp>
      <p:pic>
        <p:nvPicPr>
          <p:cNvPr id="7" name="Picture 6" descr="Image result for natural sources of carboxylic acids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214" y="168813"/>
            <a:ext cx="1878430" cy="165998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Rectangle 1"/>
          <p:cNvSpPr/>
          <p:nvPr/>
        </p:nvSpPr>
        <p:spPr>
          <a:xfrm>
            <a:off x="225083" y="168812"/>
            <a:ext cx="11704320" cy="655911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0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1693" y="253218"/>
            <a:ext cx="10902462" cy="78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of the previous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3895" y="6358597"/>
            <a:ext cx="119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895" y="1055077"/>
            <a:ext cx="1134430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Let us recall the important reactions of aldehydes and ketones such as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nucleophilic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addition reactions,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reduction,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oxidation,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Aldol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and cross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aldol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condensation,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Canizzaro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reaction etc.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Also we have covered the important uses of aldehydes and ketones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this session we are discussing about another class of carbonyl compounds, carboxylic acids, most of which are naturally occurring carbon compounds</a:t>
            </a:r>
          </a:p>
        </p:txBody>
      </p:sp>
      <p:sp>
        <p:nvSpPr>
          <p:cNvPr id="2" name="Rectangle 1"/>
          <p:cNvSpPr/>
          <p:nvPr/>
        </p:nvSpPr>
        <p:spPr>
          <a:xfrm>
            <a:off x="225083" y="253218"/>
            <a:ext cx="11732455" cy="63516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1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9316" y="307631"/>
            <a:ext cx="10564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carboxylic acids?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7963" y="6330463"/>
            <a:ext cx="1181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89649" y="899656"/>
            <a:ext cx="958346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Carbon compounds containing a carboxyl functional group –COOH are called carboxylic acids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 carboxylic acids the carbonyl carbon is bonded to oxygen atom of hydroxyl group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64959"/>
          <a:stretch/>
        </p:blipFill>
        <p:spPr>
          <a:xfrm>
            <a:off x="3241413" y="3142445"/>
            <a:ext cx="3352569" cy="1997034"/>
          </a:xfrm>
          <a:prstGeom prst="rect">
            <a:avLst/>
          </a:prstGeom>
        </p:spPr>
      </p:pic>
      <p:pic>
        <p:nvPicPr>
          <p:cNvPr id="9" name="Picture 8" descr="Image result for natural sources of carboxylic acids">
            <a:hlinkClick r:id="rId3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485" y="4295238"/>
            <a:ext cx="3390900" cy="18478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/>
          <p:cNvSpPr/>
          <p:nvPr/>
        </p:nvSpPr>
        <p:spPr>
          <a:xfrm>
            <a:off x="1589649" y="5148874"/>
            <a:ext cx="67518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Higher members are also called as fatty acids,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occur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in natural fats and oils as esters of glycerol.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083" y="168812"/>
            <a:ext cx="11788726" cy="654972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8979" y="1003308"/>
            <a:ext cx="106001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Nomenclature of carboxylic acids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948" y="6330463"/>
            <a:ext cx="1786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1514" y="2248208"/>
            <a:ext cx="96576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Common names of carboxylic acid are obtained from the Latin or Greek names of  their natural sources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IUPAC names of carboxylic acids are given by replacing ending ‘e’ of the corresponding alkane by suffix ‘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oic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acid’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6948" y="154745"/>
            <a:ext cx="11830929" cy="656961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0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6948" y="6330463"/>
            <a:ext cx="1786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948" y="154745"/>
            <a:ext cx="11830929" cy="656961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8260" b="29296"/>
          <a:stretch/>
        </p:blipFill>
        <p:spPr>
          <a:xfrm>
            <a:off x="515155" y="579550"/>
            <a:ext cx="10856889" cy="560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5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7115" y="309490"/>
            <a:ext cx="10572036" cy="793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Nomenclature of carboxylic acids……..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73487" y="1229833"/>
            <a:ext cx="11204619" cy="4887632"/>
            <a:chOff x="887222" y="1733006"/>
            <a:chExt cx="10109916" cy="258865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7222" y="2093613"/>
              <a:ext cx="10109916" cy="222804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3"/>
            <a:srcRect t="-1" b="92101"/>
            <a:stretch/>
          </p:blipFill>
          <p:spPr>
            <a:xfrm>
              <a:off x="887222" y="1733006"/>
              <a:ext cx="10109916" cy="360607"/>
            </a:xfrm>
            <a:prstGeom prst="rect">
              <a:avLst/>
            </a:prstGeom>
          </p:spPr>
        </p:pic>
      </p:grpSp>
      <p:sp>
        <p:nvSpPr>
          <p:cNvPr id="4" name="Rectangle 3"/>
          <p:cNvSpPr/>
          <p:nvPr/>
        </p:nvSpPr>
        <p:spPr>
          <a:xfrm>
            <a:off x="225083" y="182880"/>
            <a:ext cx="11774659" cy="654147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9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7115" y="604910"/>
            <a:ext cx="105720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of the carboxyl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225083" y="168812"/>
            <a:ext cx="11746523" cy="643600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041" r="24483" b="46680"/>
          <a:stretch/>
        </p:blipFill>
        <p:spPr>
          <a:xfrm>
            <a:off x="1238784" y="2268829"/>
            <a:ext cx="9388698" cy="284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0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0842" y="689317"/>
            <a:ext cx="10459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of preparation of carboxylic acids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89981" y="1547446"/>
            <a:ext cx="81866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From primary alcohols and aldehydes</a:t>
            </a:r>
          </a:p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From alkyl benzenes</a:t>
            </a:r>
          </a:p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From nitriles and amides</a:t>
            </a:r>
          </a:p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From Grignard reagent</a:t>
            </a:r>
          </a:p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From acyl halides and anhydrides</a:t>
            </a:r>
          </a:p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From esters</a:t>
            </a:r>
          </a:p>
        </p:txBody>
      </p:sp>
    </p:spTree>
    <p:extLst>
      <p:ext uri="{BB962C8B-B14F-4D97-AF65-F5344CB8AC3E}">
        <p14:creationId xmlns:p14="http://schemas.microsoft.com/office/powerpoint/2010/main" val="243414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9655" y="436098"/>
            <a:ext cx="10958733" cy="709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of preparation of carboxylic acids……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0332" y="1195755"/>
            <a:ext cx="33836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primary alcohols</a:t>
            </a:r>
          </a:p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and aldehydes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2"/>
          <a:srcRect l="14204" t="46514" r="17288"/>
          <a:stretch/>
        </p:blipFill>
        <p:spPr>
          <a:xfrm>
            <a:off x="4671702" y="1635372"/>
            <a:ext cx="7175895" cy="38767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2542" y="196948"/>
            <a:ext cx="11887199" cy="640787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8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9655" y="436098"/>
            <a:ext cx="10958733" cy="709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of preparation of carboxylic acids……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511234" y="1506455"/>
            <a:ext cx="5774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From alkyl benzenes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542" y="196948"/>
            <a:ext cx="11887199" cy="640787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45957" b="45231"/>
          <a:stretch/>
        </p:blipFill>
        <p:spPr>
          <a:xfrm>
            <a:off x="875763" y="2408349"/>
            <a:ext cx="10174310" cy="382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1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58129" y="365760"/>
            <a:ext cx="10789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of preparation of carboxylic acids……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70671" y="1448972"/>
            <a:ext cx="2630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3.a) From</a:t>
            </a:r>
          </a:p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nitriles </a:t>
            </a:r>
          </a:p>
        </p:txBody>
      </p:sp>
      <p:sp>
        <p:nvSpPr>
          <p:cNvPr id="4" name="Rectangle 3"/>
          <p:cNvSpPr/>
          <p:nvPr/>
        </p:nvSpPr>
        <p:spPr>
          <a:xfrm>
            <a:off x="970671" y="3658185"/>
            <a:ext cx="24055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b) From</a:t>
            </a:r>
          </a:p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amides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083" y="182880"/>
            <a:ext cx="11802794" cy="652740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5427" r="55998" b="70825"/>
          <a:stretch/>
        </p:blipFill>
        <p:spPr>
          <a:xfrm>
            <a:off x="3786390" y="1256526"/>
            <a:ext cx="6915954" cy="17313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941" r="42378" b="47646"/>
          <a:stretch/>
        </p:blipFill>
        <p:spPr>
          <a:xfrm>
            <a:off x="3638218" y="3247623"/>
            <a:ext cx="7514886" cy="279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3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8640" y="351692"/>
            <a:ext cx="11331332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of preparation of carboxylic acids……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367" y="6344531"/>
            <a:ext cx="17725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87791" y="1406769"/>
            <a:ext cx="3458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From Grignard</a:t>
            </a:r>
          </a:p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50158" y="4061548"/>
            <a:ext cx="338395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a) From acyl </a:t>
            </a:r>
          </a:p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halides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117" y="1273297"/>
            <a:ext cx="7734321" cy="184338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5083" y="154745"/>
            <a:ext cx="11788726" cy="655554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r="40290" b="75895"/>
          <a:stretch/>
        </p:blipFill>
        <p:spPr>
          <a:xfrm>
            <a:off x="3943313" y="3447105"/>
            <a:ext cx="7734837" cy="246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37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8640" y="351692"/>
            <a:ext cx="11331332" cy="7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of preparation of carboxylic acids……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367" y="6344531"/>
            <a:ext cx="17725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3948" y="1390605"/>
            <a:ext cx="54079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b) From anhydrides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083" y="154745"/>
            <a:ext cx="11788726" cy="655554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r="46951" b="63340"/>
          <a:stretch/>
        </p:blipFill>
        <p:spPr>
          <a:xfrm>
            <a:off x="1197734" y="2289635"/>
            <a:ext cx="9929611" cy="372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0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98807" y="262714"/>
            <a:ext cx="10847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of preparation of carboxylic acids……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330463"/>
            <a:ext cx="18006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97280" y="1069145"/>
            <a:ext cx="3419935" cy="581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From esters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6609"/>
            <a:ext cx="11774658" cy="656961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953" r="39494" b="59718"/>
          <a:stretch/>
        </p:blipFill>
        <p:spPr>
          <a:xfrm>
            <a:off x="3953813" y="1262790"/>
            <a:ext cx="7714445" cy="2148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35319" b="57304"/>
          <a:stretch/>
        </p:blipFill>
        <p:spPr>
          <a:xfrm>
            <a:off x="3026187" y="3605060"/>
            <a:ext cx="8378780" cy="227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0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451" y="336820"/>
            <a:ext cx="1047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properties of carboxylic acids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586" y="4172755"/>
            <a:ext cx="5396248" cy="245458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91674" y="1171977"/>
            <a:ext cx="10317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Boiling point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: 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Carboxylic acids &gt; alcohols &gt; aldehydes, ketones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450761" y="1880315"/>
            <a:ext cx="11372045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Reason: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is due to more extensive intermolecular 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hydrogen   bonding between acid molecules. 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The hydrogen bonds are not broken even in 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the </a:t>
            </a:r>
            <a:r>
              <a:rPr lang="en-US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vapour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phase. In fact, most of the 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carboxylic acids are  existing as dimer in the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</a:t>
            </a:r>
            <a:r>
              <a:rPr lang="en-US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vapour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phase.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083" y="168812"/>
            <a:ext cx="11859065" cy="65555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451" y="336820"/>
            <a:ext cx="1047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properties of carboxylic acids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324" y="2909099"/>
            <a:ext cx="6400799" cy="282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9397" y="1403797"/>
            <a:ext cx="11204620" cy="1146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Solubility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      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Lower members are miscible in water due to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formation of hydrogen bonds with water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083" y="168812"/>
            <a:ext cx="11859065" cy="65555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5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760" y="105924"/>
            <a:ext cx="11183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4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carboxylic acids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948" y="6414868"/>
            <a:ext cx="1786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090246" y="1196946"/>
            <a:ext cx="10493507" cy="4834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arenR"/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Reactions involving cleavage of O-H bond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US" sz="3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Acidity:Reactions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with metals and </a:t>
            </a:r>
            <a:r>
              <a:rPr lang="en-US" sz="3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alkalies</a:t>
            </a:r>
            <a:endParaRPr lang="en-US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Effect of substituents on the acidity of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carboxylic acids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B) Reactions involving cleavage of C-OH bond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  Formation of anhydride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ii)  Esterification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iii) Reactions with PCl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PCl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SOCl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iv) Reaction with ammonia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948" y="105924"/>
            <a:ext cx="11802794" cy="655516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6437" y="645713"/>
            <a:ext cx="11183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4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carboxylic acids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948" y="6414868"/>
            <a:ext cx="1786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674253" y="1756522"/>
            <a:ext cx="9710670" cy="3253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C)  Reactions involving –COOH group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i)  Reduction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ii) Decarboxylation</a:t>
            </a:r>
          </a:p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AutoNum type="alphaUcParenR" startAt="4"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Substitution reactions in the Hydrocarbon part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Halogenation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ii) Ring substitution </a:t>
            </a:r>
            <a:endParaRPr lang="en-US" sz="32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6948" y="105924"/>
            <a:ext cx="11802794" cy="655516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7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9424" y="257229"/>
            <a:ext cx="1047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491174" y="1041009"/>
            <a:ext cx="7335609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arenR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Reactions involving cleavage of O-H bond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US" sz="2800" u="sng" dirty="0" err="1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Acidity:Reactions</a:t>
            </a:r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with metals and </a:t>
            </a:r>
            <a:r>
              <a:rPr lang="en-US" sz="2800" u="sng" dirty="0" err="1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alkalies</a:t>
            </a:r>
            <a:endParaRPr lang="en-US" sz="2800" u="sng" dirty="0">
              <a:solidFill>
                <a:srgbClr val="FF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083" y="154745"/>
            <a:ext cx="11718388" cy="645007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r="29453" b="67445"/>
          <a:stretch/>
        </p:blipFill>
        <p:spPr>
          <a:xfrm>
            <a:off x="1836932" y="2516413"/>
            <a:ext cx="9138634" cy="311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3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9424" y="257229"/>
            <a:ext cx="1047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491174" y="1041009"/>
            <a:ext cx="7335609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arenR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Reactions involving cleavage of O-H bond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r>
              <a:rPr lang="en-US" sz="2800" u="sng" dirty="0" err="1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Acidity:Reactions</a:t>
            </a:r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with metals and </a:t>
            </a:r>
            <a:r>
              <a:rPr lang="en-US" sz="2800" u="sng" dirty="0" err="1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alkalies</a:t>
            </a:r>
            <a:endParaRPr lang="en-US" sz="2800" u="sng" dirty="0">
              <a:solidFill>
                <a:srgbClr val="FF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203" t="57938" r="2565"/>
          <a:stretch/>
        </p:blipFill>
        <p:spPr>
          <a:xfrm>
            <a:off x="940158" y="4110904"/>
            <a:ext cx="10354615" cy="20323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0923" y="3475472"/>
            <a:ext cx="905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Reason: Resonance stabilization of carboxylate 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3545" y="2347598"/>
            <a:ext cx="90720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Carboxylic acids are more acidic than alcohols and phenols, why?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083" y="154745"/>
            <a:ext cx="11718388" cy="645007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3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5844" y="762461"/>
            <a:ext cx="107611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576647" y="1452857"/>
            <a:ext cx="7340958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arenR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Reactions involving cleavage of O-H bond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Effect of substituents on the acidity of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carboxylic acids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131" y="2928261"/>
            <a:ext cx="9465973" cy="30522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5083" y="211015"/>
            <a:ext cx="11746523" cy="649927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3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9912" y="209067"/>
            <a:ext cx="10831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9189" y="916953"/>
            <a:ext cx="9607168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arenR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Reactions involving cleavage of O-H bond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Effect of substituents on the acidity of carboxylic acids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41558"/>
            <a:ext cx="9852338" cy="444014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6609" y="209067"/>
            <a:ext cx="11901268" cy="651529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8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5843" y="194999"/>
            <a:ext cx="10789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812" y="6344529"/>
            <a:ext cx="1814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132976" y="1440597"/>
            <a:ext cx="9945856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arenR"/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Reactions involving cleavage of O-H bond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Effect of substituents on the acidity of carboxylic acids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0671" y="2728113"/>
            <a:ext cx="9903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attachment of phenyl or vinyl group increases the acidity contrary to the decrease expected due to resonance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155" y="4159876"/>
            <a:ext cx="37800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is because of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hybridized carbon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attached to carboxyl     group.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295219" y="4848005"/>
            <a:ext cx="558855" cy="10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8475" y="194999"/>
            <a:ext cx="11957538" cy="655749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58384" b="80966"/>
          <a:stretch/>
        </p:blipFill>
        <p:spPr>
          <a:xfrm>
            <a:off x="5022761" y="3966694"/>
            <a:ext cx="6056071" cy="178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9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5843" y="194999"/>
            <a:ext cx="10789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812" y="6344529"/>
            <a:ext cx="1814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978793" y="1081825"/>
            <a:ext cx="9924855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arenR"/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Reactions involving cleavage of O-H bond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Effect of substituents on the acidity of carboxylic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0614" y="2717442"/>
            <a:ext cx="29349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EWG increases the </a:t>
            </a:r>
          </a:p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acidity of aromatic acids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145547" y="2978370"/>
            <a:ext cx="558855" cy="10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8475" y="194999"/>
            <a:ext cx="11957538" cy="655749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r="57887" b="55372"/>
          <a:stretch/>
        </p:blipFill>
        <p:spPr>
          <a:xfrm>
            <a:off x="5074647" y="2297591"/>
            <a:ext cx="6619369" cy="340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3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2814" y="668631"/>
            <a:ext cx="1047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2219804" y="1702897"/>
            <a:ext cx="7662930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B) Reactions involving cleavage of C-OH bond</a:t>
            </a:r>
          </a:p>
          <a:p>
            <a:pPr>
              <a:lnSpc>
                <a:spcPct val="107000"/>
              </a:lnSpc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US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  Formation of anhydride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7594" y="4746177"/>
            <a:ext cx="3519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ii)  Esterification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130" y="2973601"/>
            <a:ext cx="9414456" cy="15561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03" y="5635157"/>
            <a:ext cx="7880799" cy="723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5083" y="182880"/>
            <a:ext cx="11816862" cy="654147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7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1288" y="388087"/>
            <a:ext cx="1047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0492" y="1417165"/>
            <a:ext cx="7076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 of esterification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26609" y="182880"/>
            <a:ext cx="11915336" cy="652740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754" r="32137" b="25191"/>
          <a:stretch/>
        </p:blipFill>
        <p:spPr>
          <a:xfrm>
            <a:off x="1518716" y="2302388"/>
            <a:ext cx="9131121" cy="399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8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2814" y="668631"/>
            <a:ext cx="1047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8301" y="6309132"/>
            <a:ext cx="18006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2278966" y="1420838"/>
            <a:ext cx="9326880" cy="1146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B) Reactions involving cleavage of C-OH bond</a:t>
            </a:r>
          </a:p>
          <a:p>
            <a:pPr>
              <a:lnSpc>
                <a:spcPct val="107000"/>
              </a:lnSpc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iii) 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Reactions with PCl</a:t>
            </a: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PCl</a:t>
            </a: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SOCl</a:t>
            </a: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083" y="211015"/>
            <a:ext cx="11746523" cy="648520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30547" b="58752"/>
          <a:stretch/>
        </p:blipFill>
        <p:spPr>
          <a:xfrm>
            <a:off x="1893788" y="2742754"/>
            <a:ext cx="8996966" cy="250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2814" y="668631"/>
            <a:ext cx="1047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6099" y="6328439"/>
            <a:ext cx="1744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692484" y="1698465"/>
            <a:ext cx="9357590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B) Reactions involving cleavage of C-OH bond</a:t>
            </a:r>
          </a:p>
          <a:p>
            <a:pPr>
              <a:lnSpc>
                <a:spcPct val="107000"/>
              </a:lnSpc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iv) 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Reaction with ammonia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948" y="182880"/>
            <a:ext cx="11802794" cy="651334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7664" b="32917"/>
          <a:stretch/>
        </p:blipFill>
        <p:spPr>
          <a:xfrm>
            <a:off x="1308296" y="2750259"/>
            <a:ext cx="9370454" cy="357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0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683" y="206330"/>
            <a:ext cx="1047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1015" y="6316395"/>
            <a:ext cx="17725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22363" y="900332"/>
            <a:ext cx="9943580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B) Reactions involving cleavage of C-OH bond</a:t>
            </a:r>
          </a:p>
          <a:p>
            <a:pPr>
              <a:lnSpc>
                <a:spcPct val="107000"/>
              </a:lnSpc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iv) Reaction with ammonia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9988" y="1846153"/>
            <a:ext cx="4367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Synthesis of </a:t>
            </a:r>
            <a:r>
              <a:rPr 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phthalimide</a:t>
            </a:r>
            <a:endParaRPr lang="en-US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1015" y="182880"/>
            <a:ext cx="11788727" cy="65555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1351" r="26768" b="20120"/>
          <a:stretch/>
        </p:blipFill>
        <p:spPr>
          <a:xfrm>
            <a:off x="1322363" y="2423518"/>
            <a:ext cx="9311425" cy="426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7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6881" y="497205"/>
            <a:ext cx="1047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carboxylic acids…….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9741" y="6246055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448972" y="1294229"/>
            <a:ext cx="8243667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C)  Reactions involving –COOH group</a:t>
            </a:r>
          </a:p>
          <a:p>
            <a:pPr>
              <a:lnSpc>
                <a:spcPct val="107000"/>
              </a:lnSpc>
            </a:pP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i) 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665" y="3924886"/>
            <a:ext cx="416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ii) Decarboxylation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1015" y="182880"/>
            <a:ext cx="11816862" cy="651334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848" r="29851" b="78793"/>
          <a:stretch/>
        </p:blipFill>
        <p:spPr>
          <a:xfrm>
            <a:off x="1695553" y="2397395"/>
            <a:ext cx="8847786" cy="11311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29553" b="83863"/>
          <a:stretch/>
        </p:blipFill>
        <p:spPr>
          <a:xfrm>
            <a:off x="1800665" y="4595706"/>
            <a:ext cx="9125755" cy="86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3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9655" y="168812"/>
            <a:ext cx="105012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</a:t>
            </a:r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carboxylic acids…….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1339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181686" y="787792"/>
            <a:ext cx="9059594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Tx/>
              <a:buAutoNum type="alphaUcParenR" startAt="4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Substitution reactions in the Hydrocarbon part</a:t>
            </a:r>
          </a:p>
          <a:p>
            <a:pPr>
              <a:lnSpc>
                <a:spcPct val="107000"/>
              </a:lnSpc>
            </a:pP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</a:t>
            </a:r>
            <a:r>
              <a:rPr lang="en-US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Halogenation: Hell –</a:t>
            </a:r>
            <a:r>
              <a:rPr lang="en-US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Volhard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</a:t>
            </a:r>
            <a:r>
              <a:rPr lang="en-US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Zelinsky</a:t>
            </a:r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938954"/>
            <a:ext cx="2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ii) Ring substitution </a:t>
            </a:r>
            <a:endParaRPr lang="en-US" sz="24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8832" t="44898" r="3201"/>
          <a:stretch/>
        </p:blipFill>
        <p:spPr>
          <a:xfrm>
            <a:off x="914401" y="1711155"/>
            <a:ext cx="10135672" cy="22277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2875" t="52974" r="52550"/>
          <a:stretch/>
        </p:blipFill>
        <p:spPr>
          <a:xfrm>
            <a:off x="1519707" y="4554927"/>
            <a:ext cx="4752304" cy="18995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55099" t="53784" b="2433"/>
          <a:stretch/>
        </p:blipFill>
        <p:spPr>
          <a:xfrm>
            <a:off x="6568225" y="4438412"/>
            <a:ext cx="5087015" cy="189952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6948" y="168812"/>
            <a:ext cx="11788726" cy="654147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6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97559" y="737875"/>
            <a:ext cx="104873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of carboxylic acids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7963" y="6203852"/>
            <a:ext cx="1758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2" name="Rectangle 1"/>
          <p:cNvSpPr/>
          <p:nvPr/>
        </p:nvSpPr>
        <p:spPr>
          <a:xfrm>
            <a:off x="1671876" y="1907338"/>
            <a:ext cx="9826582" cy="2727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1.Methanoic acid - rubber, </a:t>
            </a:r>
            <a:r>
              <a:rPr lang="en-US" sz="3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textile,dyeing,leather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</a:t>
            </a:r>
          </a:p>
          <a:p>
            <a:pPr>
              <a:lnSpc>
                <a:spcPct val="107000"/>
              </a:lnSpc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electroplating industries</a:t>
            </a:r>
          </a:p>
          <a:p>
            <a:pPr>
              <a:lnSpc>
                <a:spcPct val="107000"/>
              </a:lnSpc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</a:t>
            </a:r>
            <a:r>
              <a:rPr lang="en-US" sz="3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Ethanoic</a:t>
            </a: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acid-   solvent, food preservative</a:t>
            </a:r>
          </a:p>
          <a:p>
            <a:pPr>
              <a:lnSpc>
                <a:spcPct val="107000"/>
              </a:lnSpc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Benzoic acid- food preservative and perfume </a:t>
            </a:r>
          </a:p>
          <a:p>
            <a:pPr>
              <a:lnSpc>
                <a:spcPct val="107000"/>
              </a:lnSpc>
            </a:pPr>
            <a:r>
              <a:rPr lang="en-US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Fatty acid- soaps and detergent </a:t>
            </a:r>
          </a:p>
        </p:txBody>
      </p:sp>
      <p:sp>
        <p:nvSpPr>
          <p:cNvPr id="4" name="Rectangle 3"/>
          <p:cNvSpPr/>
          <p:nvPr/>
        </p:nvSpPr>
        <p:spPr>
          <a:xfrm>
            <a:off x="253217" y="295422"/>
            <a:ext cx="11577711" cy="631639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2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3722" y="581019"/>
            <a:ext cx="9692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83" y="6358597"/>
            <a:ext cx="175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6437" y="6112376"/>
            <a:ext cx="119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 O PUNE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282" y="1571223"/>
            <a:ext cx="101485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session we have studied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nomenclature,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preparation methods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important reactions of carboxylic acids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we have covered the important uses of carboxylic acids </a:t>
            </a:r>
          </a:p>
          <a:p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5083" y="295422"/>
            <a:ext cx="11746523" cy="624784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7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WordArt 5"/>
          <p:cNvSpPr>
            <a:spLocks noChangeArrowheads="1" noChangeShapeType="1" noTextEdit="1"/>
          </p:cNvSpPr>
          <p:nvPr/>
        </p:nvSpPr>
        <p:spPr bwMode="auto">
          <a:xfrm>
            <a:off x="3505200" y="2819400"/>
            <a:ext cx="5562600" cy="1371600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 dirty="0">
                <a:ln w="9525">
                  <a:noFill/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74585455"/>
      </p:ext>
    </p:extLst>
  </p:cSld>
  <p:clrMapOvr>
    <a:masterClrMapping/>
  </p:clrMapOvr>
  <p:transition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1042</Words>
  <Application>Microsoft Office PowerPoint</Application>
  <PresentationFormat>Widescreen</PresentationFormat>
  <Paragraphs>181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Calibri</vt:lpstr>
      <vt:lpstr>Calibri Light</vt:lpstr>
      <vt:lpstr>Lucida Sans Unicode</vt:lpstr>
      <vt:lpstr>Times New Roman</vt:lpstr>
      <vt:lpstr>Verdana</vt:lpstr>
      <vt:lpstr>Wingdings</vt:lpstr>
      <vt:lpstr>Wingdings 2</vt:lpstr>
      <vt:lpstr>Wingdings 3</vt:lpstr>
      <vt:lpstr>1_Office Theme</vt:lpstr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Guest</dc:creator>
  <cp:lastModifiedBy>devyanigautam1371@outlook.com</cp:lastModifiedBy>
  <cp:revision>249</cp:revision>
  <dcterms:created xsi:type="dcterms:W3CDTF">2018-06-01T03:21:29Z</dcterms:created>
  <dcterms:modified xsi:type="dcterms:W3CDTF">2026-04-16T06:54:10Z</dcterms:modified>
</cp:coreProperties>
</file>