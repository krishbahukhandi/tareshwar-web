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6" r:id="rId8"/>
    <p:sldId id="263" r:id="rId9"/>
    <p:sldId id="264" r:id="rId10"/>
    <p:sldId id="265" r:id="rId11"/>
    <p:sldId id="267" r:id="rId12"/>
    <p:sldId id="268" r:id="rId13"/>
    <p:sldId id="269" r:id="rId14"/>
    <p:sldId id="270" r:id="rId15"/>
    <p:sldId id="271" r:id="rId16"/>
    <p:sldId id="273" r:id="rId17"/>
    <p:sldId id="275" r:id="rId18"/>
    <p:sldId id="276" r:id="rId19"/>
    <p:sldId id="299" r:id="rId20"/>
    <p:sldId id="277" r:id="rId21"/>
    <p:sldId id="278" r:id="rId22"/>
    <p:sldId id="279" r:id="rId23"/>
    <p:sldId id="282" r:id="rId24"/>
    <p:sldId id="280" r:id="rId25"/>
    <p:sldId id="281" r:id="rId26"/>
    <p:sldId id="283" r:id="rId27"/>
    <p:sldId id="284" r:id="rId28"/>
    <p:sldId id="288" r:id="rId29"/>
    <p:sldId id="285" r:id="rId30"/>
    <p:sldId id="289" r:id="rId31"/>
    <p:sldId id="286" r:id="rId32"/>
    <p:sldId id="287" r:id="rId33"/>
    <p:sldId id="290" r:id="rId34"/>
    <p:sldId id="293" r:id="rId35"/>
    <p:sldId id="294" r:id="rId36"/>
    <p:sldId id="295" r:id="rId37"/>
    <p:sldId id="296" r:id="rId38"/>
    <p:sldId id="297" r:id="rId39"/>
    <p:sldId id="298" r:id="rId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1" d="100"/>
          <a:sy n="101" d="100"/>
        </p:scale>
        <p:origin x="922"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71153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741996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40920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9435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55375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40974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32148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44698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78274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40127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138898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9940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17540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04444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38527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81875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pPr/>
              <a:t>4/16/2026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084330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byjus.com/chemistry/galvanic-cell/" TargetMode="External"/><Relationship Id="rId1" Type="http://schemas.openxmlformats.org/officeDocument/2006/relationships/slideLayout" Target="../slideLayouts/slideLayout4.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14.wmf"/><Relationship Id="rId4" Type="http://schemas.openxmlformats.org/officeDocument/2006/relationships/oleObject" Target="../embeddings/oleObject4.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a:solidFill>
                  <a:srgbClr val="FF0000"/>
                </a:solidFill>
                <a:latin typeface="Arial" pitchFamily="34" charset="0"/>
                <a:ea typeface="Comic Sans MS"/>
                <a:cs typeface="Arial" pitchFamily="34" charset="0"/>
                <a:sym typeface="Comic Sans MS"/>
              </a:rPr>
              <a:t>Why Study Electrochemistry?</a:t>
            </a:r>
            <a:endParaRPr lang="en-IN" b="1" dirty="0">
              <a:solidFill>
                <a:srgbClr val="FF0000"/>
              </a:solidFill>
            </a:endParaRPr>
          </a:p>
        </p:txBody>
      </p:sp>
      <p:sp>
        <p:nvSpPr>
          <p:cNvPr id="4" name="Content Placeholder 3"/>
          <p:cNvSpPr>
            <a:spLocks noGrp="1"/>
          </p:cNvSpPr>
          <p:nvPr>
            <p:ph idx="1"/>
          </p:nvPr>
        </p:nvSpPr>
        <p:spPr/>
        <p:txBody>
          <a:bodyPr>
            <a:normAutofit lnSpcReduction="10000"/>
          </a:bodyPr>
          <a:lstStyle/>
          <a:p>
            <a:pPr>
              <a:buNone/>
            </a:pPr>
            <a:r>
              <a:rPr lang="en-IN" dirty="0"/>
              <a:t>It is important because</a:t>
            </a:r>
          </a:p>
          <a:p>
            <a:pPr marL="457200" lvl="0" indent="-406400">
              <a:lnSpc>
                <a:spcPct val="90000"/>
              </a:lnSpc>
              <a:spcBef>
                <a:spcPts val="0"/>
              </a:spcBef>
              <a:buSzPct val="100000"/>
              <a:buFont typeface="Arial"/>
            </a:pPr>
            <a:r>
              <a:rPr lang="en-US" sz="2800" dirty="0">
                <a:latin typeface="Arial"/>
                <a:ea typeface="Arial"/>
                <a:cs typeface="Arial"/>
                <a:sym typeface="Arial"/>
              </a:rPr>
              <a:t>Many of devices that we </a:t>
            </a:r>
          </a:p>
          <a:p>
            <a:pPr marL="457200" lvl="0" indent="-406400">
              <a:lnSpc>
                <a:spcPct val="90000"/>
              </a:lnSpc>
              <a:spcBef>
                <a:spcPts val="0"/>
              </a:spcBef>
              <a:buSzPct val="100000"/>
              <a:buNone/>
            </a:pPr>
            <a:r>
              <a:rPr lang="en-US" sz="2800" dirty="0">
                <a:latin typeface="Arial"/>
                <a:ea typeface="Arial"/>
                <a:cs typeface="Arial"/>
                <a:sym typeface="Arial"/>
              </a:rPr>
              <a:t>use every day that are </a:t>
            </a:r>
          </a:p>
          <a:p>
            <a:pPr marL="457200" lvl="0" indent="-406400">
              <a:lnSpc>
                <a:spcPct val="90000"/>
              </a:lnSpc>
              <a:spcBef>
                <a:spcPts val="0"/>
              </a:spcBef>
              <a:buSzPct val="100000"/>
              <a:buNone/>
            </a:pPr>
            <a:r>
              <a:rPr lang="en-US" sz="2800" dirty="0">
                <a:solidFill>
                  <a:srgbClr val="C00000"/>
                </a:solidFill>
                <a:latin typeface="Arial"/>
                <a:ea typeface="Arial"/>
                <a:cs typeface="Arial"/>
                <a:sym typeface="Arial"/>
              </a:rPr>
              <a:t>battery </a:t>
            </a:r>
            <a:r>
              <a:rPr lang="en-US" sz="2800" dirty="0">
                <a:latin typeface="Arial"/>
                <a:ea typeface="Arial"/>
                <a:cs typeface="Arial"/>
                <a:sym typeface="Arial"/>
              </a:rPr>
              <a:t>powered.</a:t>
            </a:r>
          </a:p>
          <a:p>
            <a:pPr marL="457200" lvl="0" indent="-431800">
              <a:lnSpc>
                <a:spcPct val="90000"/>
              </a:lnSpc>
              <a:spcBef>
                <a:spcPts val="960"/>
              </a:spcBef>
              <a:buClr>
                <a:schemeClr val="dk1"/>
              </a:buClr>
              <a:buSzPct val="100000"/>
              <a:buFont typeface="Arial"/>
            </a:pPr>
            <a:r>
              <a:rPr lang="en-US" sz="2800" dirty="0">
                <a:solidFill>
                  <a:schemeClr val="dk1"/>
                </a:solidFill>
                <a:latin typeface="Arial"/>
                <a:ea typeface="Arial"/>
                <a:cs typeface="Arial"/>
                <a:sym typeface="Arial"/>
              </a:rPr>
              <a:t>A big problem called </a:t>
            </a:r>
            <a:r>
              <a:rPr lang="en-US" sz="2800" dirty="0">
                <a:solidFill>
                  <a:srgbClr val="C00000"/>
                </a:solidFill>
                <a:latin typeface="Arial"/>
                <a:ea typeface="Arial"/>
                <a:cs typeface="Arial"/>
                <a:sym typeface="Arial"/>
              </a:rPr>
              <a:t>corrosion</a:t>
            </a:r>
          </a:p>
          <a:p>
            <a:pPr marL="457200" lvl="0" indent="-431800">
              <a:lnSpc>
                <a:spcPct val="90000"/>
              </a:lnSpc>
              <a:spcBef>
                <a:spcPts val="960"/>
              </a:spcBef>
              <a:buClr>
                <a:schemeClr val="dk1"/>
              </a:buClr>
              <a:buSzPct val="100000"/>
              <a:buNone/>
            </a:pPr>
            <a:r>
              <a:rPr lang="en-US" sz="2800" dirty="0">
                <a:solidFill>
                  <a:schemeClr val="dk1"/>
                </a:solidFill>
                <a:latin typeface="Arial"/>
                <a:ea typeface="Arial"/>
                <a:cs typeface="Arial"/>
                <a:sym typeface="Arial"/>
              </a:rPr>
              <a:t> is an electrochemical phenomenon.</a:t>
            </a:r>
          </a:p>
          <a:p>
            <a:pPr marL="457200" indent="-431800">
              <a:lnSpc>
                <a:spcPct val="90000"/>
              </a:lnSpc>
              <a:spcBef>
                <a:spcPts val="960"/>
              </a:spcBef>
              <a:buClr>
                <a:schemeClr val="dk1"/>
              </a:buClr>
              <a:buSzPct val="100000"/>
            </a:pPr>
            <a:r>
              <a:rPr lang="en-US" sz="2800" dirty="0">
                <a:solidFill>
                  <a:schemeClr val="dk1"/>
                </a:solidFill>
                <a:latin typeface="Arial"/>
                <a:ea typeface="Arial"/>
                <a:cs typeface="Arial"/>
                <a:sym typeface="Arial"/>
              </a:rPr>
              <a:t>Many chemicals and elements </a:t>
            </a:r>
          </a:p>
          <a:p>
            <a:pPr marL="457200" lvl="0" indent="-431800">
              <a:lnSpc>
                <a:spcPct val="90000"/>
              </a:lnSpc>
              <a:spcBef>
                <a:spcPts val="960"/>
              </a:spcBef>
              <a:buClr>
                <a:schemeClr val="dk1"/>
              </a:buClr>
              <a:buSzPct val="100000"/>
              <a:buNone/>
            </a:pPr>
            <a:r>
              <a:rPr lang="en-US" sz="2800" dirty="0">
                <a:solidFill>
                  <a:schemeClr val="dk1"/>
                </a:solidFill>
                <a:latin typeface="Arial"/>
                <a:ea typeface="Arial"/>
                <a:cs typeface="Arial"/>
                <a:sym typeface="Arial"/>
              </a:rPr>
              <a:t>such as Cl</a:t>
            </a:r>
            <a:r>
              <a:rPr lang="en-US" sz="2800" baseline="-25000" dirty="0">
                <a:solidFill>
                  <a:schemeClr val="dk1"/>
                </a:solidFill>
                <a:latin typeface="Arial"/>
                <a:ea typeface="Arial"/>
                <a:cs typeface="Arial"/>
                <a:sym typeface="Arial"/>
              </a:rPr>
              <a:t>2</a:t>
            </a:r>
            <a:r>
              <a:rPr lang="en-US" sz="2800" dirty="0">
                <a:solidFill>
                  <a:schemeClr val="dk1"/>
                </a:solidFill>
                <a:latin typeface="Arial"/>
                <a:ea typeface="Arial"/>
                <a:cs typeface="Arial"/>
                <a:sym typeface="Arial"/>
              </a:rPr>
              <a:t>, NaOH, Al etc. </a:t>
            </a:r>
          </a:p>
          <a:p>
            <a:pPr marL="457200" lvl="0" indent="-431800">
              <a:lnSpc>
                <a:spcPct val="90000"/>
              </a:lnSpc>
              <a:spcBef>
                <a:spcPts val="960"/>
              </a:spcBef>
              <a:buClr>
                <a:schemeClr val="dk1"/>
              </a:buClr>
              <a:buSzPct val="100000"/>
              <a:buNone/>
            </a:pPr>
            <a:r>
              <a:rPr lang="en-US" sz="2800" dirty="0">
                <a:solidFill>
                  <a:schemeClr val="dk1"/>
                </a:solidFill>
                <a:latin typeface="Arial"/>
                <a:ea typeface="Arial"/>
                <a:cs typeface="Arial"/>
                <a:sym typeface="Arial"/>
              </a:rPr>
              <a:t>are produced electrolytically.</a:t>
            </a:r>
          </a:p>
          <a:p>
            <a:pPr>
              <a:buNone/>
            </a:pPr>
            <a:endParaRPr lang="en-IN" dirty="0"/>
          </a:p>
        </p:txBody>
      </p:sp>
      <p:pic>
        <p:nvPicPr>
          <p:cNvPr id="5" name="Picture 4" descr="everyday-battery-cell-500x500.jpg"/>
          <p:cNvPicPr>
            <a:picLocks noChangeAspect="1"/>
          </p:cNvPicPr>
          <p:nvPr/>
        </p:nvPicPr>
        <p:blipFill>
          <a:blip r:embed="rId2" cstate="print"/>
          <a:stretch>
            <a:fillRect/>
          </a:stretch>
        </p:blipFill>
        <p:spPr>
          <a:xfrm>
            <a:off x="5029200" y="1447800"/>
            <a:ext cx="1905000" cy="1828800"/>
          </a:xfrm>
          <a:prstGeom prst="rect">
            <a:avLst/>
          </a:prstGeom>
        </p:spPr>
      </p:pic>
      <p:pic>
        <p:nvPicPr>
          <p:cNvPr id="6" name="Picture 5" descr="download.jpg"/>
          <p:cNvPicPr>
            <a:picLocks noChangeAspect="1"/>
          </p:cNvPicPr>
          <p:nvPr/>
        </p:nvPicPr>
        <p:blipFill>
          <a:blip r:embed="rId3" cstate="print"/>
          <a:stretch>
            <a:fillRect/>
          </a:stretch>
        </p:blipFill>
        <p:spPr>
          <a:xfrm>
            <a:off x="7010400" y="1371600"/>
            <a:ext cx="1981200" cy="2047875"/>
          </a:xfrm>
          <a:prstGeom prst="rect">
            <a:avLst/>
          </a:prstGeom>
        </p:spPr>
      </p:pic>
      <p:pic>
        <p:nvPicPr>
          <p:cNvPr id="7" name="Picture 6" descr="images.jpg"/>
          <p:cNvPicPr>
            <a:picLocks noChangeAspect="1"/>
          </p:cNvPicPr>
          <p:nvPr/>
        </p:nvPicPr>
        <p:blipFill>
          <a:blip r:embed="rId4" cstate="print"/>
          <a:stretch>
            <a:fillRect/>
          </a:stretch>
        </p:blipFill>
        <p:spPr>
          <a:xfrm>
            <a:off x="6019800" y="4343400"/>
            <a:ext cx="2771775" cy="1981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5400" dirty="0">
                <a:solidFill>
                  <a:srgbClr val="FF0000"/>
                </a:solidFill>
              </a:rPr>
              <a:t>DEFINITION</a:t>
            </a:r>
          </a:p>
        </p:txBody>
      </p:sp>
      <p:sp>
        <p:nvSpPr>
          <p:cNvPr id="3" name="Content Placeholder 2"/>
          <p:cNvSpPr>
            <a:spLocks noGrp="1"/>
          </p:cNvSpPr>
          <p:nvPr>
            <p:ph idx="1"/>
          </p:nvPr>
        </p:nvSpPr>
        <p:spPr/>
        <p:txBody>
          <a:bodyPr/>
          <a:lstStyle/>
          <a:p>
            <a:pPr algn="ctr">
              <a:buNone/>
            </a:pPr>
            <a:endParaRPr lang="en-US" sz="3600" dirty="0">
              <a:solidFill>
                <a:schemeClr val="bg2">
                  <a:lumMod val="25000"/>
                </a:schemeClr>
              </a:solidFill>
              <a:latin typeface="Arial" pitchFamily="34" charset="0"/>
              <a:cs typeface="Arial" pitchFamily="34" charset="0"/>
            </a:endParaRPr>
          </a:p>
          <a:p>
            <a:pPr algn="ctr">
              <a:buNone/>
            </a:pPr>
            <a:r>
              <a:rPr lang="en-US" sz="3600" dirty="0">
                <a:solidFill>
                  <a:schemeClr val="bg2">
                    <a:lumMod val="25000"/>
                  </a:schemeClr>
                </a:solidFill>
                <a:latin typeface="Arial" pitchFamily="34" charset="0"/>
                <a:cs typeface="Arial" pitchFamily="34" charset="0"/>
              </a:rPr>
              <a:t>It is the study of the inter-conversion  between chemical energy and electrical energy.</a:t>
            </a:r>
            <a:endParaRPr lang="en-US" sz="3600" dirty="0">
              <a:latin typeface="Arial" pitchFamily="34" charset="0"/>
              <a:cs typeface="Arial" pitchFamily="34" charset="0"/>
            </a:endParaRPr>
          </a:p>
          <a:p>
            <a:pPr>
              <a:buNone/>
            </a:pPr>
            <a:endParaRPr lang="en-US" dirty="0">
              <a:latin typeface="Arial" pitchFamily="34" charset="0"/>
              <a:cs typeface="Arial" pitchFamily="34" charset="0"/>
            </a:endParaRPr>
          </a:p>
          <a:p>
            <a:pPr>
              <a:buNone/>
            </a:pP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normAutofit/>
          </a:bodyPr>
          <a:lstStyle/>
          <a:p>
            <a:r>
              <a:rPr lang="en-IN" dirty="0">
                <a:solidFill>
                  <a:srgbClr val="C00000"/>
                </a:solidFill>
              </a:rPr>
              <a:t>ELECTROCHEMICAL CELLS </a:t>
            </a:r>
          </a:p>
        </p:txBody>
      </p:sp>
      <p:sp>
        <p:nvSpPr>
          <p:cNvPr id="2" name="Content Placeholder 1"/>
          <p:cNvSpPr>
            <a:spLocks noGrp="1"/>
          </p:cNvSpPr>
          <p:nvPr>
            <p:ph sz="half" idx="1"/>
          </p:nvPr>
        </p:nvSpPr>
        <p:spPr>
          <a:xfrm>
            <a:off x="457200" y="1600200"/>
            <a:ext cx="5791200" cy="4724400"/>
          </a:xfrm>
        </p:spPr>
        <p:txBody>
          <a:bodyPr>
            <a:normAutofit/>
          </a:bodyPr>
          <a:lstStyle/>
          <a:p>
            <a:pPr marL="0" indent="0">
              <a:buNone/>
            </a:pPr>
            <a:r>
              <a:rPr lang="en-US" dirty="0"/>
              <a:t>      What is an Electrochemical Cell?</a:t>
            </a:r>
          </a:p>
          <a:p>
            <a:pPr marL="0" indent="0" algn="just">
              <a:buNone/>
            </a:pPr>
            <a:r>
              <a:rPr lang="en-US" dirty="0"/>
              <a:t>             An electrochemical cell is a device that can generate electrical energy from the chemical reactions occurring in it, or use the electrical energy supplied to it to facilitate chemical reactions in it. These devices are capable of converting chemical energy into electrical energy, or vice versa. </a:t>
            </a:r>
          </a:p>
          <a:p>
            <a:pPr marL="0" indent="0">
              <a:buNone/>
            </a:pPr>
            <a:r>
              <a:rPr lang="en-US" dirty="0"/>
              <a:t>            Such cells capable of generating an electric current from the chemical reactions occurring in them care called </a:t>
            </a:r>
            <a:r>
              <a:rPr lang="en-US" dirty="0">
                <a:hlinkClick r:id="rId2"/>
              </a:rPr>
              <a:t>Galvanic cells</a:t>
            </a:r>
            <a:r>
              <a:rPr lang="en-US" dirty="0"/>
              <a:t> or Voltaic cells. Alternatively, the cells which cause chemical reactions to occur in them when an electric current is passed through them are called </a:t>
            </a:r>
            <a:r>
              <a:rPr lang="en-US" dirty="0">
                <a:solidFill>
                  <a:srgbClr val="7030A0"/>
                </a:solidFill>
              </a:rPr>
              <a:t>electrolytic cells.</a:t>
            </a:r>
          </a:p>
          <a:p>
            <a:pPr marL="0" indent="0">
              <a:buNone/>
            </a:pPr>
            <a:endParaRPr lang="en-US" dirty="0"/>
          </a:p>
        </p:txBody>
      </p:sp>
      <p:pic>
        <p:nvPicPr>
          <p:cNvPr id="14" name="Picture 2"/>
          <p:cNvPicPr>
            <a:picLocks noGrp="1" noChangeAspect="1" noChangeArrowheads="1"/>
          </p:cNvPicPr>
          <p:nvPr>
            <p:ph sz="half" idx="2"/>
          </p:nvPr>
        </p:nvPicPr>
        <p:blipFill>
          <a:blip r:embed="rId3" cstate="print"/>
          <a:stretch>
            <a:fillRect/>
          </a:stretch>
        </p:blipFill>
        <p:spPr bwMode="auto">
          <a:xfrm>
            <a:off x="6324600" y="1555360"/>
            <a:ext cx="2438400" cy="2048900"/>
          </a:xfrm>
          <a:prstGeom prst="rect">
            <a:avLst/>
          </a:prstGeom>
          <a:noFill/>
          <a:ln w="9525">
            <a:noFill/>
            <a:miter lim="800000"/>
            <a:headEnd/>
            <a:tailEnd/>
          </a:ln>
          <a:effectLst/>
        </p:spPr>
      </p:pic>
      <p:pic>
        <p:nvPicPr>
          <p:cNvPr id="4098" name="Picture 2" descr="Electrolytic Cells. - ppt downloa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48400" y="3886200"/>
            <a:ext cx="2743200" cy="261922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6400800" y="1117167"/>
            <a:ext cx="1981200" cy="369332"/>
          </a:xfrm>
          <a:prstGeom prst="rect">
            <a:avLst/>
          </a:prstGeom>
          <a:noFill/>
        </p:spPr>
        <p:txBody>
          <a:bodyPr wrap="square" rtlCol="0">
            <a:spAutoFit/>
          </a:bodyPr>
          <a:lstStyle/>
          <a:p>
            <a:r>
              <a:rPr lang="en-US" dirty="0"/>
              <a:t>GALVANIC CELL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trips(downLeft)">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IN" dirty="0"/>
              <a:t> ELECTRO CHEMICAL CELLS</a:t>
            </a:r>
            <a:br>
              <a:rPr lang="en-IN" dirty="0"/>
            </a:br>
            <a:r>
              <a:rPr lang="en-IN" dirty="0"/>
              <a:t>A COMPARISON</a:t>
            </a:r>
          </a:p>
        </p:txBody>
      </p:sp>
      <p:graphicFrame>
        <p:nvGraphicFramePr>
          <p:cNvPr id="8" name="Table 7"/>
          <p:cNvGraphicFramePr>
            <a:graphicFrameLocks noGrp="1"/>
          </p:cNvGraphicFramePr>
          <p:nvPr>
            <p:extLst>
              <p:ext uri="{D42A27DB-BD31-4B8C-83A1-F6EECF244321}">
                <p14:modId xmlns:p14="http://schemas.microsoft.com/office/powerpoint/2010/main" val="2505094513"/>
              </p:ext>
            </p:extLst>
          </p:nvPr>
        </p:nvGraphicFramePr>
        <p:xfrm>
          <a:off x="0" y="1905000"/>
          <a:ext cx="9144000" cy="4023359"/>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686915">
                <a:tc>
                  <a:txBody>
                    <a:bodyPr/>
                    <a:lstStyle/>
                    <a:p>
                      <a:r>
                        <a:rPr lang="en-IN" sz="3200" dirty="0"/>
                        <a:t>GALVANIC</a:t>
                      </a:r>
                      <a:r>
                        <a:rPr lang="en-IN" sz="3200" baseline="0" dirty="0"/>
                        <a:t> CELL</a:t>
                      </a:r>
                      <a:endParaRPr lang="en-IN" sz="3200" dirty="0"/>
                    </a:p>
                  </a:txBody>
                  <a:tcPr/>
                </a:tc>
                <a:tc>
                  <a:txBody>
                    <a:bodyPr/>
                    <a:lstStyle/>
                    <a:p>
                      <a:r>
                        <a:rPr lang="en-IN" sz="3200" dirty="0"/>
                        <a:t>ELECTROLYTIC CELL</a:t>
                      </a:r>
                    </a:p>
                  </a:txBody>
                  <a:tcPr/>
                </a:tc>
                <a:extLst>
                  <a:ext uri="{0D108BD9-81ED-4DB2-BD59-A6C34878D82A}">
                    <a16:rowId xmlns:a16="http://schemas.microsoft.com/office/drawing/2014/main" val="10000"/>
                  </a:ext>
                </a:extLst>
              </a:tr>
              <a:tr h="686915">
                <a:tc>
                  <a:txBody>
                    <a:bodyPr/>
                    <a:lstStyle/>
                    <a:p>
                      <a:r>
                        <a:rPr lang="en-IN" sz="1800" b="0" i="0" kern="1200" dirty="0">
                          <a:solidFill>
                            <a:schemeClr val="dk1"/>
                          </a:solidFill>
                          <a:latin typeface="+mn-lt"/>
                          <a:ea typeface="+mn-ea"/>
                          <a:cs typeface="+mn-cs"/>
                        </a:rPr>
                        <a:t>Chemical energy is transformed into electrical energy in these electrochemical cells.</a:t>
                      </a:r>
                      <a:endParaRPr lang="en-IN" dirty="0"/>
                    </a:p>
                  </a:txBody>
                  <a:tcPr/>
                </a:tc>
                <a:tc>
                  <a:txBody>
                    <a:bodyPr/>
                    <a:lstStyle/>
                    <a:p>
                      <a:r>
                        <a:rPr lang="en-IN" sz="1800" b="0" i="0" kern="1200" dirty="0">
                          <a:solidFill>
                            <a:schemeClr val="dk1"/>
                          </a:solidFill>
                          <a:latin typeface="+mn-lt"/>
                          <a:ea typeface="+mn-ea"/>
                          <a:cs typeface="+mn-cs"/>
                        </a:rPr>
                        <a:t>Electrical energy is transformed into chemical energy in these cells.</a:t>
                      </a:r>
                      <a:endParaRPr lang="en-IN" dirty="0"/>
                    </a:p>
                  </a:txBody>
                  <a:tcPr/>
                </a:tc>
                <a:extLst>
                  <a:ext uri="{0D108BD9-81ED-4DB2-BD59-A6C34878D82A}">
                    <a16:rowId xmlns:a16="http://schemas.microsoft.com/office/drawing/2014/main" val="10001"/>
                  </a:ext>
                </a:extLst>
              </a:tr>
              <a:tr h="981307">
                <a:tc>
                  <a:txBody>
                    <a:bodyPr/>
                    <a:lstStyle/>
                    <a:p>
                      <a:r>
                        <a:rPr lang="en-IN" sz="1800" b="0" i="0" kern="1200" dirty="0">
                          <a:solidFill>
                            <a:schemeClr val="dk1"/>
                          </a:solidFill>
                          <a:latin typeface="+mn-lt"/>
                          <a:ea typeface="+mn-ea"/>
                          <a:cs typeface="+mn-cs"/>
                        </a:rPr>
                        <a:t>The redox reactions that take place in these cells are spontaneous in nature.</a:t>
                      </a:r>
                      <a:endParaRPr lang="en-IN" dirty="0"/>
                    </a:p>
                  </a:txBody>
                  <a:tcPr/>
                </a:tc>
                <a:tc>
                  <a:txBody>
                    <a:bodyPr/>
                    <a:lstStyle/>
                    <a:p>
                      <a:r>
                        <a:rPr lang="en-IN" sz="1800" b="0" i="0" kern="1200" dirty="0">
                          <a:solidFill>
                            <a:schemeClr val="dk1"/>
                          </a:solidFill>
                          <a:latin typeface="+mn-lt"/>
                          <a:ea typeface="+mn-ea"/>
                          <a:cs typeface="+mn-cs"/>
                        </a:rPr>
                        <a:t>An input of energy is required for the redox reactions to proceed in these cells, i.e. the reactions are non-spontaneous.</a:t>
                      </a:r>
                      <a:endParaRPr lang="en-IN" dirty="0"/>
                    </a:p>
                  </a:txBody>
                  <a:tcPr/>
                </a:tc>
                <a:extLst>
                  <a:ext uri="{0D108BD9-81ED-4DB2-BD59-A6C34878D82A}">
                    <a16:rowId xmlns:a16="http://schemas.microsoft.com/office/drawing/2014/main" val="10002"/>
                  </a:ext>
                </a:extLst>
              </a:tr>
              <a:tr h="981307">
                <a:tc>
                  <a:txBody>
                    <a:bodyPr/>
                    <a:lstStyle/>
                    <a:p>
                      <a:r>
                        <a:rPr lang="en-IN" sz="1800" b="0" i="0" kern="1200" dirty="0">
                          <a:solidFill>
                            <a:schemeClr val="dk1"/>
                          </a:solidFill>
                          <a:latin typeface="+mn-lt"/>
                          <a:ea typeface="+mn-ea"/>
                          <a:cs typeface="+mn-cs"/>
                        </a:rPr>
                        <a:t>In these electrochemical cells, the anode is negatively charged and the cathode is positively charged.</a:t>
                      </a:r>
                      <a:endParaRPr lang="en-IN" dirty="0"/>
                    </a:p>
                  </a:txBody>
                  <a:tcPr/>
                </a:tc>
                <a:tc>
                  <a:txBody>
                    <a:bodyPr/>
                    <a:lstStyle/>
                    <a:p>
                      <a:r>
                        <a:rPr lang="en-IN" sz="1800" b="0" i="0" kern="1200" dirty="0">
                          <a:solidFill>
                            <a:schemeClr val="dk1"/>
                          </a:solidFill>
                          <a:latin typeface="+mn-lt"/>
                          <a:ea typeface="+mn-ea"/>
                          <a:cs typeface="+mn-cs"/>
                        </a:rPr>
                        <a:t>These cells feature a positively charged anode and a negatively charged cathode.</a:t>
                      </a:r>
                      <a:endParaRPr lang="en-IN" dirty="0"/>
                    </a:p>
                  </a:txBody>
                  <a:tcPr/>
                </a:tc>
                <a:extLst>
                  <a:ext uri="{0D108BD9-81ED-4DB2-BD59-A6C34878D82A}">
                    <a16:rowId xmlns:a16="http://schemas.microsoft.com/office/drawing/2014/main" val="10003"/>
                  </a:ext>
                </a:extLst>
              </a:tr>
              <a:tr h="686915">
                <a:tc>
                  <a:txBody>
                    <a:bodyPr/>
                    <a:lstStyle/>
                    <a:p>
                      <a:r>
                        <a:rPr lang="en-IN" sz="1800" b="0" i="0" kern="1200" dirty="0">
                          <a:solidFill>
                            <a:schemeClr val="dk1"/>
                          </a:solidFill>
                          <a:latin typeface="+mn-lt"/>
                          <a:ea typeface="+mn-ea"/>
                          <a:cs typeface="+mn-cs"/>
                        </a:rPr>
                        <a:t>The electrons originate from the species that undergoes oxidation.</a:t>
                      </a:r>
                      <a:endParaRPr lang="en-IN" dirty="0"/>
                    </a:p>
                  </a:txBody>
                  <a:tcPr/>
                </a:tc>
                <a:tc>
                  <a:txBody>
                    <a:bodyPr/>
                    <a:lstStyle/>
                    <a:p>
                      <a:r>
                        <a:rPr lang="en-IN" sz="1800" b="0" i="0" kern="1200" dirty="0">
                          <a:solidFill>
                            <a:schemeClr val="dk1"/>
                          </a:solidFill>
                          <a:latin typeface="+mn-lt"/>
                          <a:ea typeface="+mn-ea"/>
                          <a:cs typeface="+mn-cs"/>
                        </a:rPr>
                        <a:t>Electrons originate from an external source (such as a battery).</a:t>
                      </a:r>
                      <a:endParaRPr lang="en-IN" dirty="0"/>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1143000"/>
          </a:xfrm>
        </p:spPr>
        <p:txBody>
          <a:bodyPr>
            <a:normAutofit/>
          </a:bodyPr>
          <a:lstStyle/>
          <a:p>
            <a:r>
              <a:rPr lang="en-IN" sz="4800" b="1" dirty="0"/>
              <a:t>DANIEL CELL</a:t>
            </a:r>
          </a:p>
        </p:txBody>
      </p:sp>
      <p:pic>
        <p:nvPicPr>
          <p:cNvPr id="5" name="Picture 2" descr="https://upload.wikimedia.org/wikipedia/commons/thumb/6/6d/Galvanic_cell_with_no_cation_flow.svg/310px-Galvanic_cell_with_no_cation_flow.svg.png"/>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3429000"/>
            <a:ext cx="4495800" cy="32004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685800" y="990600"/>
            <a:ext cx="7086600" cy="2246769"/>
          </a:xfrm>
          <a:prstGeom prst="rect">
            <a:avLst/>
          </a:prstGeom>
        </p:spPr>
        <p:txBody>
          <a:bodyPr wrap="square">
            <a:spAutoFit/>
          </a:bodyPr>
          <a:lstStyle/>
          <a:p>
            <a:r>
              <a:rPr lang="en-US" sz="2000" b="1" dirty="0">
                <a:solidFill>
                  <a:srgbClr val="333333"/>
                </a:solidFill>
                <a:latin typeface="Roboto"/>
              </a:rPr>
              <a:t>In Daniel’s cell, copper ions are reduced at the cathode while zinc is oxidized at the anode.</a:t>
            </a:r>
          </a:p>
          <a:p>
            <a:r>
              <a:rPr lang="en-US" sz="2000" b="1" dirty="0">
                <a:solidFill>
                  <a:srgbClr val="333333"/>
                </a:solidFill>
                <a:latin typeface="Roboto"/>
              </a:rPr>
              <a:t>Reactions of Daniel cell at cathode and anode are:</a:t>
            </a:r>
          </a:p>
          <a:p>
            <a:endParaRPr lang="en-US" sz="2000" b="1" dirty="0">
              <a:solidFill>
                <a:srgbClr val="333333"/>
              </a:solidFill>
              <a:latin typeface="Roboto"/>
            </a:endParaRPr>
          </a:p>
          <a:p>
            <a:r>
              <a:rPr lang="en-US" sz="2000" b="1" dirty="0">
                <a:solidFill>
                  <a:srgbClr val="333333"/>
                </a:solidFill>
                <a:latin typeface="Roboto"/>
              </a:rPr>
              <a:t>At cathode: Cu </a:t>
            </a:r>
            <a:r>
              <a:rPr lang="en-US" sz="2000" b="1" baseline="30000" dirty="0">
                <a:solidFill>
                  <a:srgbClr val="333333"/>
                </a:solidFill>
                <a:latin typeface="Roboto"/>
              </a:rPr>
              <a:t>2+</a:t>
            </a:r>
            <a:r>
              <a:rPr lang="en-US" sz="2000" b="1" dirty="0">
                <a:solidFill>
                  <a:srgbClr val="333333"/>
                </a:solidFill>
                <a:latin typeface="Roboto"/>
              </a:rPr>
              <a:t> + 2e</a:t>
            </a:r>
            <a:r>
              <a:rPr lang="en-US" sz="2000" b="1" baseline="30000" dirty="0">
                <a:solidFill>
                  <a:srgbClr val="333333"/>
                </a:solidFill>
                <a:latin typeface="Roboto"/>
              </a:rPr>
              <a:t>–</a:t>
            </a:r>
            <a:r>
              <a:rPr lang="en-US" sz="2000" b="1" dirty="0">
                <a:solidFill>
                  <a:srgbClr val="333333"/>
                </a:solidFill>
                <a:latin typeface="Roboto"/>
              </a:rPr>
              <a:t> → Cu</a:t>
            </a:r>
          </a:p>
          <a:p>
            <a:endParaRPr lang="en-US" sz="2000" b="1" dirty="0">
              <a:solidFill>
                <a:srgbClr val="333333"/>
              </a:solidFill>
              <a:latin typeface="Roboto"/>
            </a:endParaRPr>
          </a:p>
          <a:p>
            <a:r>
              <a:rPr lang="en-US" sz="2000" b="1" dirty="0">
                <a:solidFill>
                  <a:srgbClr val="333333"/>
                </a:solidFill>
                <a:latin typeface="Roboto"/>
              </a:rPr>
              <a:t>At anode: Zn → Zn</a:t>
            </a:r>
            <a:r>
              <a:rPr lang="en-US" sz="2000" b="1" baseline="30000" dirty="0">
                <a:solidFill>
                  <a:srgbClr val="333333"/>
                </a:solidFill>
                <a:latin typeface="Roboto"/>
              </a:rPr>
              <a:t>2+</a:t>
            </a:r>
            <a:r>
              <a:rPr lang="en-US" sz="2000" b="1" dirty="0">
                <a:solidFill>
                  <a:srgbClr val="333333"/>
                </a:solidFill>
                <a:latin typeface="Roboto"/>
              </a:rPr>
              <a:t> + 2e</a:t>
            </a:r>
            <a:r>
              <a:rPr lang="en-US" sz="2000" b="1" baseline="30000" dirty="0">
                <a:solidFill>
                  <a:srgbClr val="333333"/>
                </a:solidFill>
                <a:latin typeface="Roboto"/>
              </a:rPr>
              <a:t>–</a:t>
            </a:r>
            <a:endParaRPr lang="en-US" sz="2000" b="1" dirty="0">
              <a:solidFill>
                <a:srgbClr val="333333"/>
              </a:solidFill>
              <a:latin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b="1" dirty="0"/>
              <a:t>ELECTRODE POTENTIAL</a:t>
            </a:r>
          </a:p>
        </p:txBody>
      </p:sp>
      <p:sp>
        <p:nvSpPr>
          <p:cNvPr id="6" name="Content Placeholder 5"/>
          <p:cNvSpPr>
            <a:spLocks noGrp="1"/>
          </p:cNvSpPr>
          <p:nvPr>
            <p:ph idx="1"/>
          </p:nvPr>
        </p:nvSpPr>
        <p:spPr/>
        <p:txBody>
          <a:bodyPr>
            <a:normAutofit fontScale="85000" lnSpcReduction="20000"/>
          </a:bodyPr>
          <a:lstStyle/>
          <a:p>
            <a:pPr marL="0" lvl="0" indent="0" algn="just" eaLnBrk="0" fontAlgn="base" hangingPunct="0">
              <a:spcBef>
                <a:spcPct val="0"/>
              </a:spcBef>
              <a:spcAft>
                <a:spcPct val="0"/>
              </a:spcAft>
              <a:buNone/>
            </a:pPr>
            <a:r>
              <a:rPr lang="en-US" sz="1400" dirty="0">
                <a:solidFill>
                  <a:srgbClr val="EC8002"/>
                </a:solidFill>
                <a:latin typeface="Open Sans"/>
              </a:rPr>
              <a:t> </a:t>
            </a:r>
            <a:r>
              <a:rPr lang="en-US" sz="2400" b="1" dirty="0">
                <a:solidFill>
                  <a:srgbClr val="4C4C4C"/>
                </a:solidFill>
                <a:latin typeface="Open Sans"/>
              </a:rPr>
              <a:t>Following two changes occur when a metal rod is dipped in its salt solution, </a:t>
            </a:r>
          </a:p>
          <a:p>
            <a:pPr lvl="0" algn="just" eaLnBrk="0" fontAlgn="base" hangingPunct="0">
              <a:spcBef>
                <a:spcPct val="0"/>
              </a:spcBef>
              <a:spcAft>
                <a:spcPct val="0"/>
              </a:spcAft>
              <a:buNone/>
            </a:pPr>
            <a:r>
              <a:rPr lang="en-US" sz="2400" b="1" dirty="0">
                <a:solidFill>
                  <a:srgbClr val="4C4C4C"/>
                </a:solidFill>
                <a:latin typeface="Open Sans"/>
              </a:rPr>
              <a:t>(a) Oxidation: Metal ions pass from the electrode into solution leaving an excess of electrons and thus a negative charge on the electrode.</a:t>
            </a:r>
          </a:p>
          <a:p>
            <a:pPr marL="0" lvl="0" indent="0" algn="just" eaLnBrk="0" fontAlgn="base" hangingPunct="0">
              <a:spcBef>
                <a:spcPct val="0"/>
              </a:spcBef>
              <a:spcAft>
                <a:spcPct val="0"/>
              </a:spcAft>
              <a:buNone/>
            </a:pPr>
            <a:r>
              <a:rPr lang="en-US" sz="2400" b="1" dirty="0">
                <a:solidFill>
                  <a:srgbClr val="4C4C4C"/>
                </a:solidFill>
                <a:latin typeface="Open Sans"/>
              </a:rPr>
              <a:t>The conversion of metal atoms into metal ions by the attractive force of polar water molecules.</a:t>
            </a:r>
          </a:p>
          <a:p>
            <a:pPr lvl="0">
              <a:buNone/>
            </a:pPr>
            <a:r>
              <a:rPr lang="en-US" sz="2400" b="1" dirty="0">
                <a:solidFill>
                  <a:srgbClr val="4C4C4C"/>
                </a:solidFill>
                <a:latin typeface="Open Sans"/>
              </a:rPr>
              <a:t>M →  M</a:t>
            </a:r>
            <a:r>
              <a:rPr lang="en-US" sz="2400" b="1" baseline="30000" dirty="0">
                <a:solidFill>
                  <a:srgbClr val="4C4C4C"/>
                </a:solidFill>
                <a:latin typeface="Open Sans"/>
              </a:rPr>
              <a:t>n</a:t>
            </a:r>
            <a:r>
              <a:rPr lang="en-US" sz="2400" b="1" dirty="0">
                <a:solidFill>
                  <a:srgbClr val="4C4C4C"/>
                </a:solidFill>
                <a:latin typeface="Open Sans"/>
              </a:rPr>
              <a:t> + ne</a:t>
            </a:r>
            <a:r>
              <a:rPr lang="en-US" sz="2400" b="1" baseline="30000" dirty="0">
                <a:solidFill>
                  <a:srgbClr val="4C4C4C"/>
                </a:solidFill>
                <a:latin typeface="Open Sans"/>
              </a:rPr>
              <a:t>-</a:t>
            </a:r>
            <a:endParaRPr lang="en-US" sz="2400" b="1" dirty="0">
              <a:solidFill>
                <a:srgbClr val="EC8002"/>
              </a:solidFill>
              <a:latin typeface="Open Sans"/>
            </a:endParaRPr>
          </a:p>
          <a:p>
            <a:pPr marL="0" lvl="0" indent="0" algn="just" eaLnBrk="0" fontAlgn="base" hangingPunct="0">
              <a:spcBef>
                <a:spcPct val="0"/>
              </a:spcBef>
              <a:spcAft>
                <a:spcPct val="0"/>
              </a:spcAft>
              <a:buNone/>
            </a:pPr>
            <a:r>
              <a:rPr lang="en-US" sz="2400" b="1" dirty="0">
                <a:solidFill>
                  <a:srgbClr val="4C4C4C"/>
                </a:solidFill>
                <a:latin typeface="Open Sans"/>
              </a:rPr>
              <a:t>(b) Reduction: Metal ions in solution gain electrons from the electrode leaving a positive charge on the electrode. Metal ions start depositing on the metal surface leading to a positive charge on the metal.</a:t>
            </a:r>
          </a:p>
          <a:p>
            <a:pPr marL="0" lvl="0" indent="0" algn="just" eaLnBrk="0" fontAlgn="base" hangingPunct="0">
              <a:spcBef>
                <a:spcPct val="0"/>
              </a:spcBef>
              <a:spcAft>
                <a:spcPct val="0"/>
              </a:spcAft>
              <a:buNone/>
            </a:pPr>
            <a:r>
              <a:rPr lang="en-US" sz="2400" b="1" dirty="0">
                <a:solidFill>
                  <a:srgbClr val="4C4C4C"/>
                </a:solidFill>
                <a:latin typeface="Open Sans"/>
              </a:rPr>
              <a:t>M</a:t>
            </a:r>
            <a:r>
              <a:rPr lang="en-US" sz="2400" b="1" baseline="30000" dirty="0">
                <a:solidFill>
                  <a:srgbClr val="4C4C4C"/>
                </a:solidFill>
                <a:latin typeface="Open Sans"/>
              </a:rPr>
              <a:t>n+</a:t>
            </a:r>
            <a:r>
              <a:rPr lang="en-US" sz="2400" b="1" dirty="0">
                <a:solidFill>
                  <a:srgbClr val="4C4C4C"/>
                </a:solidFill>
                <a:latin typeface="Open Sans"/>
              </a:rPr>
              <a:t> +  ne</a:t>
            </a:r>
            <a:r>
              <a:rPr lang="en-US" sz="2400" b="1" baseline="30000" dirty="0">
                <a:solidFill>
                  <a:srgbClr val="4C4C4C"/>
                </a:solidFill>
                <a:latin typeface="Open Sans"/>
              </a:rPr>
              <a:t>-</a:t>
            </a:r>
            <a:r>
              <a:rPr lang="en-US" sz="2400" b="1" dirty="0">
                <a:solidFill>
                  <a:srgbClr val="4C4C4C"/>
                </a:solidFill>
                <a:latin typeface="Open Sans"/>
              </a:rPr>
              <a:t> →  M</a:t>
            </a:r>
            <a:endParaRPr lang="en-US" sz="2400" b="1" dirty="0">
              <a:latin typeface="Arial" panose="020B0604020202020204" pitchFamily="34" charset="0"/>
            </a:endParaRPr>
          </a:p>
          <a:p>
            <a:pPr>
              <a:buNone/>
            </a:pP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What is single electrode potential? How would you determine single ..."/>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9600"/>
            <a:ext cx="4267200" cy="54864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343400" y="685800"/>
            <a:ext cx="4800600" cy="1261884"/>
          </a:xfrm>
          <a:prstGeom prst="rect">
            <a:avLst/>
          </a:prstGeom>
        </p:spPr>
        <p:txBody>
          <a:bodyPr wrap="square">
            <a:spAutoFit/>
          </a:bodyPr>
          <a:lstStyle/>
          <a:p>
            <a:pPr lvl="0" algn="just"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2000" b="1" dirty="0">
                <a:solidFill>
                  <a:srgbClr val="4C4C4C"/>
                </a:solidFill>
                <a:ea typeface="Times New Roman" panose="02020603050405020304" pitchFamily="18" charset="0"/>
                <a:cs typeface="Arial" panose="020B0604020202020204" pitchFamily="34" charset="0"/>
              </a:rPr>
              <a:t>In the beginning, both these changes occur with different speeds but soon an equilibrium is established</a:t>
            </a:r>
            <a:r>
              <a:rPr lang="en-US" dirty="0">
                <a:solidFill>
                  <a:srgbClr val="4C4C4C"/>
                </a:solidFill>
                <a:ea typeface="Times New Roman" panose="02020603050405020304" pitchFamily="18" charset="0"/>
                <a:cs typeface="Arial" panose="020B0604020202020204" pitchFamily="34" charset="0"/>
              </a:rPr>
              <a:t>.</a:t>
            </a:r>
            <a:endParaRPr lang="en-US" dirty="0">
              <a:ea typeface="Times New Roman" panose="02020603050405020304" pitchFamily="18" charset="0"/>
            </a:endParaRPr>
          </a:p>
          <a:p>
            <a:pPr lvl="0" algn="just"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lang="en-US" sz="1600" dirty="0">
              <a:latin typeface="Arial" panose="020B0604020202020204" pitchFamily="34" charset="0"/>
            </a:endParaRPr>
          </a:p>
        </p:txBody>
      </p:sp>
      <p:sp>
        <p:nvSpPr>
          <p:cNvPr id="6" name="Rectangle 5"/>
          <p:cNvSpPr/>
          <p:nvPr/>
        </p:nvSpPr>
        <p:spPr>
          <a:xfrm>
            <a:off x="4343400" y="1828800"/>
            <a:ext cx="4800600" cy="3170099"/>
          </a:xfrm>
          <a:prstGeom prst="rect">
            <a:avLst/>
          </a:prstGeom>
        </p:spPr>
        <p:txBody>
          <a:bodyPr wrap="square">
            <a:spAutoFit/>
          </a:bodyPr>
          <a:lstStyle/>
          <a:p>
            <a:pPr lvl="0" algn="just"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2000" b="1" dirty="0">
                <a:solidFill>
                  <a:srgbClr val="4C4C4C"/>
                </a:solidFill>
                <a:ea typeface="Times New Roman" panose="02020603050405020304" pitchFamily="18" charset="0"/>
                <a:cs typeface="Arial" panose="020B0604020202020204" pitchFamily="34" charset="0"/>
              </a:rPr>
              <a:t>M           M</a:t>
            </a:r>
            <a:r>
              <a:rPr lang="en-US" sz="2000" b="1" baseline="30000" dirty="0">
                <a:solidFill>
                  <a:srgbClr val="4C4C4C"/>
                </a:solidFill>
                <a:ea typeface="Times New Roman" panose="02020603050405020304" pitchFamily="18" charset="0"/>
                <a:cs typeface="Arial" panose="020B0604020202020204" pitchFamily="34" charset="0"/>
              </a:rPr>
              <a:t>n+</a:t>
            </a:r>
            <a:r>
              <a:rPr lang="en-US" sz="2000" b="1" dirty="0">
                <a:solidFill>
                  <a:srgbClr val="4C4C4C"/>
                </a:solidFill>
                <a:ea typeface="Times New Roman" panose="02020603050405020304" pitchFamily="18" charset="0"/>
                <a:cs typeface="Arial" panose="020B0604020202020204" pitchFamily="34" charset="0"/>
              </a:rPr>
              <a:t> + ne</a:t>
            </a:r>
            <a:r>
              <a:rPr lang="en-US" sz="2000" b="1" baseline="30000" dirty="0">
                <a:solidFill>
                  <a:srgbClr val="4C4C4C"/>
                </a:solidFill>
                <a:ea typeface="Times New Roman" panose="02020603050405020304" pitchFamily="18" charset="0"/>
                <a:cs typeface="Arial" panose="020B0604020202020204" pitchFamily="34" charset="0"/>
              </a:rPr>
              <a:t>-</a:t>
            </a:r>
            <a:endParaRPr lang="en-US" sz="2000" b="1" dirty="0">
              <a:ea typeface="Times New Roman" panose="02020603050405020304" pitchFamily="18" charset="0"/>
            </a:endParaRPr>
          </a:p>
          <a:p>
            <a:pPr lvl="0" algn="just"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2000" b="1" dirty="0">
                <a:solidFill>
                  <a:srgbClr val="4C4C4C"/>
                </a:solidFill>
                <a:ea typeface="Times New Roman" panose="02020603050405020304" pitchFamily="18" charset="0"/>
                <a:cs typeface="Arial" panose="020B0604020202020204" pitchFamily="34" charset="0"/>
              </a:rPr>
              <a:t>In practice, one effect is greater than the other,</a:t>
            </a:r>
            <a:endParaRPr lang="en-US" sz="2000" b="1" dirty="0">
              <a:ea typeface="Times New Roman" panose="02020603050405020304" pitchFamily="18" charset="0"/>
            </a:endParaRPr>
          </a:p>
          <a:p>
            <a:pPr lvl="0" algn="just"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2000" b="1" dirty="0">
                <a:solidFill>
                  <a:srgbClr val="4C4C4C"/>
                </a:solidFill>
                <a:ea typeface="Times New Roman" panose="02020603050405020304" pitchFamily="18" charset="0"/>
                <a:cs typeface="Arial" panose="020B0604020202020204" pitchFamily="34" charset="0"/>
              </a:rPr>
              <a:t>If first effect is greater than the second, the metal acquires a negative charge with respect to solution and</a:t>
            </a:r>
            <a:endParaRPr lang="en-US" sz="2000" b="1" dirty="0">
              <a:ea typeface="Times New Roman" panose="02020603050405020304" pitchFamily="18" charset="0"/>
            </a:endParaRPr>
          </a:p>
          <a:p>
            <a:pPr lvl="0" algn="just"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2000" b="1" dirty="0">
                <a:solidFill>
                  <a:srgbClr val="4C4C4C"/>
                </a:solidFill>
                <a:ea typeface="Times New Roman" panose="02020603050405020304" pitchFamily="18" charset="0"/>
                <a:cs typeface="Arial" panose="020B0604020202020204" pitchFamily="34" charset="0"/>
              </a:rPr>
              <a:t>If the second is greater than the first, it acquires positive charge with respect to solution, thus in both the cases a potential difference is set up.</a:t>
            </a:r>
            <a:endParaRPr lang="en-US" sz="2000" b="1" dirty="0"/>
          </a:p>
        </p:txBody>
      </p:sp>
      <p:sp>
        <p:nvSpPr>
          <p:cNvPr id="7" name="Left-Right Arrow 6"/>
          <p:cNvSpPr/>
          <p:nvPr/>
        </p:nvSpPr>
        <p:spPr>
          <a:xfrm>
            <a:off x="4724400" y="1981200"/>
            <a:ext cx="381000" cy="45719"/>
          </a:xfrm>
          <a:prstGeom prst="lef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REFERENCE ELECTRODE</a:t>
            </a:r>
          </a:p>
        </p:txBody>
      </p:sp>
      <p:sp>
        <p:nvSpPr>
          <p:cNvPr id="3" name="Content Placeholder 2"/>
          <p:cNvSpPr>
            <a:spLocks noGrp="1"/>
          </p:cNvSpPr>
          <p:nvPr>
            <p:ph idx="1"/>
          </p:nvPr>
        </p:nvSpPr>
        <p:spPr/>
        <p:txBody>
          <a:bodyPr>
            <a:normAutofit/>
          </a:bodyPr>
          <a:lstStyle/>
          <a:p>
            <a:r>
              <a:rPr lang="en-IN" dirty="0"/>
              <a:t>A </a:t>
            </a:r>
            <a:r>
              <a:rPr lang="en-IN" b="1" dirty="0"/>
              <a:t>reference electrode</a:t>
            </a:r>
            <a:r>
              <a:rPr lang="en-IN" dirty="0"/>
              <a:t> is an electrode which has a stable and well-known electrode potential.</a:t>
            </a:r>
          </a:p>
          <a:p>
            <a:r>
              <a:rPr lang="en-IN" dirty="0"/>
              <a:t>There are many ways reference electrodes are used. The simplest is when the reference electrode is used as a half-cell to build an electrochemical cell. This allows the potential of the other half cell to be determined. An accurate and practical method to measure an electrode's potential in isolation (absolute electrode potential) has yet to be developed.</a:t>
            </a:r>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Arial" pitchFamily="34" charset="0"/>
                <a:cs typeface="Arial" pitchFamily="34" charset="0"/>
              </a:rPr>
              <a:t>STANDARD HYDROGEN ELECTRODE (SHE)</a:t>
            </a:r>
            <a:endParaRPr lang="en-IN" sz="3600" b="1" dirty="0"/>
          </a:p>
        </p:txBody>
      </p:sp>
      <p:sp>
        <p:nvSpPr>
          <p:cNvPr id="4" name="Content Placeholder 3"/>
          <p:cNvSpPr>
            <a:spLocks noGrp="1"/>
          </p:cNvSpPr>
          <p:nvPr>
            <p:ph sz="half" idx="1"/>
          </p:nvPr>
        </p:nvSpPr>
        <p:spPr>
          <a:xfrm>
            <a:off x="457200" y="1600200"/>
            <a:ext cx="4495800" cy="4525963"/>
          </a:xfrm>
        </p:spPr>
        <p:txBody>
          <a:bodyPr>
            <a:normAutofit fontScale="47500" lnSpcReduction="20000"/>
          </a:bodyPr>
          <a:lstStyle/>
          <a:p>
            <a:pPr algn="just">
              <a:lnSpc>
                <a:spcPct val="110000"/>
              </a:lnSpc>
              <a:buFont typeface="Wingdings" pitchFamily="2" charset="2"/>
              <a:buChar char="ü"/>
            </a:pPr>
            <a:r>
              <a:rPr lang="en-US" sz="3600" b="1" dirty="0">
                <a:latin typeface="Arial" pitchFamily="34" charset="0"/>
                <a:cs typeface="Arial" pitchFamily="34" charset="0"/>
              </a:rPr>
              <a:t>It is reference electrode consists of a platinum electrode in contact with H</a:t>
            </a:r>
            <a:r>
              <a:rPr lang="en-US" sz="3600" b="1" baseline="-25000" dirty="0">
                <a:latin typeface="Arial" pitchFamily="34" charset="0"/>
                <a:cs typeface="Arial" pitchFamily="34" charset="0"/>
              </a:rPr>
              <a:t>2</a:t>
            </a:r>
            <a:r>
              <a:rPr lang="en-US" sz="3600" b="1" dirty="0">
                <a:latin typeface="Arial" pitchFamily="34" charset="0"/>
                <a:cs typeface="Arial" pitchFamily="34" charset="0"/>
              </a:rPr>
              <a:t> gas (1 </a:t>
            </a:r>
            <a:r>
              <a:rPr lang="en-US" sz="3600" b="1" dirty="0" err="1">
                <a:latin typeface="Arial" pitchFamily="34" charset="0"/>
                <a:cs typeface="Arial" pitchFamily="34" charset="0"/>
              </a:rPr>
              <a:t>atm</a:t>
            </a:r>
            <a:r>
              <a:rPr lang="en-US" sz="3600" b="1" dirty="0">
                <a:latin typeface="Arial" pitchFamily="34" charset="0"/>
                <a:cs typeface="Arial" pitchFamily="34" charset="0"/>
              </a:rPr>
              <a:t>) and aqueous H</a:t>
            </a:r>
            <a:r>
              <a:rPr lang="en-US" sz="3600" b="1" baseline="30000" dirty="0">
                <a:latin typeface="Arial" pitchFamily="34" charset="0"/>
                <a:cs typeface="Arial" pitchFamily="34" charset="0"/>
              </a:rPr>
              <a:t>+</a:t>
            </a:r>
            <a:r>
              <a:rPr lang="en-US" sz="3600" b="1" dirty="0">
                <a:latin typeface="Arial" pitchFamily="34" charset="0"/>
                <a:cs typeface="Arial" pitchFamily="34" charset="0"/>
              </a:rPr>
              <a:t> ions (1 M).</a:t>
            </a:r>
          </a:p>
          <a:p>
            <a:pPr algn="just">
              <a:lnSpc>
                <a:spcPct val="110000"/>
              </a:lnSpc>
              <a:buFont typeface="Wingdings" pitchFamily="2" charset="2"/>
              <a:buChar char="ü"/>
            </a:pPr>
            <a:r>
              <a:rPr lang="en-US" sz="3600" b="1" dirty="0">
                <a:latin typeface="Arial" pitchFamily="34" charset="0"/>
                <a:cs typeface="Arial" pitchFamily="34" charset="0"/>
              </a:rPr>
              <a:t>It is assigned 0.0 V electrode potential.</a:t>
            </a:r>
          </a:p>
          <a:p>
            <a:pPr algn="just">
              <a:lnSpc>
                <a:spcPct val="110000"/>
              </a:lnSpc>
              <a:buFont typeface="Wingdings" pitchFamily="2" charset="2"/>
              <a:buChar char="ü"/>
            </a:pPr>
            <a:r>
              <a:rPr lang="en-US" sz="3600" b="1" dirty="0">
                <a:latin typeface="Arial" pitchFamily="34" charset="0"/>
                <a:cs typeface="Arial" pitchFamily="34" charset="0"/>
              </a:rPr>
              <a:t>It may behave as anodic or </a:t>
            </a:r>
            <a:r>
              <a:rPr lang="en-US" sz="3600" b="1" dirty="0" err="1">
                <a:latin typeface="Arial" pitchFamily="34" charset="0"/>
                <a:cs typeface="Arial" pitchFamily="34" charset="0"/>
              </a:rPr>
              <a:t>cathodic</a:t>
            </a:r>
            <a:r>
              <a:rPr lang="en-US" sz="3600" b="1" dirty="0">
                <a:latin typeface="Arial" pitchFamily="34" charset="0"/>
                <a:cs typeface="Arial" pitchFamily="34" charset="0"/>
              </a:rPr>
              <a:t> half cell.</a:t>
            </a:r>
          </a:p>
          <a:p>
            <a:pPr algn="just">
              <a:lnSpc>
                <a:spcPct val="110000"/>
              </a:lnSpc>
              <a:buFont typeface="Wingdings" pitchFamily="2" charset="2"/>
              <a:buChar char="ü"/>
            </a:pPr>
            <a:r>
              <a:rPr lang="en-US" sz="3600" b="1" dirty="0">
                <a:latin typeface="Arial" pitchFamily="34" charset="0"/>
                <a:cs typeface="Arial" pitchFamily="34" charset="0"/>
              </a:rPr>
              <a:t>It is represented as</a:t>
            </a:r>
            <a:endParaRPr lang="en-US" sz="3600" b="1" dirty="0">
              <a:latin typeface="Arial" pitchFamily="34" charset="0"/>
              <a:cs typeface="Arial" pitchFamily="34" charset="0"/>
              <a:sym typeface="Wingdings" pitchFamily="2" charset="2"/>
            </a:endParaRPr>
          </a:p>
          <a:p>
            <a:pPr algn="just">
              <a:lnSpc>
                <a:spcPct val="110000"/>
              </a:lnSpc>
              <a:buNone/>
            </a:pPr>
            <a:r>
              <a:rPr lang="en-US" sz="3600" b="1" dirty="0">
                <a:latin typeface="Arial" pitchFamily="34" charset="0"/>
                <a:cs typeface="Arial" pitchFamily="34" charset="0"/>
                <a:sym typeface="Wingdings" pitchFamily="2" charset="2"/>
              </a:rPr>
              <a:t>	</a:t>
            </a:r>
            <a:r>
              <a:rPr lang="en-US" sz="3600" b="1" dirty="0">
                <a:solidFill>
                  <a:schemeClr val="accent1">
                    <a:lumMod val="50000"/>
                  </a:schemeClr>
                </a:solidFill>
                <a:latin typeface="Arial" pitchFamily="34" charset="0"/>
                <a:cs typeface="Arial" pitchFamily="34" charset="0"/>
                <a:sym typeface="Wingdings" pitchFamily="2" charset="2"/>
              </a:rPr>
              <a:t>Pt(</a:t>
            </a:r>
            <a:r>
              <a:rPr lang="en-US" sz="3600" b="1" i="1" dirty="0">
                <a:solidFill>
                  <a:schemeClr val="accent1">
                    <a:lumMod val="50000"/>
                  </a:schemeClr>
                </a:solidFill>
                <a:latin typeface="Arial" pitchFamily="34" charset="0"/>
                <a:cs typeface="Arial" pitchFamily="34" charset="0"/>
                <a:sym typeface="Wingdings" pitchFamily="2" charset="2"/>
              </a:rPr>
              <a:t>s</a:t>
            </a:r>
            <a:r>
              <a:rPr lang="en-US" sz="3600" b="1" dirty="0">
                <a:solidFill>
                  <a:schemeClr val="accent1">
                    <a:lumMod val="50000"/>
                  </a:schemeClr>
                </a:solidFill>
                <a:latin typeface="Arial" pitchFamily="34" charset="0"/>
                <a:cs typeface="Arial" pitchFamily="34" charset="0"/>
                <a:sym typeface="Wingdings" pitchFamily="2" charset="2"/>
              </a:rPr>
              <a:t>)|H</a:t>
            </a:r>
            <a:r>
              <a:rPr lang="en-US" sz="3600" b="1" baseline="-25000" dirty="0">
                <a:solidFill>
                  <a:schemeClr val="accent1">
                    <a:lumMod val="50000"/>
                  </a:schemeClr>
                </a:solidFill>
                <a:latin typeface="Arial" pitchFamily="34" charset="0"/>
                <a:cs typeface="Arial" pitchFamily="34" charset="0"/>
                <a:sym typeface="Wingdings" pitchFamily="2" charset="2"/>
              </a:rPr>
              <a:t>2</a:t>
            </a:r>
            <a:r>
              <a:rPr lang="en-US" sz="3600" b="1" dirty="0">
                <a:solidFill>
                  <a:schemeClr val="accent1">
                    <a:lumMod val="50000"/>
                  </a:schemeClr>
                </a:solidFill>
                <a:latin typeface="Arial" pitchFamily="34" charset="0"/>
                <a:cs typeface="Arial" pitchFamily="34" charset="0"/>
                <a:sym typeface="Wingdings" pitchFamily="2" charset="2"/>
              </a:rPr>
              <a:t>(</a:t>
            </a:r>
            <a:r>
              <a:rPr lang="en-US" sz="3600" b="1" i="1" dirty="0">
                <a:solidFill>
                  <a:schemeClr val="accent1">
                    <a:lumMod val="50000"/>
                  </a:schemeClr>
                </a:solidFill>
                <a:latin typeface="Arial" pitchFamily="34" charset="0"/>
                <a:cs typeface="Arial" pitchFamily="34" charset="0"/>
                <a:sym typeface="Wingdings" pitchFamily="2" charset="2"/>
              </a:rPr>
              <a:t>g</a:t>
            </a:r>
            <a:r>
              <a:rPr lang="en-US" sz="3600" b="1" dirty="0">
                <a:solidFill>
                  <a:schemeClr val="accent1">
                    <a:lumMod val="50000"/>
                  </a:schemeClr>
                </a:solidFill>
                <a:latin typeface="Arial" pitchFamily="34" charset="0"/>
                <a:cs typeface="Arial" pitchFamily="34" charset="0"/>
                <a:sym typeface="Wingdings" pitchFamily="2" charset="2"/>
              </a:rPr>
              <a:t>)(</a:t>
            </a:r>
            <a:r>
              <a:rPr lang="en-US" sz="3600" b="1" i="1" dirty="0">
                <a:solidFill>
                  <a:schemeClr val="accent1">
                    <a:lumMod val="50000"/>
                  </a:schemeClr>
                </a:solidFill>
                <a:latin typeface="Arial" pitchFamily="34" charset="0"/>
                <a:cs typeface="Arial" pitchFamily="34" charset="0"/>
                <a:sym typeface="Wingdings" pitchFamily="2" charset="2"/>
              </a:rPr>
              <a:t>a</a:t>
            </a:r>
            <a:r>
              <a:rPr lang="en-US" sz="3600" b="1" baseline="-25000" dirty="0">
                <a:solidFill>
                  <a:schemeClr val="accent1">
                    <a:lumMod val="50000"/>
                  </a:schemeClr>
                </a:solidFill>
                <a:latin typeface="Arial" pitchFamily="34" charset="0"/>
                <a:cs typeface="Arial" pitchFamily="34" charset="0"/>
                <a:sym typeface="Wingdings" pitchFamily="2" charset="2"/>
              </a:rPr>
              <a:t>H</a:t>
            </a:r>
            <a:r>
              <a:rPr lang="en-US" sz="3600" b="1" baseline="-60000" dirty="0">
                <a:solidFill>
                  <a:schemeClr val="accent1">
                    <a:lumMod val="50000"/>
                  </a:schemeClr>
                </a:solidFill>
                <a:latin typeface="Arial" pitchFamily="34" charset="0"/>
                <a:cs typeface="Arial" pitchFamily="34" charset="0"/>
                <a:sym typeface="Wingdings" pitchFamily="2" charset="2"/>
              </a:rPr>
              <a:t>2</a:t>
            </a:r>
            <a:r>
              <a:rPr lang="en-US" sz="3600" b="1" dirty="0">
                <a:solidFill>
                  <a:schemeClr val="accent1">
                    <a:lumMod val="50000"/>
                  </a:schemeClr>
                </a:solidFill>
                <a:latin typeface="Arial" pitchFamily="34" charset="0"/>
                <a:cs typeface="Arial" pitchFamily="34" charset="0"/>
                <a:sym typeface="Wingdings" pitchFamily="2" charset="2"/>
              </a:rPr>
              <a:t>= 1)|H</a:t>
            </a:r>
            <a:r>
              <a:rPr lang="en-US" sz="3600" b="1" baseline="30000" dirty="0">
                <a:solidFill>
                  <a:schemeClr val="accent1">
                    <a:lumMod val="50000"/>
                  </a:schemeClr>
                </a:solidFill>
                <a:latin typeface="Arial" pitchFamily="34" charset="0"/>
                <a:cs typeface="Arial" pitchFamily="34" charset="0"/>
                <a:sym typeface="Wingdings" pitchFamily="2" charset="2"/>
              </a:rPr>
              <a:t>+</a:t>
            </a:r>
            <a:r>
              <a:rPr lang="en-US" sz="3600" b="1" dirty="0">
                <a:solidFill>
                  <a:schemeClr val="accent1">
                    <a:lumMod val="50000"/>
                  </a:schemeClr>
                </a:solidFill>
                <a:latin typeface="Arial" pitchFamily="34" charset="0"/>
                <a:cs typeface="Arial" pitchFamily="34" charset="0"/>
                <a:sym typeface="Wingdings" pitchFamily="2" charset="2"/>
              </a:rPr>
              <a:t>(</a:t>
            </a:r>
            <a:r>
              <a:rPr lang="en-US" sz="3600" b="1" dirty="0" err="1">
                <a:solidFill>
                  <a:schemeClr val="accent1">
                    <a:lumMod val="50000"/>
                  </a:schemeClr>
                </a:solidFill>
                <a:latin typeface="Arial" pitchFamily="34" charset="0"/>
                <a:cs typeface="Arial" pitchFamily="34" charset="0"/>
                <a:sym typeface="Wingdings" pitchFamily="2" charset="2"/>
              </a:rPr>
              <a:t>aq</a:t>
            </a:r>
            <a:r>
              <a:rPr lang="en-US" sz="3600" b="1" dirty="0">
                <a:solidFill>
                  <a:schemeClr val="accent1">
                    <a:lumMod val="50000"/>
                  </a:schemeClr>
                </a:solidFill>
                <a:latin typeface="Arial" pitchFamily="34" charset="0"/>
                <a:cs typeface="Arial" pitchFamily="34" charset="0"/>
                <a:sym typeface="Wingdings" pitchFamily="2" charset="2"/>
              </a:rPr>
              <a:t>)(</a:t>
            </a:r>
            <a:r>
              <a:rPr lang="en-US" sz="3600" b="1" i="1" dirty="0" err="1">
                <a:solidFill>
                  <a:schemeClr val="accent1">
                    <a:lumMod val="50000"/>
                  </a:schemeClr>
                </a:solidFill>
                <a:latin typeface="Arial" pitchFamily="34" charset="0"/>
                <a:cs typeface="Arial" pitchFamily="34" charset="0"/>
                <a:sym typeface="Wingdings" pitchFamily="2" charset="2"/>
              </a:rPr>
              <a:t>a</a:t>
            </a:r>
            <a:r>
              <a:rPr lang="en-US" sz="3600" b="1" baseline="-25000" dirty="0" err="1">
                <a:solidFill>
                  <a:schemeClr val="accent1">
                    <a:lumMod val="50000"/>
                  </a:schemeClr>
                </a:solidFill>
                <a:latin typeface="Arial" pitchFamily="34" charset="0"/>
                <a:cs typeface="Arial" pitchFamily="34" charset="0"/>
                <a:sym typeface="Wingdings" pitchFamily="2" charset="2"/>
              </a:rPr>
              <a:t>H</a:t>
            </a:r>
            <a:r>
              <a:rPr lang="en-US" sz="3600" b="1" baseline="-6000" dirty="0">
                <a:solidFill>
                  <a:schemeClr val="accent1">
                    <a:lumMod val="50000"/>
                  </a:schemeClr>
                </a:solidFill>
                <a:latin typeface="Arial" pitchFamily="34" charset="0"/>
                <a:cs typeface="Arial" pitchFamily="34" charset="0"/>
                <a:sym typeface="Wingdings" pitchFamily="2" charset="2"/>
              </a:rPr>
              <a:t>+</a:t>
            </a:r>
            <a:r>
              <a:rPr lang="en-US" sz="3600" b="1" dirty="0">
                <a:solidFill>
                  <a:schemeClr val="accent1">
                    <a:lumMod val="50000"/>
                  </a:schemeClr>
                </a:solidFill>
                <a:latin typeface="Arial" pitchFamily="34" charset="0"/>
                <a:cs typeface="Arial" pitchFamily="34" charset="0"/>
                <a:sym typeface="Wingdings" pitchFamily="2" charset="2"/>
              </a:rPr>
              <a:t> = 1).</a:t>
            </a:r>
          </a:p>
          <a:p>
            <a:pPr algn="just">
              <a:lnSpc>
                <a:spcPct val="110000"/>
              </a:lnSpc>
              <a:buFont typeface="Wingdings" pitchFamily="2" charset="2"/>
              <a:buChar char="ü"/>
            </a:pPr>
            <a:r>
              <a:rPr lang="en-US" sz="3600" b="1" dirty="0">
                <a:latin typeface="Arial" pitchFamily="34" charset="0"/>
                <a:cs typeface="Arial" pitchFamily="34" charset="0"/>
                <a:sym typeface="Wingdings" pitchFamily="2" charset="2"/>
              </a:rPr>
              <a:t>When SHE is coupled with an other  half cell then cell potential is the value of the electrode potential of half cell.</a:t>
            </a:r>
          </a:p>
          <a:p>
            <a:endParaRPr lang="en-IN" dirty="0"/>
          </a:p>
        </p:txBody>
      </p:sp>
      <p:pic>
        <p:nvPicPr>
          <p:cNvPr id="6" name="Content Placeholder 5"/>
          <p:cNvPicPr>
            <a:picLocks noGrp="1" noChangeAspect="1" noChangeArrowheads="1"/>
          </p:cNvPicPr>
          <p:nvPr>
            <p:ph sz="half" idx="2"/>
          </p:nvPr>
        </p:nvPicPr>
        <p:blipFill>
          <a:blip r:embed="rId2" cstate="print"/>
          <a:stretch>
            <a:fillRect/>
          </a:stretch>
        </p:blipFill>
        <p:spPr bwMode="auto">
          <a:xfrm>
            <a:off x="3868738" y="2647308"/>
            <a:ext cx="3089275" cy="2907997"/>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lvl="0"/>
            <a:r>
              <a:rPr lang="en-US" sz="3600" b="1" dirty="0">
                <a:solidFill>
                  <a:srgbClr val="000000"/>
                </a:solidFill>
                <a:latin typeface="Open Sans"/>
              </a:rPr>
              <a:t>Determination of Standard Electrode Potential of Zn/Zn</a:t>
            </a:r>
            <a:r>
              <a:rPr lang="en-US" sz="3600" b="1" baseline="30000" dirty="0">
                <a:solidFill>
                  <a:srgbClr val="000000"/>
                </a:solidFill>
                <a:latin typeface="Open Sans"/>
              </a:rPr>
              <a:t>2+</a:t>
            </a:r>
            <a:r>
              <a:rPr lang="en-US" sz="3600" b="1" dirty="0">
                <a:solidFill>
                  <a:srgbClr val="000000"/>
                </a:solidFill>
                <a:latin typeface="Open Sans"/>
              </a:rPr>
              <a:t> Electrode</a:t>
            </a:r>
            <a:br>
              <a:rPr lang="en-US" dirty="0">
                <a:solidFill>
                  <a:srgbClr val="4C4C4C"/>
                </a:solidFill>
                <a:latin typeface="Open Sans"/>
              </a:rPr>
            </a:br>
            <a:endParaRPr lang="en-IN" dirty="0"/>
          </a:p>
        </p:txBody>
      </p:sp>
      <p:sp>
        <p:nvSpPr>
          <p:cNvPr id="6" name="Content Placeholder 5"/>
          <p:cNvSpPr>
            <a:spLocks noGrp="1"/>
          </p:cNvSpPr>
          <p:nvPr>
            <p:ph idx="1"/>
          </p:nvPr>
        </p:nvSpPr>
        <p:spPr>
          <a:xfrm>
            <a:off x="0" y="1600201"/>
            <a:ext cx="9144000" cy="3276599"/>
          </a:xfrm>
        </p:spPr>
        <p:txBody>
          <a:bodyPr>
            <a:normAutofit/>
          </a:bodyPr>
          <a:lstStyle/>
          <a:p>
            <a:pPr marL="0" lvl="0" indent="0" eaLnBrk="0" fontAlgn="base" hangingPunct="0">
              <a:spcBef>
                <a:spcPct val="0"/>
              </a:spcBef>
              <a:spcAft>
                <a:spcPct val="0"/>
              </a:spcAft>
              <a:buFontTx/>
              <a:buChar char="•"/>
            </a:pPr>
            <a:r>
              <a:rPr lang="en-US" b="1" dirty="0">
                <a:solidFill>
                  <a:srgbClr val="4C4C4C"/>
                </a:solidFill>
                <a:latin typeface="Open Sans"/>
              </a:rPr>
              <a:t>A zinc rod is dipped in 1 M zinc sulphate solution. This half-cell is combined with a standard hydrogen electrode through a salt bridge.</a:t>
            </a:r>
          </a:p>
          <a:p>
            <a:pPr marL="0" lvl="0" indent="0" eaLnBrk="0" fontAlgn="base" hangingPunct="0">
              <a:spcBef>
                <a:spcPct val="0"/>
              </a:spcBef>
              <a:spcAft>
                <a:spcPct val="0"/>
              </a:spcAft>
              <a:buFontTx/>
              <a:buChar char="•"/>
            </a:pPr>
            <a:r>
              <a:rPr lang="en-US" b="1" dirty="0">
                <a:solidFill>
                  <a:srgbClr val="4C4C4C"/>
                </a:solidFill>
                <a:latin typeface="Open Sans"/>
              </a:rPr>
              <a:t>Both the electrodes are con­nected with a voltmeter.</a:t>
            </a:r>
          </a:p>
          <a:p>
            <a:pPr marL="0" lvl="0" indent="0" eaLnBrk="0" fontAlgn="base" hangingPunct="0">
              <a:spcBef>
                <a:spcPct val="0"/>
              </a:spcBef>
              <a:spcAft>
                <a:spcPct val="0"/>
              </a:spcAft>
              <a:buFontTx/>
              <a:buChar char="•"/>
            </a:pPr>
            <a:r>
              <a:rPr lang="en-US" b="1" dirty="0">
                <a:solidFill>
                  <a:srgbClr val="4C4C4C"/>
                </a:solidFill>
                <a:latin typeface="Open Sans"/>
              </a:rPr>
              <a:t>The deflection of the voltmeter indicates that current is flowing from hydrogen electrode to metal electrode or the electrons are moving from zinc rod to hydrogen electrode.</a:t>
            </a:r>
          </a:p>
          <a:p>
            <a:pPr marL="0" lvl="0" indent="0" eaLnBrk="0" fontAlgn="base" hangingPunct="0">
              <a:spcBef>
                <a:spcPct val="0"/>
              </a:spcBef>
              <a:spcAft>
                <a:spcPct val="0"/>
              </a:spcAft>
              <a:buFontTx/>
              <a:buChar char="•"/>
            </a:pPr>
            <a:r>
              <a:rPr lang="en-US" b="1" dirty="0">
                <a:solidFill>
                  <a:srgbClr val="4C4C4C"/>
                </a:solidFill>
                <a:latin typeface="Open Sans"/>
              </a:rPr>
              <a:t>The zinc electrode acts as an anode and the hydrogen electrode as cathode and the cell can be represented as     </a:t>
            </a:r>
          </a:p>
          <a:p>
            <a:endParaRPr lang="en-IN" dirty="0"/>
          </a:p>
        </p:txBody>
      </p:sp>
      <p:graphicFrame>
        <p:nvGraphicFramePr>
          <p:cNvPr id="8" name="Table 7"/>
          <p:cNvGraphicFramePr>
            <a:graphicFrameLocks noGrp="1"/>
          </p:cNvGraphicFramePr>
          <p:nvPr/>
        </p:nvGraphicFramePr>
        <p:xfrm>
          <a:off x="228600" y="4419600"/>
          <a:ext cx="8534400" cy="1828800"/>
        </p:xfrm>
        <a:graphic>
          <a:graphicData uri="http://schemas.openxmlformats.org/drawingml/2006/table">
            <a:tbl>
              <a:tblPr firstRow="1" bandRow="1">
                <a:tableStyleId>{5C22544A-7EE6-4342-B048-85BDC9FD1C3A}</a:tableStyleId>
              </a:tblPr>
              <a:tblGrid>
                <a:gridCol w="2844800">
                  <a:extLst>
                    <a:ext uri="{9D8B030D-6E8A-4147-A177-3AD203B41FA5}">
                      <a16:colId xmlns:a16="http://schemas.microsoft.com/office/drawing/2014/main" val="20000"/>
                    </a:ext>
                  </a:extLst>
                </a:gridCol>
                <a:gridCol w="2844800">
                  <a:extLst>
                    <a:ext uri="{9D8B030D-6E8A-4147-A177-3AD203B41FA5}">
                      <a16:colId xmlns:a16="http://schemas.microsoft.com/office/drawing/2014/main" val="20001"/>
                    </a:ext>
                  </a:extLst>
                </a:gridCol>
                <a:gridCol w="2844800">
                  <a:extLst>
                    <a:ext uri="{9D8B030D-6E8A-4147-A177-3AD203B41FA5}">
                      <a16:colId xmlns:a16="http://schemas.microsoft.com/office/drawing/2014/main" val="20002"/>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Open Sans"/>
                        </a:rPr>
                        <a:t>Cell Representation</a:t>
                      </a:r>
                      <a:endParaRPr lang="en-US" b="0" i="0" dirty="0">
                        <a:solidFill>
                          <a:srgbClr val="4C4C4C"/>
                        </a:solidFill>
                        <a:effectLst/>
                        <a:latin typeface="Open Sans"/>
                      </a:endParaRPr>
                    </a:p>
                    <a:p>
                      <a:endParaRPr lang="en-IN" dirty="0"/>
                    </a:p>
                  </a:txBody>
                  <a:tcPr/>
                </a:tc>
                <a:tc>
                  <a:txBody>
                    <a:bodyPr/>
                    <a:lstStyle/>
                    <a:p>
                      <a:pPr algn="l" fontAlgn="t"/>
                      <a:r>
                        <a:rPr lang="en-US" b="1" i="0" dirty="0">
                          <a:solidFill>
                            <a:srgbClr val="000000"/>
                          </a:solidFill>
                          <a:effectLst/>
                          <a:latin typeface="Open Sans"/>
                        </a:rPr>
                        <a:t>Oxidation half reaction</a:t>
                      </a:r>
                      <a:endParaRPr lang="en-US" b="0" i="0" dirty="0">
                        <a:solidFill>
                          <a:srgbClr val="4C4C4C"/>
                        </a:solidFill>
                        <a:effectLst/>
                        <a:latin typeface="Open Sans"/>
                      </a:endParaRPr>
                    </a:p>
                  </a:txBody>
                  <a:tcPr marL="47625" marR="47625" marT="9525" marB="9525"/>
                </a:tc>
                <a:tc>
                  <a:txBody>
                    <a:bodyPr/>
                    <a:lstStyle/>
                    <a:p>
                      <a:pPr algn="l" fontAlgn="t"/>
                      <a:r>
                        <a:rPr lang="en-US" b="1" i="0" dirty="0">
                          <a:solidFill>
                            <a:srgbClr val="000000"/>
                          </a:solidFill>
                          <a:effectLst/>
                          <a:latin typeface="Open Sans"/>
                        </a:rPr>
                        <a:t>Reduction half reaction</a:t>
                      </a:r>
                      <a:endParaRPr lang="en-US" b="0" i="0" dirty="0">
                        <a:solidFill>
                          <a:srgbClr val="4C4C4C"/>
                        </a:solidFill>
                        <a:effectLst/>
                        <a:latin typeface="Open Sans"/>
                      </a:endParaRPr>
                    </a:p>
                  </a:txBody>
                  <a:tcPr marL="47625" marR="47625" marT="9525" marB="9525"/>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Open Sans"/>
                        </a:rPr>
                        <a:t>Zn|Zn</a:t>
                      </a:r>
                      <a:r>
                        <a:rPr lang="en-US" b="1" i="0" baseline="30000" dirty="0">
                          <a:solidFill>
                            <a:srgbClr val="000000"/>
                          </a:solidFill>
                          <a:effectLst/>
                          <a:latin typeface="Open Sans"/>
                        </a:rPr>
                        <a:t>2+</a:t>
                      </a:r>
                      <a:r>
                        <a:rPr lang="en-US" b="1" i="0" dirty="0">
                          <a:solidFill>
                            <a:srgbClr val="000000"/>
                          </a:solidFill>
                          <a:effectLst/>
                          <a:latin typeface="Open Sans"/>
                        </a:rPr>
                        <a:t> (</a:t>
                      </a:r>
                      <a:r>
                        <a:rPr lang="en-US" b="1" i="0" dirty="0" err="1">
                          <a:solidFill>
                            <a:srgbClr val="000000"/>
                          </a:solidFill>
                          <a:effectLst/>
                          <a:latin typeface="Open Sans"/>
                        </a:rPr>
                        <a:t>aq</a:t>
                      </a:r>
                      <a:r>
                        <a:rPr lang="en-US" b="1" i="0" dirty="0">
                          <a:solidFill>
                            <a:srgbClr val="000000"/>
                          </a:solidFill>
                          <a:effectLst/>
                          <a:latin typeface="Open Sans"/>
                        </a:rPr>
                        <a:t>)/Anode(-) || 2H(</a:t>
                      </a:r>
                      <a:r>
                        <a:rPr lang="en-US" b="1" i="0" dirty="0" err="1">
                          <a:solidFill>
                            <a:srgbClr val="000000"/>
                          </a:solidFill>
                          <a:effectLst/>
                          <a:latin typeface="Open Sans"/>
                        </a:rPr>
                        <a:t>aq</a:t>
                      </a:r>
                      <a:r>
                        <a:rPr lang="en-US" b="1" i="0" dirty="0">
                          <a:solidFill>
                            <a:srgbClr val="000000"/>
                          </a:solidFill>
                          <a:effectLst/>
                          <a:latin typeface="Open Sans"/>
                        </a:rPr>
                        <a:t>)| H</a:t>
                      </a:r>
                      <a:r>
                        <a:rPr lang="en-US" b="1" i="0" baseline="-25000" dirty="0">
                          <a:solidFill>
                            <a:srgbClr val="000000"/>
                          </a:solidFill>
                          <a:effectLst/>
                          <a:latin typeface="Open Sans"/>
                        </a:rPr>
                        <a:t>2</a:t>
                      </a:r>
                      <a:r>
                        <a:rPr lang="en-US" b="1" i="0" dirty="0">
                          <a:solidFill>
                            <a:srgbClr val="000000"/>
                          </a:solidFill>
                          <a:effectLst/>
                          <a:latin typeface="Open Sans"/>
                        </a:rPr>
                        <a:t> (g)/Cathode (+)</a:t>
                      </a:r>
                      <a:endParaRPr lang="en-US" b="0" i="0" dirty="0">
                        <a:solidFill>
                          <a:srgbClr val="4C4C4C"/>
                        </a:solidFill>
                        <a:effectLst/>
                        <a:latin typeface="Open Sans"/>
                      </a:endParaRPr>
                    </a:p>
                    <a:p>
                      <a:endParaRPr lang="en-IN" dirty="0"/>
                    </a:p>
                  </a:txBody>
                  <a:tcPr/>
                </a:tc>
                <a:tc>
                  <a:txBody>
                    <a:bodyPr/>
                    <a:lstStyle/>
                    <a:p>
                      <a:r>
                        <a:rPr lang="en-US" b="1" i="0" dirty="0">
                          <a:solidFill>
                            <a:srgbClr val="000000"/>
                          </a:solidFill>
                          <a:effectLst/>
                          <a:latin typeface="Open Sans"/>
                        </a:rPr>
                        <a:t>Zn →  Zn</a:t>
                      </a:r>
                      <a:r>
                        <a:rPr lang="en-US" b="1" i="0" baseline="30000" dirty="0">
                          <a:solidFill>
                            <a:srgbClr val="000000"/>
                          </a:solidFill>
                          <a:effectLst/>
                          <a:latin typeface="Open Sans"/>
                        </a:rPr>
                        <a:t>2+</a:t>
                      </a:r>
                      <a:r>
                        <a:rPr lang="en-US" b="1" i="0" dirty="0">
                          <a:solidFill>
                            <a:srgbClr val="000000"/>
                          </a:solidFill>
                          <a:effectLst/>
                          <a:latin typeface="Open Sans"/>
                        </a:rPr>
                        <a:t> + 2e</a:t>
                      </a:r>
                      <a:r>
                        <a:rPr lang="en-US" b="1" i="0" baseline="30000" dirty="0">
                          <a:solidFill>
                            <a:srgbClr val="000000"/>
                          </a:solidFill>
                          <a:effectLst/>
                          <a:latin typeface="Open Sans"/>
                        </a:rPr>
                        <a:t>-</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Open Sans"/>
                        </a:rPr>
                        <a:t>2H</a:t>
                      </a:r>
                      <a:r>
                        <a:rPr lang="en-US" b="1" i="0" baseline="30000" dirty="0">
                          <a:solidFill>
                            <a:srgbClr val="000000"/>
                          </a:solidFill>
                          <a:effectLst/>
                          <a:latin typeface="Open Sans"/>
                        </a:rPr>
                        <a:t>+</a:t>
                      </a:r>
                      <a:r>
                        <a:rPr lang="en-US" b="1" i="0" dirty="0">
                          <a:solidFill>
                            <a:srgbClr val="000000"/>
                          </a:solidFill>
                          <a:effectLst/>
                          <a:latin typeface="Open Sans"/>
                        </a:rPr>
                        <a:t> + 2e</a:t>
                      </a:r>
                      <a:r>
                        <a:rPr lang="en-US" b="1" i="0" baseline="30000" dirty="0">
                          <a:solidFill>
                            <a:srgbClr val="000000"/>
                          </a:solidFill>
                          <a:effectLst/>
                          <a:latin typeface="Open Sans"/>
                        </a:rPr>
                        <a:t>-</a:t>
                      </a:r>
                      <a:r>
                        <a:rPr lang="en-US" b="1" i="0" dirty="0">
                          <a:solidFill>
                            <a:srgbClr val="000000"/>
                          </a:solidFill>
                          <a:effectLst/>
                          <a:latin typeface="Open Sans"/>
                        </a:rPr>
                        <a:t> →  H</a:t>
                      </a:r>
                      <a:r>
                        <a:rPr lang="en-US" b="1" i="0" baseline="-25000" dirty="0">
                          <a:solidFill>
                            <a:srgbClr val="000000"/>
                          </a:solidFill>
                          <a:effectLst/>
                          <a:latin typeface="Open Sans"/>
                        </a:rPr>
                        <a:t>2</a:t>
                      </a:r>
                      <a:r>
                        <a:rPr lang="en-US" b="1" i="0" dirty="0">
                          <a:solidFill>
                            <a:srgbClr val="000000"/>
                          </a:solidFill>
                          <a:effectLst/>
                          <a:latin typeface="Open Sans"/>
                        </a:rPr>
                        <a:t>↑</a:t>
                      </a:r>
                      <a:endParaRPr lang="en-US" b="0" i="0" dirty="0">
                        <a:solidFill>
                          <a:srgbClr val="4C4C4C"/>
                        </a:solidFill>
                        <a:effectLst/>
                        <a:latin typeface="Open Sans"/>
                      </a:endParaRPr>
                    </a:p>
                    <a:p>
                      <a:endParaRPr lang="en-IN" dirty="0"/>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990600" y="0"/>
            <a:ext cx="6934200" cy="4572000"/>
          </a:xfrm>
          <a:prstGeom prst="rect">
            <a:avLst/>
          </a:prstGeom>
        </p:spPr>
      </p:pic>
      <p:sp>
        <p:nvSpPr>
          <p:cNvPr id="5" name="Rectangle 4"/>
          <p:cNvSpPr/>
          <p:nvPr/>
        </p:nvSpPr>
        <p:spPr>
          <a:xfrm>
            <a:off x="914400" y="4724400"/>
            <a:ext cx="5791200" cy="1938992"/>
          </a:xfrm>
          <a:prstGeom prst="rect">
            <a:avLst/>
          </a:prstGeom>
        </p:spPr>
        <p:txBody>
          <a:bodyPr wrap="square">
            <a:spAutoFit/>
          </a:bodyPr>
          <a:lstStyle/>
          <a:p>
            <a:pPr lvl="0" algn="just" eaLnBrk="0" fontAlgn="base" hangingPunct="0">
              <a:spcBef>
                <a:spcPct val="0"/>
              </a:spcBef>
              <a:spcAft>
                <a:spcPct val="0"/>
              </a:spcAft>
              <a:buFontTx/>
              <a:buChar char="•"/>
            </a:pPr>
            <a:r>
              <a:rPr lang="en-US" sz="2400" b="1" dirty="0">
                <a:solidFill>
                  <a:srgbClr val="4C4C4C"/>
                </a:solidFill>
                <a:latin typeface="Open Sans"/>
              </a:rPr>
              <a:t>The EMF of the cell is 0.76 volt</a:t>
            </a:r>
          </a:p>
          <a:p>
            <a:pPr algn="just" eaLnBrk="0" fontAlgn="base" hangingPunct="0">
              <a:spcBef>
                <a:spcPct val="0"/>
              </a:spcBef>
              <a:spcAft>
                <a:spcPct val="0"/>
              </a:spcAft>
            </a:pPr>
            <a:r>
              <a:rPr lang="en-US" sz="2400" b="1" dirty="0"/>
              <a:t>E</a:t>
            </a:r>
            <a:r>
              <a:rPr lang="en-US" sz="2400" b="1" baseline="30000" dirty="0"/>
              <a:t>0</a:t>
            </a:r>
            <a:r>
              <a:rPr lang="en-US" sz="2400" b="1" baseline="-25000" dirty="0"/>
              <a:t>CELL   =</a:t>
            </a:r>
            <a:r>
              <a:rPr lang="en-US" sz="2400" b="1" dirty="0">
                <a:latin typeface="Calibri" panose="020F0502020204030204" pitchFamily="34" charset="0"/>
                <a:ea typeface="Calibri" panose="020F0502020204030204" pitchFamily="34" charset="0"/>
                <a:cs typeface="Times New Roman" panose="02020603050405020304" pitchFamily="18" charset="0"/>
              </a:rPr>
              <a:t>E</a:t>
            </a:r>
            <a:r>
              <a:rPr lang="en-US" sz="2400" b="1" baseline="30000" dirty="0">
                <a:latin typeface="Calibri" panose="020F0502020204030204" pitchFamily="34" charset="0"/>
                <a:ea typeface="Calibri" panose="020F0502020204030204" pitchFamily="34" charset="0"/>
                <a:cs typeface="Times New Roman" panose="02020603050405020304" pitchFamily="18" charset="0"/>
              </a:rPr>
              <a:t>0</a:t>
            </a:r>
            <a:r>
              <a:rPr lang="en-US" sz="2400" b="1" baseline="-25000" dirty="0">
                <a:latin typeface="Calibri" panose="020F0502020204030204" pitchFamily="34" charset="0"/>
                <a:ea typeface="Calibri" panose="020F0502020204030204" pitchFamily="34" charset="0"/>
                <a:cs typeface="Times New Roman" panose="02020603050405020304" pitchFamily="18" charset="0"/>
              </a:rPr>
              <a:t>CATHODE </a:t>
            </a:r>
            <a:r>
              <a:rPr lang="en-US" sz="2400" b="1" dirty="0">
                <a:latin typeface="Calibri" panose="020F0502020204030204" pitchFamily="34" charset="0"/>
                <a:ea typeface="Calibri" panose="020F0502020204030204" pitchFamily="34" charset="0"/>
                <a:cs typeface="Times New Roman" panose="02020603050405020304" pitchFamily="18" charset="0"/>
              </a:rPr>
              <a:t> -    E</a:t>
            </a:r>
            <a:r>
              <a:rPr lang="en-US" sz="2400" b="1" baseline="30000" dirty="0">
                <a:latin typeface="Calibri" panose="020F0502020204030204" pitchFamily="34" charset="0"/>
                <a:ea typeface="Calibri" panose="020F0502020204030204" pitchFamily="34" charset="0"/>
                <a:cs typeface="Times New Roman" panose="02020603050405020304" pitchFamily="18" charset="0"/>
              </a:rPr>
              <a:t>0</a:t>
            </a:r>
            <a:r>
              <a:rPr lang="en-US" sz="2400" b="1" baseline="-25000" dirty="0">
                <a:latin typeface="Calibri" panose="020F0502020204030204" pitchFamily="34" charset="0"/>
                <a:ea typeface="Calibri" panose="020F0502020204030204" pitchFamily="34" charset="0"/>
                <a:cs typeface="Times New Roman" panose="02020603050405020304" pitchFamily="18" charset="0"/>
              </a:rPr>
              <a:t>ANODE</a:t>
            </a:r>
            <a:endParaRPr lang="en-US" sz="2400" b="1" dirty="0">
              <a:latin typeface="Calibri" panose="020F0502020204030204" pitchFamily="34" charset="0"/>
              <a:ea typeface="Calibri" panose="020F0502020204030204" pitchFamily="34" charset="0"/>
              <a:cs typeface="Times New Roman" panose="02020603050405020304" pitchFamily="18" charset="0"/>
            </a:endParaRPr>
          </a:p>
          <a:p>
            <a:pPr algn="just" eaLnBrk="0" fontAlgn="base" hangingPunct="0">
              <a:spcBef>
                <a:spcPct val="0"/>
              </a:spcBef>
              <a:spcAft>
                <a:spcPct val="0"/>
              </a:spcAft>
            </a:pPr>
            <a:endParaRPr lang="en-US" sz="2400" b="1" dirty="0"/>
          </a:p>
          <a:p>
            <a:pPr lvl="0" algn="just" eaLnBrk="0" fontAlgn="base" hangingPunct="0">
              <a:spcBef>
                <a:spcPct val="0"/>
              </a:spcBef>
              <a:spcAft>
                <a:spcPct val="0"/>
              </a:spcAft>
            </a:pPr>
            <a:r>
              <a:rPr lang="en-US" sz="2400" b="1" dirty="0">
                <a:solidFill>
                  <a:srgbClr val="4C4C4C"/>
                </a:solidFill>
                <a:latin typeface="Open Sans"/>
              </a:rPr>
              <a:t>0.76  =  </a:t>
            </a:r>
            <a:r>
              <a:rPr lang="en-US" sz="2400" b="1" dirty="0" err="1">
                <a:solidFill>
                  <a:srgbClr val="4C4C4C"/>
                </a:solidFill>
                <a:latin typeface="Open Sans"/>
              </a:rPr>
              <a:t>E</a:t>
            </a:r>
            <a:r>
              <a:rPr lang="en-US" sz="2400" b="1" baseline="30000" dirty="0" err="1">
                <a:solidFill>
                  <a:srgbClr val="4C4C4C"/>
                </a:solidFill>
                <a:latin typeface="Open Sans"/>
              </a:rPr>
              <a:t>o</a:t>
            </a:r>
            <a:r>
              <a:rPr lang="en-US" sz="2400" b="1" baseline="-30000" dirty="0" err="1">
                <a:solidFill>
                  <a:srgbClr val="4C4C4C"/>
                </a:solidFill>
                <a:latin typeface="Open Sans"/>
              </a:rPr>
              <a:t>Anode</a:t>
            </a:r>
            <a:r>
              <a:rPr lang="en-US" sz="2400" b="1" dirty="0">
                <a:solidFill>
                  <a:srgbClr val="4C4C4C"/>
                </a:solidFill>
                <a:latin typeface="Open Sans"/>
              </a:rPr>
              <a:t> + 0 </a:t>
            </a:r>
          </a:p>
          <a:p>
            <a:pPr lvl="0" algn="just" eaLnBrk="0" fontAlgn="base" hangingPunct="0">
              <a:spcBef>
                <a:spcPct val="0"/>
              </a:spcBef>
              <a:spcAft>
                <a:spcPct val="0"/>
              </a:spcAft>
            </a:pPr>
            <a:r>
              <a:rPr lang="en-US" sz="2400" b="1" dirty="0" err="1">
                <a:solidFill>
                  <a:srgbClr val="4C4C4C"/>
                </a:solidFill>
                <a:latin typeface="Open Sans"/>
              </a:rPr>
              <a:t>E</a:t>
            </a:r>
            <a:r>
              <a:rPr lang="en-US" sz="2400" b="1" baseline="30000" dirty="0" err="1">
                <a:solidFill>
                  <a:srgbClr val="4C4C4C"/>
                </a:solidFill>
                <a:latin typeface="Open Sans"/>
              </a:rPr>
              <a:t>o</a:t>
            </a:r>
            <a:r>
              <a:rPr lang="en-US" sz="2400" b="1" baseline="-30000" dirty="0" err="1">
                <a:solidFill>
                  <a:srgbClr val="4C4C4C"/>
                </a:solidFill>
                <a:latin typeface="Open Sans"/>
              </a:rPr>
              <a:t>Anode</a:t>
            </a:r>
            <a:r>
              <a:rPr lang="en-US" sz="2400" b="1" dirty="0">
                <a:solidFill>
                  <a:srgbClr val="4C4C4C"/>
                </a:solidFill>
                <a:latin typeface="Open Sans"/>
              </a:rPr>
              <a:t> = +0.76 V</a:t>
            </a:r>
            <a:endParaRPr lang="en-US" sz="2400" b="1" dirty="0">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18.4 Standard Electrode Potential PowerPoint Presentation, Free ..."/>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NERNST EQUATION </a:t>
            </a:r>
          </a:p>
        </p:txBody>
      </p:sp>
      <p:graphicFrame>
        <p:nvGraphicFramePr>
          <p:cNvPr id="1026" name="Object 9"/>
          <p:cNvGraphicFramePr>
            <a:graphicFrameLocks noGrp="1" noChangeAspect="1"/>
          </p:cNvGraphicFramePr>
          <p:nvPr>
            <p:ph idx="1"/>
          </p:nvPr>
        </p:nvGraphicFramePr>
        <p:xfrm>
          <a:off x="381000" y="4375150"/>
          <a:ext cx="2819400" cy="1460500"/>
        </p:xfrm>
        <a:graphic>
          <a:graphicData uri="http://schemas.openxmlformats.org/presentationml/2006/ole">
            <mc:AlternateContent xmlns:mc="http://schemas.openxmlformats.org/markup-compatibility/2006">
              <mc:Choice xmlns:v="urn:schemas-microsoft-com:vml" Requires="v">
                <p:oleObj name="Equation" r:id="rId2" imgW="1765080" imgH="914400" progId="">
                  <p:embed/>
                </p:oleObj>
              </mc:Choice>
              <mc:Fallback>
                <p:oleObj name="Equation" r:id="rId2" imgW="1765080" imgH="914400" progId="">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375150"/>
                        <a:ext cx="2819400" cy="1460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p:cNvSpPr/>
          <p:nvPr/>
        </p:nvSpPr>
        <p:spPr>
          <a:xfrm>
            <a:off x="300990" y="1295400"/>
            <a:ext cx="8382000" cy="1200329"/>
          </a:xfrm>
          <a:prstGeom prst="rect">
            <a:avLst/>
          </a:prstGeom>
        </p:spPr>
        <p:txBody>
          <a:bodyPr wrap="square">
            <a:spAutoFit/>
          </a:bodyPr>
          <a:lstStyle/>
          <a:p>
            <a:pPr marL="112713" lvl="1" indent="-49213" algn="just">
              <a:buSzPct val="60000"/>
              <a:buFont typeface="Wingdings" pitchFamily="2" charset="2"/>
              <a:buNone/>
            </a:pPr>
            <a:r>
              <a:rPr lang="en-US" sz="2400" dirty="0">
                <a:latin typeface="Arial" pitchFamily="34" charset="0"/>
                <a:cs typeface="Arial" pitchFamily="34" charset="0"/>
                <a:sym typeface="Wingdings" pitchFamily="2" charset="2"/>
              </a:rPr>
              <a:t>Reduction Potential under </a:t>
            </a:r>
            <a:r>
              <a:rPr lang="en-US" sz="2400" i="1" dirty="0">
                <a:latin typeface="Arial" pitchFamily="34" charset="0"/>
                <a:cs typeface="Arial" pitchFamily="34" charset="0"/>
                <a:sym typeface="Wingdings" pitchFamily="2" charset="2"/>
              </a:rPr>
              <a:t>Non-standard</a:t>
            </a:r>
            <a:r>
              <a:rPr lang="en-US" sz="2400" dirty="0">
                <a:latin typeface="Arial" pitchFamily="34" charset="0"/>
                <a:cs typeface="Arial" pitchFamily="34" charset="0"/>
                <a:sym typeface="Wingdings" pitchFamily="2" charset="2"/>
              </a:rPr>
              <a:t> Conditions</a:t>
            </a:r>
            <a:r>
              <a:rPr lang="en-US" sz="2400" i="1" dirty="0">
                <a:latin typeface="Arial" pitchFamily="34" charset="0"/>
                <a:cs typeface="Arial" pitchFamily="34" charset="0"/>
                <a:sym typeface="Wingdings" pitchFamily="2" charset="2"/>
              </a:rPr>
              <a:t> is  </a:t>
            </a:r>
            <a:r>
              <a:rPr lang="en-US" sz="2400" dirty="0">
                <a:latin typeface="Arial" pitchFamily="34" charset="0"/>
                <a:cs typeface="Arial" pitchFamily="34" charset="0"/>
                <a:sym typeface="Wingdings" pitchFamily="2" charset="2"/>
              </a:rPr>
              <a:t>determined using </a:t>
            </a:r>
            <a:r>
              <a:rPr lang="en-US" sz="2400" i="1" dirty="0">
                <a:latin typeface="Arial" pitchFamily="34" charset="0"/>
                <a:cs typeface="Arial" pitchFamily="34" charset="0"/>
                <a:sym typeface="Wingdings" pitchFamily="2" charset="2"/>
              </a:rPr>
              <a:t>Nernst Equation when </a:t>
            </a:r>
            <a:r>
              <a:rPr lang="en-US" sz="2400" dirty="0">
                <a:latin typeface="Arial" pitchFamily="34" charset="0"/>
                <a:cs typeface="Arial" pitchFamily="34" charset="0"/>
                <a:sym typeface="Wingdings" pitchFamily="2" charset="2"/>
              </a:rPr>
              <a:t>Concentrations not-equal to 1M.</a:t>
            </a:r>
          </a:p>
        </p:txBody>
      </p:sp>
      <p:sp>
        <p:nvSpPr>
          <p:cNvPr id="6" name="Rectangle 5"/>
          <p:cNvSpPr/>
          <p:nvPr/>
        </p:nvSpPr>
        <p:spPr>
          <a:xfrm>
            <a:off x="3657600" y="3048000"/>
            <a:ext cx="4876800" cy="3323987"/>
          </a:xfrm>
          <a:prstGeom prst="rect">
            <a:avLst/>
          </a:prstGeom>
        </p:spPr>
        <p:txBody>
          <a:bodyPr wrap="square">
            <a:spAutoFit/>
          </a:bodyPr>
          <a:lstStyle/>
          <a:p>
            <a:pPr>
              <a:lnSpc>
                <a:spcPct val="150000"/>
              </a:lnSpc>
            </a:pPr>
            <a:r>
              <a:rPr lang="en-US" sz="2000" b="1" u="sng" dirty="0"/>
              <a:t>where:</a:t>
            </a:r>
            <a:r>
              <a:rPr lang="en-US" sz="2000" b="1" dirty="0">
                <a:solidFill>
                  <a:srgbClr val="CC3300"/>
                </a:solidFill>
              </a:rPr>
              <a:t>	</a:t>
            </a:r>
          </a:p>
          <a:p>
            <a:pPr>
              <a:lnSpc>
                <a:spcPct val="150000"/>
              </a:lnSpc>
            </a:pPr>
            <a:r>
              <a:rPr lang="en-US" sz="2000" b="1" dirty="0">
                <a:solidFill>
                  <a:srgbClr val="CC3300"/>
                </a:solidFill>
              </a:rPr>
              <a:t>E = actual ½ cell reduction potential</a:t>
            </a:r>
          </a:p>
          <a:p>
            <a:pPr>
              <a:lnSpc>
                <a:spcPct val="150000"/>
              </a:lnSpc>
            </a:pPr>
            <a:r>
              <a:rPr lang="en-US" sz="2000" b="1" dirty="0" err="1">
                <a:solidFill>
                  <a:srgbClr val="CC3300"/>
                </a:solidFill>
              </a:rPr>
              <a:t>E</a:t>
            </a:r>
            <a:r>
              <a:rPr lang="en-US" sz="2000" b="1" baseline="30000" dirty="0" err="1">
                <a:solidFill>
                  <a:srgbClr val="CC3300"/>
                </a:solidFill>
              </a:rPr>
              <a:t>o</a:t>
            </a:r>
            <a:r>
              <a:rPr lang="en-US" sz="2000" b="1" baseline="30000" dirty="0">
                <a:solidFill>
                  <a:srgbClr val="CC3300"/>
                </a:solidFill>
              </a:rPr>
              <a:t> </a:t>
            </a:r>
            <a:r>
              <a:rPr lang="en-US" sz="2000" b="1" dirty="0">
                <a:solidFill>
                  <a:srgbClr val="CC3300"/>
                </a:solidFill>
              </a:rPr>
              <a:t>= standard ½ cell reduction potential</a:t>
            </a:r>
          </a:p>
          <a:p>
            <a:pPr>
              <a:lnSpc>
                <a:spcPct val="150000"/>
              </a:lnSpc>
            </a:pPr>
            <a:r>
              <a:rPr lang="en-US" sz="2000" b="1" dirty="0">
                <a:solidFill>
                  <a:srgbClr val="CC3300"/>
                </a:solidFill>
              </a:rPr>
              <a:t>n = number of electrons in reaction</a:t>
            </a:r>
          </a:p>
          <a:p>
            <a:pPr>
              <a:lnSpc>
                <a:spcPct val="150000"/>
              </a:lnSpc>
            </a:pPr>
            <a:r>
              <a:rPr lang="en-US" sz="2000" b="1" dirty="0">
                <a:solidFill>
                  <a:srgbClr val="CC3300"/>
                </a:solidFill>
              </a:rPr>
              <a:t>T = temperature (K)</a:t>
            </a:r>
          </a:p>
          <a:p>
            <a:pPr>
              <a:lnSpc>
                <a:spcPct val="150000"/>
              </a:lnSpc>
            </a:pPr>
            <a:r>
              <a:rPr lang="en-US" sz="2000" b="1" dirty="0">
                <a:solidFill>
                  <a:srgbClr val="CC3300"/>
                </a:solidFill>
              </a:rPr>
              <a:t>R = ideal gas constant (8.314J/(K-mol)</a:t>
            </a:r>
          </a:p>
          <a:p>
            <a:pPr>
              <a:lnSpc>
                <a:spcPct val="150000"/>
              </a:lnSpc>
            </a:pPr>
            <a:r>
              <a:rPr lang="en-US" sz="2000" b="1" dirty="0">
                <a:solidFill>
                  <a:srgbClr val="CC3300"/>
                </a:solidFill>
              </a:rPr>
              <a:t>F = Faraday’s constant (96500 C/mol)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itchFamily="34" charset="0"/>
                <a:cs typeface="Arial" pitchFamily="34" charset="0"/>
              </a:rPr>
              <a:t>Nernst Equation for a cell</a:t>
            </a:r>
            <a:endParaRPr lang="en-IN" b="1" dirty="0"/>
          </a:p>
        </p:txBody>
      </p:sp>
      <p:graphicFrame>
        <p:nvGraphicFramePr>
          <p:cNvPr id="2050" name="Object 9"/>
          <p:cNvGraphicFramePr>
            <a:graphicFrameLocks noGrp="1" noChangeAspect="1"/>
          </p:cNvGraphicFramePr>
          <p:nvPr>
            <p:ph idx="1"/>
          </p:nvPr>
        </p:nvGraphicFramePr>
        <p:xfrm>
          <a:off x="2868613" y="3643313"/>
          <a:ext cx="1828800" cy="914400"/>
        </p:xfrm>
        <a:graphic>
          <a:graphicData uri="http://schemas.openxmlformats.org/presentationml/2006/ole">
            <mc:AlternateContent xmlns:mc="http://schemas.openxmlformats.org/markup-compatibility/2006">
              <mc:Choice xmlns:v="urn:schemas-microsoft-com:vml" Requires="v">
                <p:oleObj name="Equation" r:id="rId2" imgW="1828800" imgH="914400" progId="">
                  <p:embed/>
                </p:oleObj>
              </mc:Choice>
              <mc:Fallback>
                <p:oleObj name="Equation" r:id="rId2" imgW="1828800" imgH="914400" progId="">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8613" y="3643313"/>
                        <a:ext cx="18288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p:cNvSpPr/>
          <p:nvPr/>
        </p:nvSpPr>
        <p:spPr>
          <a:xfrm>
            <a:off x="381000" y="1536174"/>
            <a:ext cx="8610600" cy="1938992"/>
          </a:xfrm>
          <a:prstGeom prst="rect">
            <a:avLst/>
          </a:prstGeom>
        </p:spPr>
        <p:txBody>
          <a:bodyPr wrap="square">
            <a:spAutoFit/>
          </a:bodyPr>
          <a:lstStyle/>
          <a:p>
            <a:pPr marL="0" lvl="1" indent="0" algn="just">
              <a:lnSpc>
                <a:spcPct val="150000"/>
              </a:lnSpc>
              <a:buSzPct val="60000"/>
              <a:buNone/>
            </a:pPr>
            <a:r>
              <a:rPr lang="en-US" sz="2000" dirty="0">
                <a:latin typeface="Arial" pitchFamily="34" charset="0"/>
                <a:cs typeface="Arial" pitchFamily="34" charset="0"/>
                <a:sym typeface="Wingdings" pitchFamily="2" charset="2"/>
              </a:rPr>
              <a:t>Reduction Potential under </a:t>
            </a:r>
            <a:r>
              <a:rPr lang="en-US" sz="2000" i="1" dirty="0">
                <a:latin typeface="Arial" pitchFamily="34" charset="0"/>
                <a:cs typeface="Arial" pitchFamily="34" charset="0"/>
                <a:sym typeface="Wingdings" pitchFamily="2" charset="2"/>
              </a:rPr>
              <a:t>Non-standard</a:t>
            </a:r>
            <a:r>
              <a:rPr lang="en-US" sz="2000" dirty="0">
                <a:latin typeface="Arial" pitchFamily="34" charset="0"/>
                <a:cs typeface="Arial" pitchFamily="34" charset="0"/>
                <a:sym typeface="Wingdings" pitchFamily="2" charset="2"/>
              </a:rPr>
              <a:t> Conditions</a:t>
            </a:r>
            <a:r>
              <a:rPr lang="en-US" sz="2000" i="1" dirty="0">
                <a:latin typeface="Arial" pitchFamily="34" charset="0"/>
                <a:cs typeface="Arial" pitchFamily="34" charset="0"/>
                <a:sym typeface="Wingdings" pitchFamily="2" charset="2"/>
              </a:rPr>
              <a:t> is  </a:t>
            </a:r>
            <a:r>
              <a:rPr lang="en-US" sz="2000" dirty="0">
                <a:latin typeface="Arial" pitchFamily="34" charset="0"/>
                <a:cs typeface="Arial" pitchFamily="34" charset="0"/>
                <a:sym typeface="Wingdings" pitchFamily="2" charset="2"/>
              </a:rPr>
              <a:t>determined using </a:t>
            </a:r>
            <a:r>
              <a:rPr lang="en-US" sz="2000" i="1" dirty="0">
                <a:latin typeface="Arial" pitchFamily="34" charset="0"/>
                <a:cs typeface="Arial" pitchFamily="34" charset="0"/>
                <a:sym typeface="Wingdings" pitchFamily="2" charset="2"/>
              </a:rPr>
              <a:t>Nernst Equation when </a:t>
            </a:r>
            <a:r>
              <a:rPr lang="en-US" sz="2000" dirty="0">
                <a:latin typeface="Arial" pitchFamily="34" charset="0"/>
                <a:cs typeface="Arial" pitchFamily="34" charset="0"/>
                <a:sym typeface="Wingdings" pitchFamily="2" charset="2"/>
              </a:rPr>
              <a:t>Concentrations not-equal to 1M. Thus For the cell,  </a:t>
            </a:r>
          </a:p>
          <a:p>
            <a:pPr marL="0" lvl="1" indent="0" algn="just">
              <a:lnSpc>
                <a:spcPct val="150000"/>
              </a:lnSpc>
              <a:buSzPct val="60000"/>
              <a:buNone/>
            </a:pPr>
            <a:r>
              <a:rPr lang="en-US" sz="2000" dirty="0">
                <a:latin typeface="Arial" pitchFamily="34" charset="0"/>
                <a:cs typeface="Arial" pitchFamily="34" charset="0"/>
                <a:sym typeface="Wingdings" pitchFamily="2" charset="2"/>
              </a:rPr>
              <a:t>Cu(s)I Cu</a:t>
            </a:r>
            <a:r>
              <a:rPr lang="en-US" sz="2000" baseline="30000" dirty="0">
                <a:latin typeface="Arial" pitchFamily="34" charset="0"/>
                <a:cs typeface="Arial" pitchFamily="34" charset="0"/>
                <a:sym typeface="Wingdings" pitchFamily="2" charset="2"/>
              </a:rPr>
              <a:t>2+</a:t>
            </a:r>
            <a:r>
              <a:rPr lang="en-US" sz="2000" dirty="0">
                <a:latin typeface="Arial" pitchFamily="34" charset="0"/>
                <a:cs typeface="Arial" pitchFamily="34" charset="0"/>
                <a:sym typeface="Wingdings" pitchFamily="2" charset="2"/>
              </a:rPr>
              <a:t>(</a:t>
            </a:r>
            <a:r>
              <a:rPr lang="en-US" sz="2000" dirty="0" err="1">
                <a:latin typeface="Arial" pitchFamily="34" charset="0"/>
                <a:cs typeface="Arial" pitchFamily="34" charset="0"/>
                <a:sym typeface="Wingdings" pitchFamily="2" charset="2"/>
              </a:rPr>
              <a:t>aq</a:t>
            </a:r>
            <a:r>
              <a:rPr lang="en-US" sz="2000" dirty="0">
                <a:latin typeface="Arial" pitchFamily="34" charset="0"/>
                <a:cs typeface="Arial" pitchFamily="34" charset="0"/>
                <a:sym typeface="Wingdings" pitchFamily="2" charset="2"/>
              </a:rPr>
              <a:t>)IIZn</a:t>
            </a:r>
            <a:r>
              <a:rPr lang="en-US" sz="2000" baseline="30000" dirty="0">
                <a:latin typeface="Arial" pitchFamily="34" charset="0"/>
                <a:cs typeface="Arial" pitchFamily="34" charset="0"/>
                <a:sym typeface="Wingdings" pitchFamily="2" charset="2"/>
              </a:rPr>
              <a:t>2+ </a:t>
            </a:r>
            <a:r>
              <a:rPr lang="en-US" sz="2000" dirty="0">
                <a:latin typeface="Arial" pitchFamily="34" charset="0"/>
                <a:cs typeface="Arial" pitchFamily="34" charset="0"/>
                <a:sym typeface="Wingdings" pitchFamily="2" charset="2"/>
              </a:rPr>
              <a:t>(</a:t>
            </a:r>
            <a:r>
              <a:rPr lang="en-US" sz="2000" dirty="0" err="1">
                <a:latin typeface="Arial" pitchFamily="34" charset="0"/>
                <a:cs typeface="Arial" pitchFamily="34" charset="0"/>
                <a:sym typeface="Wingdings" pitchFamily="2" charset="2"/>
              </a:rPr>
              <a:t>aq</a:t>
            </a:r>
            <a:r>
              <a:rPr lang="en-US" sz="2000" dirty="0">
                <a:latin typeface="Arial" pitchFamily="34" charset="0"/>
                <a:cs typeface="Arial" pitchFamily="34" charset="0"/>
                <a:sym typeface="Wingdings" pitchFamily="2" charset="2"/>
              </a:rPr>
              <a:t>)</a:t>
            </a:r>
            <a:r>
              <a:rPr lang="en-US" sz="2000" dirty="0" err="1">
                <a:latin typeface="Arial" pitchFamily="34" charset="0"/>
                <a:cs typeface="Arial" pitchFamily="34" charset="0"/>
                <a:sym typeface="Wingdings" pitchFamily="2" charset="2"/>
              </a:rPr>
              <a:t>IZn</a:t>
            </a:r>
            <a:r>
              <a:rPr lang="en-US" sz="2000" dirty="0">
                <a:latin typeface="Arial" pitchFamily="34" charset="0"/>
                <a:cs typeface="Arial" pitchFamily="34" charset="0"/>
                <a:sym typeface="Wingdings" pitchFamily="2" charset="2"/>
              </a:rPr>
              <a:t>(s)</a:t>
            </a:r>
            <a:endParaRPr lang="en-US" sz="2000" baseline="30000" dirty="0">
              <a:latin typeface="Arial" pitchFamily="34" charset="0"/>
              <a:cs typeface="Arial" pitchFamily="34" charset="0"/>
              <a:sym typeface="Wingdings" pitchFamily="2" charset="2"/>
            </a:endParaRPr>
          </a:p>
          <a:p>
            <a:pPr marL="0" lvl="1" indent="0" algn="just">
              <a:lnSpc>
                <a:spcPct val="150000"/>
              </a:lnSpc>
              <a:buSzPct val="60000"/>
              <a:buFont typeface="Wingdings" pitchFamily="2" charset="2"/>
              <a:buNone/>
            </a:pPr>
            <a:r>
              <a:rPr lang="en-US" sz="2000" dirty="0">
                <a:latin typeface="Arial" pitchFamily="34" charset="0"/>
                <a:cs typeface="Arial" pitchFamily="34" charset="0"/>
                <a:sym typeface="Wingdings" pitchFamily="2" charset="2"/>
              </a:rPr>
              <a:t>With cell reaction.	Cu</a:t>
            </a:r>
            <a:r>
              <a:rPr lang="en-US" sz="2000" baseline="30000" dirty="0">
                <a:latin typeface="Arial" pitchFamily="34" charset="0"/>
                <a:cs typeface="Arial" pitchFamily="34" charset="0"/>
                <a:sym typeface="Wingdings" pitchFamily="2" charset="2"/>
              </a:rPr>
              <a:t>2+</a:t>
            </a:r>
            <a:r>
              <a:rPr lang="en-US" sz="2000" dirty="0">
                <a:latin typeface="Arial" pitchFamily="34" charset="0"/>
                <a:cs typeface="Arial" pitchFamily="34" charset="0"/>
                <a:sym typeface="Wingdings" pitchFamily="2" charset="2"/>
              </a:rPr>
              <a:t> (</a:t>
            </a:r>
            <a:r>
              <a:rPr lang="en-US" sz="2000" dirty="0" err="1">
                <a:latin typeface="Arial" pitchFamily="34" charset="0"/>
                <a:cs typeface="Arial" pitchFamily="34" charset="0"/>
                <a:sym typeface="Wingdings" pitchFamily="2" charset="2"/>
              </a:rPr>
              <a:t>aq</a:t>
            </a:r>
            <a:r>
              <a:rPr lang="en-US" sz="2000" dirty="0">
                <a:latin typeface="Arial" pitchFamily="34" charset="0"/>
                <a:cs typeface="Arial" pitchFamily="34" charset="0"/>
                <a:sym typeface="Wingdings" pitchFamily="2" charset="2"/>
              </a:rPr>
              <a:t>)</a:t>
            </a:r>
            <a:r>
              <a:rPr lang="en-US" sz="2000" baseline="30000" dirty="0">
                <a:latin typeface="Arial" pitchFamily="34" charset="0"/>
                <a:cs typeface="Arial" pitchFamily="34" charset="0"/>
                <a:sym typeface="Wingdings" pitchFamily="2" charset="2"/>
              </a:rPr>
              <a:t> </a:t>
            </a:r>
            <a:r>
              <a:rPr lang="en-US" sz="2000" dirty="0">
                <a:latin typeface="Arial" pitchFamily="34" charset="0"/>
                <a:cs typeface="Arial" pitchFamily="34" charset="0"/>
                <a:sym typeface="Wingdings" pitchFamily="2" charset="2"/>
              </a:rPr>
              <a:t>+ Zn(s)                      Zn</a:t>
            </a:r>
            <a:r>
              <a:rPr lang="en-US" sz="2000" baseline="30000" dirty="0">
                <a:latin typeface="Arial" pitchFamily="34" charset="0"/>
                <a:cs typeface="Arial" pitchFamily="34" charset="0"/>
                <a:sym typeface="Wingdings" pitchFamily="2" charset="2"/>
              </a:rPr>
              <a:t>2+ </a:t>
            </a:r>
            <a:r>
              <a:rPr lang="en-US" sz="2000" dirty="0">
                <a:latin typeface="Arial" pitchFamily="34" charset="0"/>
                <a:cs typeface="Arial" pitchFamily="34" charset="0"/>
                <a:sym typeface="Wingdings" pitchFamily="2" charset="2"/>
              </a:rPr>
              <a:t>(</a:t>
            </a:r>
            <a:r>
              <a:rPr lang="en-US" sz="2000" dirty="0" err="1">
                <a:latin typeface="Arial" pitchFamily="34" charset="0"/>
                <a:cs typeface="Arial" pitchFamily="34" charset="0"/>
                <a:sym typeface="Wingdings" pitchFamily="2" charset="2"/>
              </a:rPr>
              <a:t>aq</a:t>
            </a:r>
            <a:r>
              <a:rPr lang="en-US" sz="2000" dirty="0">
                <a:latin typeface="Arial" pitchFamily="34" charset="0"/>
                <a:cs typeface="Arial" pitchFamily="34" charset="0"/>
                <a:sym typeface="Wingdings" pitchFamily="2" charset="2"/>
              </a:rPr>
              <a:t>) +Cu(s)</a:t>
            </a:r>
          </a:p>
        </p:txBody>
      </p:sp>
      <p:cxnSp>
        <p:nvCxnSpPr>
          <p:cNvPr id="7" name="Straight Arrow Connector 6"/>
          <p:cNvCxnSpPr/>
          <p:nvPr/>
        </p:nvCxnSpPr>
        <p:spPr>
          <a:xfrm>
            <a:off x="5334000" y="3200400"/>
            <a:ext cx="1066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ppt_x"/>
                                          </p:val>
                                        </p:tav>
                                        <p:tav tm="100000">
                                          <p:val>
                                            <p:strVal val="#ppt_x"/>
                                          </p:val>
                                        </p:tav>
                                      </p:tavLst>
                                    </p:anim>
                                    <p:anim calcmode="lin" valueType="num">
                                      <p:cBhvr additive="base">
                                        <p:cTn id="8"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NERNST EQUATION......</a:t>
            </a:r>
          </a:p>
        </p:txBody>
      </p:sp>
      <p:graphicFrame>
        <p:nvGraphicFramePr>
          <p:cNvPr id="3074" name="Object 6"/>
          <p:cNvGraphicFramePr>
            <a:graphicFrameLocks noGrp="1" noChangeAspect="1"/>
          </p:cNvGraphicFramePr>
          <p:nvPr>
            <p:ph idx="1"/>
          </p:nvPr>
        </p:nvGraphicFramePr>
        <p:xfrm>
          <a:off x="838200" y="1414463"/>
          <a:ext cx="3886200" cy="828675"/>
        </p:xfrm>
        <a:graphic>
          <a:graphicData uri="http://schemas.openxmlformats.org/presentationml/2006/ole">
            <mc:AlternateContent xmlns:mc="http://schemas.openxmlformats.org/markup-compatibility/2006">
              <mc:Choice xmlns:v="urn:schemas-microsoft-com:vml" Requires="v">
                <p:oleObj name="Equation" r:id="rId2" imgW="2082600" imgH="444240" progId="">
                  <p:embed/>
                </p:oleObj>
              </mc:Choice>
              <mc:Fallback>
                <p:oleObj name="Equation" r:id="rId2" imgW="2082600" imgH="444240" progId="">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414463"/>
                        <a:ext cx="3886200" cy="828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p:cNvSpPr/>
          <p:nvPr/>
        </p:nvSpPr>
        <p:spPr>
          <a:xfrm>
            <a:off x="381000" y="2514600"/>
            <a:ext cx="4038600" cy="461665"/>
          </a:xfrm>
          <a:prstGeom prst="rect">
            <a:avLst/>
          </a:prstGeom>
        </p:spPr>
        <p:txBody>
          <a:bodyPr wrap="square">
            <a:spAutoFit/>
          </a:bodyPr>
          <a:lstStyle/>
          <a:p>
            <a:pPr>
              <a:buClr>
                <a:srgbClr val="CC3300"/>
              </a:buClr>
              <a:buFont typeface="Wingdings" pitchFamily="2" charset="2"/>
              <a:buNone/>
            </a:pPr>
            <a:r>
              <a:rPr lang="en-US" dirty="0">
                <a:solidFill>
                  <a:schemeClr val="accent2"/>
                </a:solidFill>
              </a:rPr>
              <a:t> </a:t>
            </a:r>
            <a:r>
              <a:rPr lang="en-US" sz="2400" dirty="0"/>
              <a:t>At </a:t>
            </a:r>
            <a:r>
              <a:rPr lang="en-US" sz="2400" dirty="0">
                <a:latin typeface="Arial" pitchFamily="34" charset="0"/>
                <a:cs typeface="Arial" pitchFamily="34" charset="0"/>
              </a:rPr>
              <a:t>equilibrium</a:t>
            </a:r>
            <a:r>
              <a:rPr lang="en-US" sz="2400" dirty="0"/>
              <a:t> </a:t>
            </a:r>
            <a:r>
              <a:rPr lang="en-US" sz="2400" dirty="0" err="1"/>
              <a:t>E</a:t>
            </a:r>
            <a:r>
              <a:rPr lang="en-US" sz="2400" baseline="-25000" dirty="0" err="1"/>
              <a:t>cell</a:t>
            </a:r>
            <a:r>
              <a:rPr lang="en-US" sz="2400" dirty="0"/>
              <a:t> =0: </a:t>
            </a:r>
          </a:p>
        </p:txBody>
      </p:sp>
      <p:graphicFrame>
        <p:nvGraphicFramePr>
          <p:cNvPr id="481289" name="Object 9"/>
          <p:cNvGraphicFramePr>
            <a:graphicFrameLocks noChangeAspect="1"/>
          </p:cNvGraphicFramePr>
          <p:nvPr/>
        </p:nvGraphicFramePr>
        <p:xfrm>
          <a:off x="2438400" y="3200400"/>
          <a:ext cx="3008313" cy="812800"/>
        </p:xfrm>
        <a:graphic>
          <a:graphicData uri="http://schemas.openxmlformats.org/presentationml/2006/ole">
            <mc:AlternateContent xmlns:mc="http://schemas.openxmlformats.org/markup-compatibility/2006">
              <mc:Choice xmlns:v="urn:schemas-microsoft-com:vml" Requires="v">
                <p:oleObj name="Equation" r:id="rId4" imgW="1384200" imgH="393480" progId="">
                  <p:embed/>
                </p:oleObj>
              </mc:Choice>
              <mc:Fallback>
                <p:oleObj name="Equation" r:id="rId4" imgW="1384200" imgH="393480" progId="">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8400" y="3200400"/>
                        <a:ext cx="3008313" cy="812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p:cNvSpPr/>
          <p:nvPr/>
        </p:nvSpPr>
        <p:spPr>
          <a:xfrm>
            <a:off x="152400" y="4114800"/>
            <a:ext cx="8839200" cy="2308324"/>
          </a:xfrm>
          <a:prstGeom prst="rect">
            <a:avLst/>
          </a:prstGeom>
        </p:spPr>
        <p:txBody>
          <a:bodyPr wrap="square">
            <a:spAutoFit/>
          </a:bodyPr>
          <a:lstStyle/>
          <a:p>
            <a:pPr>
              <a:spcBef>
                <a:spcPct val="0"/>
              </a:spcBef>
            </a:pPr>
            <a:r>
              <a:rPr lang="en-US" sz="2400" dirty="0">
                <a:latin typeface="Arial" pitchFamily="34" charset="0"/>
                <a:cs typeface="Arial" pitchFamily="34" charset="0"/>
              </a:rPr>
              <a:t>The value of  </a:t>
            </a:r>
            <a:r>
              <a:rPr lang="en-US" sz="2400" i="1" dirty="0" err="1">
                <a:latin typeface="Arial" pitchFamily="34" charset="0"/>
                <a:cs typeface="Arial" pitchFamily="34" charset="0"/>
              </a:rPr>
              <a:t>E</a:t>
            </a:r>
            <a:r>
              <a:rPr lang="en-US" sz="2400" dirty="0" err="1">
                <a:latin typeface="Arial" pitchFamily="34" charset="0"/>
                <a:cs typeface="Arial" pitchFamily="34" charset="0"/>
              </a:rPr>
              <a:t>˚</a:t>
            </a:r>
            <a:r>
              <a:rPr lang="en-US" sz="2400" baseline="-25000" dirty="0" err="1">
                <a:latin typeface="Arial" pitchFamily="34" charset="0"/>
                <a:cs typeface="Arial" pitchFamily="34" charset="0"/>
              </a:rPr>
              <a:t>cell</a:t>
            </a:r>
            <a:r>
              <a:rPr lang="en-US" sz="2400" dirty="0">
                <a:latin typeface="Arial" pitchFamily="34" charset="0"/>
                <a:cs typeface="Arial" pitchFamily="34" charset="0"/>
              </a:rPr>
              <a:t> is related to Gibbs free energy, ∆</a:t>
            </a:r>
            <a:r>
              <a:rPr lang="en-US" sz="2400" i="1" dirty="0">
                <a:latin typeface="Arial" pitchFamily="34" charset="0"/>
                <a:cs typeface="Arial" pitchFamily="34" charset="0"/>
              </a:rPr>
              <a:t>G</a:t>
            </a:r>
            <a:r>
              <a:rPr lang="en-US" sz="2400" dirty="0">
                <a:latin typeface="Arial" pitchFamily="34" charset="0"/>
                <a:cs typeface="Arial" pitchFamily="34" charset="0"/>
              </a:rPr>
              <a:t>˚ by:</a:t>
            </a:r>
          </a:p>
          <a:p>
            <a:pPr lvl="1" algn="ctr">
              <a:lnSpc>
                <a:spcPct val="150000"/>
              </a:lnSpc>
              <a:spcBef>
                <a:spcPct val="0"/>
              </a:spcBef>
            </a:pPr>
            <a:r>
              <a:rPr lang="en-US" sz="2400" dirty="0">
                <a:latin typeface="Arial" pitchFamily="34" charset="0"/>
                <a:cs typeface="Arial" pitchFamily="34" charset="0"/>
              </a:rPr>
              <a:t>∆</a:t>
            </a:r>
            <a:r>
              <a:rPr lang="en-US" sz="2400" i="1" dirty="0">
                <a:latin typeface="Arial" pitchFamily="34" charset="0"/>
                <a:cs typeface="Arial" pitchFamily="34" charset="0"/>
              </a:rPr>
              <a:t>G</a:t>
            </a:r>
            <a:r>
              <a:rPr lang="en-US" sz="2400" dirty="0">
                <a:latin typeface="Arial" pitchFamily="34" charset="0"/>
                <a:cs typeface="Arial" pitchFamily="34" charset="0"/>
              </a:rPr>
              <a:t>˚ = –</a:t>
            </a:r>
            <a:r>
              <a:rPr lang="en-US" sz="2400" i="1" dirty="0" err="1">
                <a:latin typeface="Arial" pitchFamily="34" charset="0"/>
                <a:cs typeface="Arial" pitchFamily="34" charset="0"/>
              </a:rPr>
              <a:t>nFE</a:t>
            </a:r>
            <a:r>
              <a:rPr lang="en-US" sz="2400" dirty="0" err="1">
                <a:latin typeface="Arial" pitchFamily="34" charset="0"/>
                <a:cs typeface="Arial" pitchFamily="34" charset="0"/>
              </a:rPr>
              <a:t>˚</a:t>
            </a:r>
            <a:r>
              <a:rPr lang="en-US" sz="2400" baseline="-25000" dirty="0" err="1">
                <a:latin typeface="Arial" pitchFamily="34" charset="0"/>
                <a:cs typeface="Arial" pitchFamily="34" charset="0"/>
              </a:rPr>
              <a:t>cell</a:t>
            </a:r>
            <a:endParaRPr lang="en-US" sz="2400" baseline="-25000" dirty="0">
              <a:latin typeface="Arial" pitchFamily="34" charset="0"/>
              <a:cs typeface="Arial" pitchFamily="34" charset="0"/>
            </a:endParaRPr>
          </a:p>
          <a:p>
            <a:pPr>
              <a:spcBef>
                <a:spcPct val="0"/>
              </a:spcBef>
            </a:pPr>
            <a:endParaRPr lang="en-US" sz="2400" dirty="0">
              <a:latin typeface="Arial" pitchFamily="34" charset="0"/>
              <a:cs typeface="Arial" pitchFamily="34" charset="0"/>
            </a:endParaRPr>
          </a:p>
          <a:p>
            <a:pPr>
              <a:spcBef>
                <a:spcPct val="0"/>
              </a:spcBef>
            </a:pPr>
            <a:r>
              <a:rPr lang="en-US" sz="2400" dirty="0">
                <a:latin typeface="Arial" pitchFamily="34" charset="0"/>
                <a:cs typeface="Arial" pitchFamily="34" charset="0"/>
              </a:rPr>
              <a:t>The value of Equilibrium constant,  </a:t>
            </a:r>
            <a:r>
              <a:rPr lang="en-US" sz="2400" i="1" dirty="0">
                <a:latin typeface="Arial" pitchFamily="34" charset="0"/>
                <a:cs typeface="Arial" pitchFamily="34" charset="0"/>
              </a:rPr>
              <a:t>K</a:t>
            </a:r>
            <a:r>
              <a:rPr lang="en-US" sz="2400" dirty="0">
                <a:latin typeface="Arial" pitchFamily="34" charset="0"/>
                <a:cs typeface="Arial" pitchFamily="34" charset="0"/>
              </a:rPr>
              <a:t> is related to ∆</a:t>
            </a:r>
            <a:r>
              <a:rPr lang="en-US" sz="2400" i="1" dirty="0">
                <a:latin typeface="Arial" pitchFamily="34" charset="0"/>
                <a:cs typeface="Arial" pitchFamily="34" charset="0"/>
              </a:rPr>
              <a:t>G</a:t>
            </a:r>
            <a:r>
              <a:rPr lang="en-US" sz="2400" dirty="0">
                <a:latin typeface="Arial" pitchFamily="34" charset="0"/>
                <a:cs typeface="Arial" pitchFamily="34" charset="0"/>
              </a:rPr>
              <a:t>˚ by:</a:t>
            </a:r>
          </a:p>
          <a:p>
            <a:pPr lvl="1" algn="ctr">
              <a:lnSpc>
                <a:spcPct val="150000"/>
              </a:lnSpc>
              <a:spcBef>
                <a:spcPct val="0"/>
              </a:spcBef>
            </a:pPr>
            <a:r>
              <a:rPr lang="en-US" sz="2400" dirty="0">
                <a:latin typeface="Arial" pitchFamily="34" charset="0"/>
                <a:cs typeface="Arial" pitchFamily="34" charset="0"/>
              </a:rPr>
              <a:t>∆</a:t>
            </a:r>
            <a:r>
              <a:rPr lang="en-US" sz="2400" i="1" dirty="0">
                <a:latin typeface="Arial" pitchFamily="34" charset="0"/>
                <a:cs typeface="Arial" pitchFamily="34" charset="0"/>
              </a:rPr>
              <a:t>G</a:t>
            </a:r>
            <a:r>
              <a:rPr lang="en-US" sz="2400" dirty="0">
                <a:latin typeface="Arial" pitchFamily="34" charset="0"/>
                <a:cs typeface="Arial" pitchFamily="34" charset="0"/>
              </a:rPr>
              <a:t>˚ = –2.303</a:t>
            </a:r>
            <a:r>
              <a:rPr lang="en-US" sz="2400" i="1" dirty="0">
                <a:latin typeface="Arial" pitchFamily="34" charset="0"/>
                <a:cs typeface="Arial" pitchFamily="34" charset="0"/>
              </a:rPr>
              <a:t>RT</a:t>
            </a:r>
            <a:r>
              <a:rPr lang="en-US" sz="2400" dirty="0">
                <a:latin typeface="Arial" pitchFamily="34" charset="0"/>
                <a:cs typeface="Arial" pitchFamily="34" charset="0"/>
              </a:rPr>
              <a:t> </a:t>
            </a:r>
            <a:r>
              <a:rPr lang="en-US" sz="2400" dirty="0" err="1">
                <a:latin typeface="Arial" pitchFamily="34" charset="0"/>
                <a:cs typeface="Arial" pitchFamily="34" charset="0"/>
              </a:rPr>
              <a:t>log</a:t>
            </a:r>
            <a:r>
              <a:rPr lang="en-US" sz="2400" i="1" dirty="0" err="1">
                <a:latin typeface="Arial" pitchFamily="34" charset="0"/>
                <a:cs typeface="Arial" pitchFamily="34" charset="0"/>
              </a:rPr>
              <a:t>K</a:t>
            </a:r>
            <a:endParaRPr lang="en-US" sz="2400" i="1" dirty="0">
              <a:latin typeface="Arial" pitchFamily="34" charset="0"/>
              <a:cs typeface="Arial"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normAutofit fontScale="90000"/>
          </a:bodyPr>
          <a:lstStyle/>
          <a:p>
            <a:br>
              <a:rPr lang="en-US" dirty="0"/>
            </a:br>
            <a:endParaRPr lang="en-IN" dirty="0"/>
          </a:p>
        </p:txBody>
      </p:sp>
      <p:sp>
        <p:nvSpPr>
          <p:cNvPr id="4" name="Rectangle 3"/>
          <p:cNvSpPr/>
          <p:nvPr/>
        </p:nvSpPr>
        <p:spPr>
          <a:xfrm>
            <a:off x="381000" y="228600"/>
            <a:ext cx="8077200" cy="1200329"/>
          </a:xfrm>
          <a:prstGeom prst="rect">
            <a:avLst/>
          </a:prstGeom>
        </p:spPr>
        <p:txBody>
          <a:bodyPr wrap="square">
            <a:spAutoFit/>
          </a:bodyPr>
          <a:lstStyle/>
          <a:p>
            <a:r>
              <a:rPr lang="en-US" sz="3600" b="1" dirty="0"/>
              <a:t>EQUILIBRIUM CONSTANT AND GIBB’S FREE ENERGY FROM NERNST EQUATION</a:t>
            </a:r>
            <a:endParaRPr lang="en-IN" sz="3600" b="1" dirty="0"/>
          </a:p>
        </p:txBody>
      </p:sp>
      <p:sp>
        <p:nvSpPr>
          <p:cNvPr id="5" name="Rectangle 4"/>
          <p:cNvSpPr/>
          <p:nvPr/>
        </p:nvSpPr>
        <p:spPr>
          <a:xfrm>
            <a:off x="228600" y="1582341"/>
            <a:ext cx="8686800" cy="4431983"/>
          </a:xfrm>
          <a:prstGeom prst="rect">
            <a:avLst/>
          </a:prstGeom>
        </p:spPr>
        <p:txBody>
          <a:bodyPr wrap="square">
            <a:spAutoFit/>
          </a:bodyPr>
          <a:lstStyle/>
          <a:p>
            <a:r>
              <a:rPr lang="en-US" sz="2400" dirty="0"/>
              <a:t>At equilibrium </a:t>
            </a:r>
            <a:r>
              <a:rPr lang="en-US" sz="2400" dirty="0" err="1"/>
              <a:t>Ecell</a:t>
            </a:r>
            <a:r>
              <a:rPr lang="en-US" sz="2400" dirty="0"/>
              <a:t> = 0 </a:t>
            </a:r>
          </a:p>
          <a:p>
            <a:r>
              <a:rPr lang="en-US" sz="2400" dirty="0"/>
              <a:t>  </a:t>
            </a:r>
          </a:p>
          <a:p>
            <a:r>
              <a:rPr lang="en-US" sz="2400" dirty="0"/>
              <a:t>There fore       E</a:t>
            </a:r>
            <a:r>
              <a:rPr lang="en-US" sz="2400" baseline="30000" dirty="0"/>
              <a:t>0</a:t>
            </a:r>
            <a:r>
              <a:rPr lang="en-US" sz="2400" dirty="0"/>
              <a:t>cell = 0.059/n log </a:t>
            </a:r>
            <a:r>
              <a:rPr lang="en-US" sz="2400" dirty="0" err="1"/>
              <a:t>Kc</a:t>
            </a:r>
            <a:endParaRPr lang="en-US" sz="2400" dirty="0"/>
          </a:p>
          <a:p>
            <a:r>
              <a:rPr lang="en-US" sz="2400" dirty="0"/>
              <a:t>                           </a:t>
            </a:r>
          </a:p>
          <a:p>
            <a:r>
              <a:rPr lang="en-US" sz="2400" dirty="0"/>
              <a:t>                          log </a:t>
            </a:r>
            <a:r>
              <a:rPr lang="en-US" sz="2400" dirty="0" err="1"/>
              <a:t>Kc</a:t>
            </a:r>
            <a:r>
              <a:rPr lang="en-US" sz="2400" dirty="0"/>
              <a:t>= E</a:t>
            </a:r>
            <a:r>
              <a:rPr lang="en-US" sz="2400" baseline="30000" dirty="0"/>
              <a:t>0</a:t>
            </a:r>
            <a:r>
              <a:rPr lang="en-US" sz="2400" dirty="0"/>
              <a:t>cellX n/0.059</a:t>
            </a:r>
          </a:p>
          <a:p>
            <a:r>
              <a:rPr lang="en-US" sz="2400" dirty="0"/>
              <a:t>    </a:t>
            </a:r>
          </a:p>
          <a:p>
            <a:endParaRPr lang="en-US" sz="2400" dirty="0"/>
          </a:p>
          <a:p>
            <a:r>
              <a:rPr lang="en-US" sz="2400" dirty="0"/>
              <a:t>                           </a:t>
            </a:r>
            <a:r>
              <a:rPr lang="en-US" sz="2400" dirty="0">
                <a:sym typeface="Symbol" panose="05050102010706020507" pitchFamily="18" charset="2"/>
              </a:rPr>
              <a:t></a:t>
            </a:r>
            <a:r>
              <a:rPr lang="en-US" sz="2400" baseline="30000" dirty="0"/>
              <a:t>0</a:t>
            </a:r>
            <a:r>
              <a:rPr lang="en-US" sz="2400" i="1" dirty="0"/>
              <a:t>rG  </a:t>
            </a:r>
            <a:r>
              <a:rPr lang="en-US" sz="2400" dirty="0"/>
              <a:t>= – </a:t>
            </a:r>
            <a:r>
              <a:rPr lang="en-US" sz="2400" i="1" dirty="0"/>
              <a:t>nFE</a:t>
            </a:r>
            <a:r>
              <a:rPr lang="en-US" sz="2400" i="1" baseline="30000" dirty="0"/>
              <a:t>0</a:t>
            </a:r>
            <a:r>
              <a:rPr lang="en-US" sz="2400" baseline="30000" dirty="0"/>
              <a:t>(</a:t>
            </a:r>
            <a:r>
              <a:rPr lang="en-US" sz="2400" dirty="0"/>
              <a:t>cell)</a:t>
            </a:r>
          </a:p>
          <a:p>
            <a:r>
              <a:rPr lang="en-US" sz="2400" dirty="0"/>
              <a:t>    </a:t>
            </a:r>
          </a:p>
          <a:p>
            <a:r>
              <a:rPr lang="en-US" sz="2400" dirty="0"/>
              <a:t>                       Where </a:t>
            </a:r>
            <a:r>
              <a:rPr lang="en-US" sz="2400" dirty="0">
                <a:sym typeface="Symbol" panose="05050102010706020507" pitchFamily="18" charset="2"/>
              </a:rPr>
              <a:t></a:t>
            </a:r>
            <a:r>
              <a:rPr lang="en-US" sz="2400" baseline="30000" dirty="0"/>
              <a:t>0</a:t>
            </a:r>
            <a:r>
              <a:rPr lang="en-US" sz="2400" i="1" dirty="0"/>
              <a:t>rG  is standard Gibb’s free energy of reaction and E</a:t>
            </a:r>
            <a:r>
              <a:rPr lang="en-US" sz="2400" i="1" baseline="30000" dirty="0"/>
              <a:t>0</a:t>
            </a:r>
            <a:r>
              <a:rPr lang="en-US" sz="2400" baseline="30000" dirty="0"/>
              <a:t>(</a:t>
            </a:r>
            <a:r>
              <a:rPr lang="en-US" sz="2400" dirty="0"/>
              <a:t>cell) is standard </a:t>
            </a:r>
            <a:r>
              <a:rPr lang="en-US" sz="2400" dirty="0" err="1"/>
              <a:t>emf</a:t>
            </a:r>
            <a:r>
              <a:rPr lang="en-US" sz="2400" dirty="0"/>
              <a:t> of the cell</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lstStyle/>
          <a:p>
            <a:r>
              <a:rPr lang="en-IN" dirty="0"/>
              <a:t>RESISTENCE &amp; CONDUCTIVITY</a:t>
            </a:r>
          </a:p>
        </p:txBody>
      </p:sp>
      <p:sp>
        <p:nvSpPr>
          <p:cNvPr id="5" name="Content Placeholder 4"/>
          <p:cNvSpPr>
            <a:spLocks noGrp="1"/>
          </p:cNvSpPr>
          <p:nvPr>
            <p:ph idx="1"/>
          </p:nvPr>
        </p:nvSpPr>
        <p:spPr>
          <a:xfrm>
            <a:off x="0" y="990600"/>
            <a:ext cx="9144000" cy="5715000"/>
          </a:xfrm>
        </p:spPr>
        <p:txBody>
          <a:bodyPr>
            <a:normAutofit fontScale="92500" lnSpcReduction="10000"/>
          </a:bodyPr>
          <a:lstStyle/>
          <a:p>
            <a:r>
              <a:rPr lang="en-IN" sz="2000" dirty="0"/>
              <a:t>Resistance, </a:t>
            </a:r>
            <a:r>
              <a:rPr lang="en-IN" sz="2000" i="1" dirty="0"/>
              <a:t>R</a:t>
            </a:r>
            <a:r>
              <a:rPr lang="en-IN" sz="2000" dirty="0"/>
              <a:t>, is proportional to the distance, </a:t>
            </a:r>
            <a:r>
              <a:rPr lang="en-IN" sz="2000" i="1" dirty="0"/>
              <a:t>l</a:t>
            </a:r>
            <a:r>
              <a:rPr lang="en-IN" sz="2000" dirty="0"/>
              <a:t>, between the electrodes and is inversely proportional to the cross-sectional area of the sample, </a:t>
            </a:r>
            <a:r>
              <a:rPr lang="en-IN" sz="2000" i="1" dirty="0"/>
              <a:t>A</a:t>
            </a:r>
            <a:r>
              <a:rPr lang="en-IN" sz="2000" dirty="0"/>
              <a:t> (noted </a:t>
            </a:r>
            <a:r>
              <a:rPr lang="en-IN" sz="2000" i="1" dirty="0"/>
              <a:t>S</a:t>
            </a:r>
            <a:r>
              <a:rPr lang="en-IN" sz="2000" dirty="0"/>
              <a:t> on the Figure above). Writing ρ (rho) for the specific resistance (or resistivity),                              </a:t>
            </a:r>
          </a:p>
          <a:p>
            <a:pPr>
              <a:buNone/>
            </a:pPr>
            <a:r>
              <a:rPr lang="en-IN" sz="2400" b="1" dirty="0"/>
              <a:t>       R =l/A</a:t>
            </a:r>
            <a:r>
              <a:rPr lang="el-GR" sz="2400" b="1" dirty="0"/>
              <a:t>ρ</a:t>
            </a:r>
            <a:endParaRPr lang="en-IN" sz="2400" b="1" dirty="0"/>
          </a:p>
          <a:p>
            <a:r>
              <a:rPr lang="en-IN" sz="2000" dirty="0"/>
              <a:t>In practice the conductivity cell is calibrated by using solutions of known specific resistance, ρ</a:t>
            </a:r>
            <a:r>
              <a:rPr lang="en-IN" sz="2000" baseline="30000" dirty="0"/>
              <a:t>*</a:t>
            </a:r>
            <a:r>
              <a:rPr lang="en-IN" sz="2000" dirty="0"/>
              <a:t>, so the quantities </a:t>
            </a:r>
            <a:r>
              <a:rPr lang="en-IN" sz="2000" i="1" dirty="0"/>
              <a:t>l</a:t>
            </a:r>
            <a:r>
              <a:rPr lang="en-IN" sz="2000" dirty="0"/>
              <a:t> and </a:t>
            </a:r>
            <a:r>
              <a:rPr lang="en-IN" sz="2000" i="1" dirty="0"/>
              <a:t>A</a:t>
            </a:r>
            <a:r>
              <a:rPr lang="en-IN" sz="2000" dirty="0"/>
              <a:t> need not be known precisely. If the resistance of the calibration solution is </a:t>
            </a:r>
            <a:r>
              <a:rPr lang="en-IN" sz="2000" i="1" dirty="0"/>
              <a:t>R</a:t>
            </a:r>
            <a:r>
              <a:rPr lang="en-IN" sz="2000" baseline="30000" dirty="0"/>
              <a:t>*</a:t>
            </a:r>
            <a:r>
              <a:rPr lang="en-IN" sz="2000" dirty="0"/>
              <a:t>, a cell-constant, </a:t>
            </a:r>
            <a:r>
              <a:rPr lang="en-IN" sz="2000" i="1" dirty="0"/>
              <a:t>C</a:t>
            </a:r>
            <a:r>
              <a:rPr lang="en-IN" sz="2000" dirty="0"/>
              <a:t>, is derived</a:t>
            </a:r>
          </a:p>
          <a:p>
            <a:pPr>
              <a:buNone/>
            </a:pPr>
            <a:r>
              <a:rPr lang="en-IN" sz="2400" b="1" dirty="0"/>
              <a:t>       R*= C X</a:t>
            </a:r>
            <a:r>
              <a:rPr lang="el-GR" sz="2400" b="1" dirty="0"/>
              <a:t> ρ</a:t>
            </a:r>
            <a:r>
              <a:rPr lang="en-IN" sz="2400" b="1" dirty="0"/>
              <a:t>*   </a:t>
            </a:r>
          </a:p>
          <a:p>
            <a:r>
              <a:rPr lang="en-IN" sz="2000" dirty="0"/>
              <a:t>The specific conductance (conductivity), κ (kappa) is the reciprocal of the specific resistance.</a:t>
            </a:r>
          </a:p>
          <a:p>
            <a:pPr>
              <a:buNone/>
            </a:pPr>
            <a:r>
              <a:rPr lang="en-IN" sz="2400" b="1" dirty="0"/>
              <a:t>       </a:t>
            </a:r>
            <a:r>
              <a:rPr lang="el-GR" sz="2400" b="1" dirty="0"/>
              <a:t>κ</a:t>
            </a:r>
            <a:r>
              <a:rPr lang="en-IN" sz="2400" b="1" dirty="0"/>
              <a:t> = 1/</a:t>
            </a:r>
            <a:r>
              <a:rPr lang="el-GR" sz="2400" b="1" dirty="0"/>
              <a:t>ρ</a:t>
            </a:r>
            <a:r>
              <a:rPr lang="en-IN" sz="2400" b="1" dirty="0"/>
              <a:t> = C/R</a:t>
            </a:r>
          </a:p>
          <a:p>
            <a:r>
              <a:rPr lang="en-IN" sz="2000" dirty="0"/>
              <a:t>Conductivity is also temperature-dependent. Sometimes the ratio of </a:t>
            </a:r>
            <a:r>
              <a:rPr lang="en-IN" sz="2000" i="1" dirty="0"/>
              <a:t>l</a:t>
            </a:r>
            <a:r>
              <a:rPr lang="en-IN" sz="2000" dirty="0"/>
              <a:t> and </a:t>
            </a:r>
            <a:r>
              <a:rPr lang="en-IN" sz="2000" i="1" dirty="0"/>
              <a:t>A</a:t>
            </a:r>
            <a:r>
              <a:rPr lang="en-IN" sz="2000" dirty="0"/>
              <a:t> is called as the cell constant, denoted as G</a:t>
            </a:r>
            <a:r>
              <a:rPr lang="en-IN" sz="2000" baseline="30000" dirty="0"/>
              <a:t>*</a:t>
            </a:r>
            <a:r>
              <a:rPr lang="en-IN" sz="2000" dirty="0"/>
              <a:t>, and conductance is denoted as G. Then the specific conductance κ (kappa), can be more conveniently written as </a:t>
            </a:r>
          </a:p>
          <a:p>
            <a:pPr>
              <a:buNone/>
            </a:pPr>
            <a:r>
              <a:rPr lang="en-IN" sz="2400" b="1" dirty="0"/>
              <a:t>       </a:t>
            </a:r>
            <a:r>
              <a:rPr lang="el-GR" sz="2400" b="1" dirty="0"/>
              <a:t>κ</a:t>
            </a:r>
            <a:r>
              <a:rPr lang="en-IN" sz="2400" b="1" dirty="0"/>
              <a:t> = G* X G</a:t>
            </a:r>
          </a:p>
          <a:p>
            <a:pPr>
              <a:buNone/>
            </a:pPr>
            <a:endParaRPr lang="en-IN" sz="2400"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lstStyle/>
          <a:p>
            <a:r>
              <a:rPr lang="en-IN" dirty="0"/>
              <a:t>MOLAR CONDUCTIVITY</a:t>
            </a:r>
          </a:p>
        </p:txBody>
      </p:sp>
      <p:sp>
        <p:nvSpPr>
          <p:cNvPr id="3" name="Content Placeholder 2"/>
          <p:cNvSpPr>
            <a:spLocks noGrp="1"/>
          </p:cNvSpPr>
          <p:nvPr>
            <p:ph idx="1"/>
          </p:nvPr>
        </p:nvSpPr>
        <p:spPr>
          <a:xfrm>
            <a:off x="0" y="1143000"/>
            <a:ext cx="9144000" cy="5715000"/>
          </a:xfrm>
        </p:spPr>
        <p:txBody>
          <a:bodyPr>
            <a:normAutofit/>
          </a:bodyPr>
          <a:lstStyle/>
          <a:p>
            <a:pPr marL="236538" indent="-236538"/>
            <a:r>
              <a:rPr lang="en-US" dirty="0"/>
              <a:t>The conductivity  is defined as the conductivity of an electrolyte solution divided by molar concentration</a:t>
            </a:r>
          </a:p>
          <a:p>
            <a:pPr marL="236538" indent="-236538"/>
            <a:r>
              <a:rPr lang="en-US" dirty="0"/>
              <a:t>Molar conductivity = </a:t>
            </a:r>
            <a:r>
              <a:rPr lang="el-GR" dirty="0"/>
              <a:t>λ</a:t>
            </a:r>
            <a:r>
              <a:rPr lang="en-US" baseline="-25000" dirty="0"/>
              <a:t>m</a:t>
            </a:r>
            <a:r>
              <a:rPr lang="en-US" dirty="0"/>
              <a:t> = </a:t>
            </a:r>
            <a:r>
              <a:rPr lang="el-GR" dirty="0"/>
              <a:t>κ</a:t>
            </a:r>
            <a:r>
              <a:rPr lang="en-US" dirty="0"/>
              <a:t>/c </a:t>
            </a:r>
          </a:p>
          <a:p>
            <a:pPr marL="236538" indent="-236538"/>
            <a:r>
              <a:rPr lang="en-US" dirty="0"/>
              <a:t>if k is expressed in Sm</a:t>
            </a:r>
            <a:r>
              <a:rPr lang="en-US" baseline="30000" dirty="0"/>
              <a:t>–1</a:t>
            </a:r>
            <a:r>
              <a:rPr lang="en-US" dirty="0"/>
              <a:t> and the concentration, c in mol m</a:t>
            </a:r>
            <a:r>
              <a:rPr lang="en-US" baseline="30000" dirty="0"/>
              <a:t>–3</a:t>
            </a:r>
            <a:r>
              <a:rPr lang="en-US" dirty="0"/>
              <a:t> then the unit of </a:t>
            </a:r>
            <a:r>
              <a:rPr lang="el-GR" dirty="0"/>
              <a:t>λ</a:t>
            </a:r>
            <a:r>
              <a:rPr lang="en-US" baseline="-25000" dirty="0"/>
              <a:t>m </a:t>
            </a:r>
            <a:r>
              <a:rPr lang="en-US" dirty="0"/>
              <a:t>will be Sm</a:t>
            </a:r>
            <a:r>
              <a:rPr lang="en-US" baseline="30000" dirty="0"/>
              <a:t>2</a:t>
            </a:r>
            <a:r>
              <a:rPr lang="en-US" dirty="0"/>
              <a:t>mol</a:t>
            </a:r>
            <a:r>
              <a:rPr lang="en-US" baseline="30000" dirty="0"/>
              <a:t>–1</a:t>
            </a:r>
            <a:r>
              <a:rPr lang="en-US" dirty="0"/>
              <a:t>.</a:t>
            </a:r>
          </a:p>
          <a:p>
            <a:pPr marL="236538" indent="-236538"/>
            <a:r>
              <a:rPr lang="en-US" dirty="0"/>
              <a:t>If we use Scm</a:t>
            </a:r>
            <a:r>
              <a:rPr lang="en-US" baseline="30000" dirty="0"/>
              <a:t>–1</a:t>
            </a:r>
            <a:r>
              <a:rPr lang="en-US" dirty="0"/>
              <a:t> as the units for k and mol cm</a:t>
            </a:r>
            <a:r>
              <a:rPr lang="en-US" baseline="30000" dirty="0"/>
              <a:t>–3</a:t>
            </a:r>
            <a:r>
              <a:rPr lang="en-US" dirty="0"/>
              <a:t>, the units of concentration, then the units for  </a:t>
            </a:r>
            <a:r>
              <a:rPr lang="el-GR" dirty="0"/>
              <a:t>λ</a:t>
            </a:r>
            <a:r>
              <a:rPr lang="en-US" baseline="-25000" dirty="0"/>
              <a:t>m</a:t>
            </a:r>
            <a:r>
              <a:rPr lang="en-US" dirty="0"/>
              <a:t>  are Scm</a:t>
            </a:r>
            <a:r>
              <a:rPr lang="en-US" baseline="30000" dirty="0"/>
              <a:t>2</a:t>
            </a:r>
            <a:r>
              <a:rPr lang="en-US" dirty="0"/>
              <a:t>mol</a:t>
            </a:r>
            <a:r>
              <a:rPr lang="en-US" baseline="30000" dirty="0"/>
              <a:t>–1</a:t>
            </a:r>
            <a:r>
              <a:rPr lang="en-US" dirty="0"/>
              <a:t>. It can be calculated by using the equation:</a:t>
            </a:r>
          </a:p>
          <a:p>
            <a:pPr marL="236538" indent="-236538"/>
            <a:r>
              <a:rPr lang="en-US" dirty="0"/>
              <a:t> </a:t>
            </a:r>
            <a:r>
              <a:rPr lang="el-GR" dirty="0"/>
              <a:t>λ</a:t>
            </a:r>
            <a:r>
              <a:rPr lang="en-US" baseline="-25000" dirty="0"/>
              <a:t>m</a:t>
            </a:r>
            <a:r>
              <a:rPr lang="en-US" dirty="0"/>
              <a:t> (Scm</a:t>
            </a:r>
            <a:r>
              <a:rPr lang="en-US" baseline="30000" dirty="0"/>
              <a:t>2</a:t>
            </a:r>
            <a:r>
              <a:rPr lang="en-US" dirty="0"/>
              <a:t>mol</a:t>
            </a:r>
            <a:r>
              <a:rPr lang="en-US" baseline="30000" dirty="0"/>
              <a:t>–1</a:t>
            </a:r>
            <a:r>
              <a:rPr lang="en-US" dirty="0"/>
              <a:t>) = </a:t>
            </a:r>
            <a:r>
              <a:rPr lang="el-GR" dirty="0"/>
              <a:t>κ</a:t>
            </a:r>
            <a:r>
              <a:rPr lang="en-US" dirty="0"/>
              <a:t>(S cm</a:t>
            </a:r>
            <a:r>
              <a:rPr lang="en-US" baseline="30000" dirty="0"/>
              <a:t>–1</a:t>
            </a:r>
            <a:r>
              <a:rPr lang="en-US" dirty="0"/>
              <a:t>) × 1000 (cm</a:t>
            </a:r>
            <a:r>
              <a:rPr lang="en-US" baseline="30000" dirty="0"/>
              <a:t>3</a:t>
            </a:r>
            <a:r>
              <a:rPr lang="en-US" dirty="0"/>
              <a:t>/L)/molarity (mol/L).</a:t>
            </a:r>
          </a:p>
          <a:p>
            <a:pPr marL="236538" indent="-236538"/>
            <a:r>
              <a:rPr lang="en-US" dirty="0"/>
              <a:t>OR, </a:t>
            </a:r>
            <a:r>
              <a:rPr lang="pt-BR" dirty="0"/>
              <a:t>1 </a:t>
            </a:r>
            <a:r>
              <a:rPr lang="en-US" dirty="0"/>
              <a:t>Sm</a:t>
            </a:r>
            <a:r>
              <a:rPr lang="en-US" baseline="30000" dirty="0"/>
              <a:t>2</a:t>
            </a:r>
            <a:r>
              <a:rPr lang="en-US" dirty="0"/>
              <a:t>mol</a:t>
            </a:r>
            <a:r>
              <a:rPr lang="en-US" baseline="30000" dirty="0"/>
              <a:t>–1 </a:t>
            </a:r>
            <a:r>
              <a:rPr lang="pt-BR" dirty="0"/>
              <a:t>= 10</a:t>
            </a:r>
            <a:r>
              <a:rPr lang="pt-BR" baseline="30000" dirty="0"/>
              <a:t>4 </a:t>
            </a:r>
            <a:r>
              <a:rPr lang="en-US" dirty="0"/>
              <a:t>Scm</a:t>
            </a:r>
            <a:r>
              <a:rPr lang="en-US" baseline="30000" dirty="0"/>
              <a:t>2</a:t>
            </a:r>
            <a:r>
              <a:rPr lang="en-US" dirty="0"/>
              <a:t>mol</a:t>
            </a:r>
            <a:r>
              <a:rPr lang="en-US" baseline="30000" dirty="0"/>
              <a:t>–1</a:t>
            </a:r>
          </a:p>
          <a:p>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CONDUCTIVITY CELL</a:t>
            </a:r>
          </a:p>
        </p:txBody>
      </p:sp>
      <p:sp>
        <p:nvSpPr>
          <p:cNvPr id="6" name="Content Placeholder 5"/>
          <p:cNvSpPr>
            <a:spLocks noGrp="1"/>
          </p:cNvSpPr>
          <p:nvPr>
            <p:ph sz="half" idx="1"/>
          </p:nvPr>
        </p:nvSpPr>
        <p:spPr>
          <a:xfrm>
            <a:off x="228600" y="1600200"/>
            <a:ext cx="4038600" cy="4525963"/>
          </a:xfrm>
        </p:spPr>
        <p:txBody>
          <a:bodyPr>
            <a:normAutofit/>
          </a:bodyPr>
          <a:lstStyle/>
          <a:p>
            <a:pPr algn="just">
              <a:buFont typeface="Wingdings" pitchFamily="2" charset="2"/>
              <a:buChar char="ü"/>
            </a:pPr>
            <a:r>
              <a:rPr lang="en-US" dirty="0">
                <a:latin typeface="Arial" pitchFamily="34" charset="0"/>
                <a:cs typeface="Arial" pitchFamily="34" charset="0"/>
              </a:rPr>
              <a:t>While measuring the resistance (DC) changes the composition of the solution. So we use an alternating current (AC) source.</a:t>
            </a:r>
          </a:p>
          <a:p>
            <a:pPr algn="just">
              <a:buNone/>
            </a:pPr>
            <a:endParaRPr lang="en-US" dirty="0">
              <a:latin typeface="Arial" pitchFamily="34" charset="0"/>
              <a:cs typeface="Arial" pitchFamily="34" charset="0"/>
            </a:endParaRPr>
          </a:p>
          <a:p>
            <a:pPr algn="just">
              <a:buFont typeface="Wingdings" pitchFamily="2" charset="2"/>
              <a:buChar char="ü"/>
            </a:pPr>
            <a:r>
              <a:rPr lang="en-US" dirty="0">
                <a:latin typeface="Arial" pitchFamily="34" charset="0"/>
                <a:cs typeface="Arial" pitchFamily="34" charset="0"/>
              </a:rPr>
              <a:t>A solution cannot be connected to the bridge like a metallic wire, so we use a specially designed vessel called conductivity cell. </a:t>
            </a:r>
          </a:p>
          <a:p>
            <a:endParaRPr lang="en-IN" dirty="0"/>
          </a:p>
        </p:txBody>
      </p:sp>
      <p:pic>
        <p:nvPicPr>
          <p:cNvPr id="8" name="Picture 3"/>
          <p:cNvPicPr>
            <a:picLocks noGrp="1" noChangeAspect="1" noChangeArrowheads="1"/>
          </p:cNvPicPr>
          <p:nvPr>
            <p:ph sz="half" idx="2"/>
          </p:nvPr>
        </p:nvPicPr>
        <p:blipFill>
          <a:blip r:embed="rId2" cstate="print"/>
          <a:stretch>
            <a:fillRect/>
          </a:stretch>
        </p:blipFill>
        <p:spPr bwMode="auto">
          <a:xfrm>
            <a:off x="3868738" y="3073772"/>
            <a:ext cx="3089275" cy="2055068"/>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b="1" dirty="0"/>
              <a:t>VARIATION OF CONDUCTIVITY &amp; MOLAR CONDUCTIVITY WITH DILUTION</a:t>
            </a:r>
          </a:p>
        </p:txBody>
      </p:sp>
      <p:sp>
        <p:nvSpPr>
          <p:cNvPr id="3" name="Content Placeholder 2"/>
          <p:cNvSpPr>
            <a:spLocks noGrp="1"/>
          </p:cNvSpPr>
          <p:nvPr>
            <p:ph sz="half" idx="1"/>
          </p:nvPr>
        </p:nvSpPr>
        <p:spPr/>
        <p:txBody>
          <a:bodyPr/>
          <a:lstStyle/>
          <a:p>
            <a:r>
              <a:rPr lang="en-IN" dirty="0"/>
              <a:t>Conductivity decreases with dilution</a:t>
            </a:r>
          </a:p>
          <a:p>
            <a:r>
              <a:rPr lang="en-IN" dirty="0"/>
              <a:t>Molar conductivity increases with dilution</a:t>
            </a:r>
          </a:p>
          <a:p>
            <a:pPr>
              <a:buNone/>
            </a:pPr>
            <a:r>
              <a:rPr lang="en-IN" dirty="0"/>
              <a:t>    For strong electrolytes                 </a:t>
            </a:r>
          </a:p>
          <a:p>
            <a:pPr>
              <a:buNone/>
            </a:pPr>
            <a:r>
              <a:rPr lang="en-IN" dirty="0"/>
              <a:t>    </a:t>
            </a:r>
            <a:r>
              <a:rPr lang="en-IN" dirty="0" err="1"/>
              <a:t>Λm</a:t>
            </a:r>
            <a:r>
              <a:rPr lang="en-IN" dirty="0"/>
              <a:t>=</a:t>
            </a:r>
            <a:r>
              <a:rPr lang="el-GR" dirty="0"/>
              <a:t>Λ</a:t>
            </a:r>
            <a:r>
              <a:rPr lang="en-IN" baseline="30000" dirty="0"/>
              <a:t>0</a:t>
            </a:r>
            <a:r>
              <a:rPr lang="en-IN" dirty="0"/>
              <a:t>m-AC</a:t>
            </a:r>
            <a:r>
              <a:rPr lang="en-IN" baseline="30000" dirty="0"/>
              <a:t>1/2</a:t>
            </a:r>
          </a:p>
          <a:p>
            <a:pPr>
              <a:buNone/>
            </a:pPr>
            <a:endParaRPr lang="en-IN" dirty="0"/>
          </a:p>
          <a:p>
            <a:pPr>
              <a:buNone/>
            </a:pPr>
            <a:endParaRPr lang="en-IN" dirty="0"/>
          </a:p>
        </p:txBody>
      </p:sp>
      <p:pic>
        <p:nvPicPr>
          <p:cNvPr id="5" name="Content Placeholder 4" descr="download.png"/>
          <p:cNvPicPr>
            <a:picLocks noGrp="1" noChangeAspect="1"/>
          </p:cNvPicPr>
          <p:nvPr>
            <p:ph sz="half" idx="2"/>
          </p:nvPr>
        </p:nvPicPr>
        <p:blipFill>
          <a:blip r:embed="rId2" cstate="print"/>
          <a:stretch>
            <a:fillRect/>
          </a:stretch>
        </p:blipFill>
        <p:spPr>
          <a:xfrm>
            <a:off x="4419600" y="1676400"/>
            <a:ext cx="4419600" cy="4495800"/>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KOHLRAUSCH’S LAW</a:t>
            </a:r>
          </a:p>
        </p:txBody>
      </p:sp>
      <p:sp>
        <p:nvSpPr>
          <p:cNvPr id="3" name="Content Placeholder 2"/>
          <p:cNvSpPr>
            <a:spLocks noGrp="1"/>
          </p:cNvSpPr>
          <p:nvPr>
            <p:ph idx="1"/>
          </p:nvPr>
        </p:nvSpPr>
        <p:spPr>
          <a:xfrm>
            <a:off x="0" y="1600200"/>
            <a:ext cx="8991600" cy="4800600"/>
          </a:xfrm>
        </p:spPr>
        <p:txBody>
          <a:bodyPr>
            <a:normAutofit/>
          </a:bodyPr>
          <a:lstStyle/>
          <a:p>
            <a:pPr algn="just">
              <a:buFont typeface="Wingdings" pitchFamily="2" charset="2"/>
              <a:buChar char="ü"/>
            </a:pPr>
            <a:r>
              <a:rPr lang="en-US" dirty="0">
                <a:latin typeface="Arial" pitchFamily="34" charset="0"/>
                <a:cs typeface="Arial" pitchFamily="34" charset="0"/>
              </a:rPr>
              <a:t>It states that </a:t>
            </a:r>
            <a:r>
              <a:rPr lang="en-US" i="1" dirty="0">
                <a:latin typeface="Arial" pitchFamily="34" charset="0"/>
                <a:cs typeface="Arial" pitchFamily="34" charset="0"/>
              </a:rPr>
              <a:t>limiting molar conductivity of an electrolyte  is the sum of the individual contributions of the anion and </a:t>
            </a:r>
            <a:r>
              <a:rPr lang="en-US" i="1" dirty="0" err="1">
                <a:latin typeface="Arial" pitchFamily="34" charset="0"/>
                <a:cs typeface="Arial" pitchFamily="34" charset="0"/>
              </a:rPr>
              <a:t>cation</a:t>
            </a:r>
            <a:r>
              <a:rPr lang="en-US" i="1" dirty="0">
                <a:latin typeface="Arial" pitchFamily="34" charset="0"/>
                <a:cs typeface="Arial" pitchFamily="34" charset="0"/>
              </a:rPr>
              <a:t> of the electrolyte.</a:t>
            </a:r>
          </a:p>
          <a:p>
            <a:pPr algn="just">
              <a:buFont typeface="Wingdings" pitchFamily="2" charset="2"/>
              <a:buChar char="ü"/>
            </a:pPr>
            <a:endParaRPr lang="en-US" i="1" dirty="0">
              <a:latin typeface="Arial" pitchFamily="34" charset="0"/>
              <a:cs typeface="Arial" pitchFamily="34" charset="0"/>
            </a:endParaRPr>
          </a:p>
          <a:p>
            <a:pPr algn="just">
              <a:buFont typeface="Wingdings" pitchFamily="2" charset="2"/>
              <a:buChar char="ü"/>
            </a:pPr>
            <a:r>
              <a:rPr lang="en-US" i="1" dirty="0">
                <a:latin typeface="Arial" pitchFamily="34" charset="0"/>
                <a:cs typeface="Arial" pitchFamily="34" charset="0"/>
              </a:rPr>
              <a:t>Thus, if </a:t>
            </a:r>
            <a:r>
              <a:rPr lang="el-GR" i="1" dirty="0">
                <a:latin typeface="Arial" pitchFamily="34" charset="0"/>
                <a:cs typeface="Arial" pitchFamily="34" charset="0"/>
              </a:rPr>
              <a:t>λ</a:t>
            </a:r>
            <a:r>
              <a:rPr lang="en-US" i="1" dirty="0">
                <a:latin typeface="Arial" pitchFamily="34" charset="0"/>
                <a:cs typeface="Arial" pitchFamily="34" charset="0"/>
              </a:rPr>
              <a:t>°</a:t>
            </a:r>
            <a:r>
              <a:rPr lang="en-US" i="1" baseline="-25000" dirty="0">
                <a:latin typeface="Arial" pitchFamily="34" charset="0"/>
                <a:cs typeface="Arial" pitchFamily="34" charset="0"/>
              </a:rPr>
              <a:t>Na</a:t>
            </a:r>
            <a:r>
              <a:rPr lang="en-US" i="1" dirty="0">
                <a:latin typeface="Arial" pitchFamily="34" charset="0"/>
                <a:cs typeface="Arial" pitchFamily="34" charset="0"/>
              </a:rPr>
              <a:t>+ and</a:t>
            </a:r>
            <a:r>
              <a:rPr lang="el-GR" i="1" dirty="0">
                <a:latin typeface="Arial" pitchFamily="34" charset="0"/>
                <a:cs typeface="Arial" pitchFamily="34" charset="0"/>
              </a:rPr>
              <a:t> λ</a:t>
            </a:r>
            <a:r>
              <a:rPr lang="en-US" i="1" dirty="0">
                <a:latin typeface="Arial" pitchFamily="34" charset="0"/>
                <a:cs typeface="Arial" pitchFamily="34" charset="0"/>
              </a:rPr>
              <a:t>°</a:t>
            </a:r>
            <a:r>
              <a:rPr lang="en-US" i="1" baseline="-25000" dirty="0" err="1">
                <a:latin typeface="Arial" pitchFamily="34" charset="0"/>
                <a:cs typeface="Arial" pitchFamily="34" charset="0"/>
              </a:rPr>
              <a:t>Cl</a:t>
            </a:r>
            <a:r>
              <a:rPr lang="en-US" i="1" baseline="-25000" dirty="0">
                <a:latin typeface="Arial" pitchFamily="34" charset="0"/>
                <a:cs typeface="Arial" pitchFamily="34" charset="0"/>
              </a:rPr>
              <a:t> -</a:t>
            </a:r>
            <a:r>
              <a:rPr lang="en-US" i="1" dirty="0">
                <a:latin typeface="Arial" pitchFamily="34" charset="0"/>
                <a:cs typeface="Arial" pitchFamily="34" charset="0"/>
              </a:rPr>
              <a:t>  are limiting molar conductivity of the sodium and  </a:t>
            </a:r>
            <a:r>
              <a:rPr lang="en-US" dirty="0">
                <a:latin typeface="Arial" pitchFamily="34" charset="0"/>
                <a:cs typeface="Arial" pitchFamily="34" charset="0"/>
              </a:rPr>
              <a:t>chloride ions , then the limiting molar conductivity for sodium  chloride is given by the equation:    </a:t>
            </a:r>
          </a:p>
          <a:p>
            <a:pPr algn="just">
              <a:buNone/>
            </a:pPr>
            <a:r>
              <a:rPr lang="en-US" i="1" dirty="0">
                <a:latin typeface="Arial" pitchFamily="34" charset="0"/>
                <a:cs typeface="Arial" pitchFamily="34" charset="0"/>
              </a:rPr>
              <a:t>				Ë</a:t>
            </a:r>
            <a:r>
              <a:rPr lang="en-US" dirty="0">
                <a:latin typeface="Arial" pitchFamily="34" charset="0"/>
                <a:cs typeface="Arial" pitchFamily="34" charset="0"/>
              </a:rPr>
              <a:t>°</a:t>
            </a:r>
            <a:r>
              <a:rPr lang="en-US" i="1" baseline="-25000" dirty="0">
                <a:latin typeface="Arial" pitchFamily="34" charset="0"/>
                <a:cs typeface="Arial" pitchFamily="34" charset="0"/>
              </a:rPr>
              <a:t>m</a:t>
            </a:r>
            <a:r>
              <a:rPr lang="en-US" baseline="-25000" dirty="0">
                <a:latin typeface="Arial" pitchFamily="34" charset="0"/>
                <a:cs typeface="Arial" pitchFamily="34" charset="0"/>
              </a:rPr>
              <a:t>(</a:t>
            </a:r>
            <a:r>
              <a:rPr lang="en-US" baseline="-25000" dirty="0" err="1">
                <a:latin typeface="Arial" pitchFamily="34" charset="0"/>
                <a:cs typeface="Arial" pitchFamily="34" charset="0"/>
              </a:rPr>
              <a:t>NaCl</a:t>
            </a:r>
            <a:r>
              <a:rPr lang="en-US" baseline="-25000" dirty="0">
                <a:latin typeface="Arial" pitchFamily="34" charset="0"/>
                <a:cs typeface="Arial" pitchFamily="34" charset="0"/>
              </a:rPr>
              <a:t>) </a:t>
            </a:r>
            <a:r>
              <a:rPr lang="en-US" dirty="0">
                <a:latin typeface="Arial" pitchFamily="34" charset="0"/>
                <a:cs typeface="Arial" pitchFamily="34" charset="0"/>
              </a:rPr>
              <a:t>= </a:t>
            </a:r>
            <a:r>
              <a:rPr lang="el-GR" i="1" dirty="0">
                <a:latin typeface="Arial" pitchFamily="34" charset="0"/>
                <a:cs typeface="Arial" pitchFamily="34" charset="0"/>
              </a:rPr>
              <a:t>λ</a:t>
            </a:r>
            <a:r>
              <a:rPr lang="en-US" i="1" dirty="0">
                <a:latin typeface="Arial" pitchFamily="34" charset="0"/>
                <a:cs typeface="Arial" pitchFamily="34" charset="0"/>
              </a:rPr>
              <a:t>°</a:t>
            </a:r>
            <a:r>
              <a:rPr lang="en-US" i="1" baseline="-25000" dirty="0">
                <a:latin typeface="Arial" pitchFamily="34" charset="0"/>
                <a:cs typeface="Arial" pitchFamily="34" charset="0"/>
              </a:rPr>
              <a:t>Na+</a:t>
            </a:r>
            <a:r>
              <a:rPr lang="en-US" i="1" dirty="0">
                <a:latin typeface="Arial" pitchFamily="34" charset="0"/>
                <a:cs typeface="Arial" pitchFamily="34" charset="0"/>
              </a:rPr>
              <a:t> +</a:t>
            </a:r>
            <a:r>
              <a:rPr lang="el-GR" i="1" dirty="0">
                <a:latin typeface="Arial" pitchFamily="34" charset="0"/>
                <a:cs typeface="Arial" pitchFamily="34" charset="0"/>
              </a:rPr>
              <a:t> λ</a:t>
            </a:r>
            <a:r>
              <a:rPr lang="en-US" i="1" dirty="0">
                <a:latin typeface="Arial" pitchFamily="34" charset="0"/>
                <a:cs typeface="Arial" pitchFamily="34" charset="0"/>
              </a:rPr>
              <a:t>°</a:t>
            </a:r>
            <a:r>
              <a:rPr lang="en-US" i="1" baseline="-25000" dirty="0" err="1">
                <a:latin typeface="Arial" pitchFamily="34" charset="0"/>
                <a:cs typeface="Arial" pitchFamily="34" charset="0"/>
              </a:rPr>
              <a:t>Cl</a:t>
            </a:r>
            <a:r>
              <a:rPr lang="en-US" i="1" baseline="-25000" dirty="0">
                <a:latin typeface="Arial" pitchFamily="34" charset="0"/>
                <a:cs typeface="Arial" pitchFamily="34" charset="0"/>
              </a:rPr>
              <a:t> - .</a:t>
            </a:r>
            <a:endParaRPr lang="en-US" dirty="0">
              <a:latin typeface="Arial" pitchFamily="34" charset="0"/>
              <a:cs typeface="Arial" pitchFamily="34" charset="0"/>
            </a:endParaRPr>
          </a:p>
          <a:p>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APPLICATION OF KOHLRAUSCH’S LAW</a:t>
            </a:r>
          </a:p>
        </p:txBody>
      </p:sp>
      <p:sp>
        <p:nvSpPr>
          <p:cNvPr id="3" name="Content Placeholder 2"/>
          <p:cNvSpPr>
            <a:spLocks noGrp="1"/>
          </p:cNvSpPr>
          <p:nvPr>
            <p:ph idx="1"/>
          </p:nvPr>
        </p:nvSpPr>
        <p:spPr/>
        <p:txBody>
          <a:bodyPr/>
          <a:lstStyle/>
          <a:p>
            <a:r>
              <a:rPr lang="en-US" dirty="0">
                <a:latin typeface="Arial" pitchFamily="34" charset="0"/>
                <a:cs typeface="Arial" pitchFamily="34" charset="0"/>
              </a:rPr>
              <a:t>This law may be used to determine the limiting molar conductivity, ‘</a:t>
            </a:r>
            <a:r>
              <a:rPr lang="el-GR" i="1" dirty="0">
                <a:latin typeface="Arial" pitchFamily="34" charset="0"/>
                <a:cs typeface="Arial" pitchFamily="34" charset="0"/>
              </a:rPr>
              <a:t>λ</a:t>
            </a:r>
            <a:r>
              <a:rPr lang="en-US" i="1" dirty="0">
                <a:latin typeface="Arial" pitchFamily="34" charset="0"/>
                <a:cs typeface="Arial" pitchFamily="34" charset="0"/>
              </a:rPr>
              <a:t>°</a:t>
            </a:r>
            <a:r>
              <a:rPr lang="en-US" i="1" baseline="-25000" dirty="0">
                <a:latin typeface="Arial" pitchFamily="34" charset="0"/>
                <a:cs typeface="Arial" pitchFamily="34" charset="0"/>
              </a:rPr>
              <a:t>m’ </a:t>
            </a:r>
            <a:r>
              <a:rPr lang="en-US" dirty="0">
                <a:latin typeface="Arial" pitchFamily="34" charset="0"/>
                <a:cs typeface="Arial" pitchFamily="34" charset="0"/>
              </a:rPr>
              <a:t>degree of dissociation ‘</a:t>
            </a:r>
            <a:r>
              <a:rPr lang="el-GR" dirty="0">
                <a:latin typeface="Arial" pitchFamily="34" charset="0"/>
                <a:cs typeface="Arial" pitchFamily="34" charset="0"/>
              </a:rPr>
              <a:t>α</a:t>
            </a:r>
            <a:r>
              <a:rPr lang="en-US" dirty="0">
                <a:latin typeface="Arial" pitchFamily="34" charset="0"/>
                <a:cs typeface="Arial" pitchFamily="34" charset="0"/>
              </a:rPr>
              <a:t>’ and dissociation constant ‘K</a:t>
            </a:r>
            <a:r>
              <a:rPr lang="en-US" baseline="-25000" dirty="0">
                <a:latin typeface="Arial" pitchFamily="34" charset="0"/>
                <a:cs typeface="Arial" pitchFamily="34" charset="0"/>
              </a:rPr>
              <a:t>a</a:t>
            </a:r>
            <a:r>
              <a:rPr lang="en-US" dirty="0">
                <a:latin typeface="Arial" pitchFamily="34" charset="0"/>
                <a:cs typeface="Arial" pitchFamily="34" charset="0"/>
              </a:rPr>
              <a:t>’ of a weak electrolyte. </a:t>
            </a:r>
          </a:p>
          <a:p>
            <a:pPr>
              <a:buNone/>
            </a:pPr>
            <a:r>
              <a:rPr lang="en-US" dirty="0">
                <a:latin typeface="Arial" pitchFamily="34" charset="0"/>
                <a:cs typeface="Arial" pitchFamily="34" charset="0"/>
              </a:rPr>
              <a:t>    </a:t>
            </a:r>
            <a:endParaRPr lang="en-IN" dirty="0"/>
          </a:p>
        </p:txBody>
      </p:sp>
      <p:pic>
        <p:nvPicPr>
          <p:cNvPr id="4" name="Picture 4"/>
          <p:cNvPicPr>
            <a:picLocks noChangeAspect="1" noChangeArrowheads="1"/>
          </p:cNvPicPr>
          <p:nvPr/>
        </p:nvPicPr>
        <p:blipFill>
          <a:blip r:embed="rId2" cstate="print"/>
          <a:srcRect/>
          <a:stretch>
            <a:fillRect/>
          </a:stretch>
        </p:blipFill>
        <p:spPr bwMode="auto">
          <a:xfrm>
            <a:off x="533400" y="4191000"/>
            <a:ext cx="2057400" cy="1219200"/>
          </a:xfrm>
          <a:prstGeom prst="rect">
            <a:avLst/>
          </a:prstGeom>
          <a:noFill/>
          <a:ln w="9525">
            <a:noFill/>
            <a:miter lim="800000"/>
            <a:headEnd/>
            <a:tailEnd/>
          </a:ln>
          <a:effectLst/>
        </p:spPr>
      </p:pic>
      <p:pic>
        <p:nvPicPr>
          <p:cNvPr id="5" name="Picture 5"/>
          <p:cNvPicPr>
            <a:picLocks noChangeAspect="1" noChangeArrowheads="1"/>
          </p:cNvPicPr>
          <p:nvPr/>
        </p:nvPicPr>
        <p:blipFill>
          <a:blip r:embed="rId3" cstate="print"/>
          <a:srcRect/>
          <a:stretch>
            <a:fillRect/>
          </a:stretch>
        </p:blipFill>
        <p:spPr bwMode="auto">
          <a:xfrm>
            <a:off x="3276600" y="4191000"/>
            <a:ext cx="5486400" cy="17526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Arial" pitchFamily="34" charset="0"/>
                <a:cs typeface="Arial" pitchFamily="34" charset="0"/>
              </a:rPr>
              <a:t>ELECTROLYTIC CELL AND ELECTROLYSIS</a:t>
            </a:r>
            <a:endParaRPr lang="en-IN" sz="4000" b="1" dirty="0"/>
          </a:p>
        </p:txBody>
      </p:sp>
      <p:sp>
        <p:nvSpPr>
          <p:cNvPr id="3" name="Content Placeholder 2"/>
          <p:cNvSpPr>
            <a:spLocks noGrp="1"/>
          </p:cNvSpPr>
          <p:nvPr>
            <p:ph idx="1"/>
          </p:nvPr>
        </p:nvSpPr>
        <p:spPr>
          <a:xfrm>
            <a:off x="0" y="1600200"/>
            <a:ext cx="9144000" cy="4953000"/>
          </a:xfrm>
        </p:spPr>
        <p:txBody>
          <a:bodyPr>
            <a:normAutofit/>
          </a:bodyPr>
          <a:lstStyle/>
          <a:p>
            <a:pPr algn="just">
              <a:lnSpc>
                <a:spcPct val="110000"/>
              </a:lnSpc>
              <a:buFont typeface="Wingdings" pitchFamily="2" charset="2"/>
              <a:buChar char="ü"/>
            </a:pPr>
            <a:r>
              <a:rPr lang="en-US" dirty="0">
                <a:solidFill>
                  <a:schemeClr val="tx1">
                    <a:lumMod val="85000"/>
                    <a:lumOff val="15000"/>
                  </a:schemeClr>
                </a:solidFill>
                <a:latin typeface="Arial" pitchFamily="34" charset="0"/>
                <a:cs typeface="Arial" pitchFamily="34" charset="0"/>
              </a:rPr>
              <a:t>Electrolysis: It is the process in which electrical energy is used to drive a </a:t>
            </a:r>
            <a:r>
              <a:rPr lang="en-US" i="1" dirty="0">
                <a:solidFill>
                  <a:schemeClr val="tx1">
                    <a:lumMod val="85000"/>
                    <a:lumOff val="15000"/>
                  </a:schemeClr>
                </a:solidFill>
                <a:latin typeface="Arial" pitchFamily="34" charset="0"/>
                <a:cs typeface="Arial" pitchFamily="34" charset="0"/>
              </a:rPr>
              <a:t>non-spontaneous</a:t>
            </a:r>
            <a:r>
              <a:rPr lang="en-US" dirty="0">
                <a:solidFill>
                  <a:schemeClr val="tx1">
                    <a:lumMod val="85000"/>
                    <a:lumOff val="15000"/>
                  </a:schemeClr>
                </a:solidFill>
                <a:latin typeface="Arial" pitchFamily="34" charset="0"/>
                <a:cs typeface="Arial" pitchFamily="34" charset="0"/>
              </a:rPr>
              <a:t> chemical reaction.</a:t>
            </a:r>
          </a:p>
          <a:p>
            <a:pPr algn="just">
              <a:lnSpc>
                <a:spcPct val="80000"/>
              </a:lnSpc>
              <a:buFont typeface="Wingdings" pitchFamily="2" charset="2"/>
              <a:buChar char="ü"/>
            </a:pPr>
            <a:endParaRPr lang="en-US" dirty="0">
              <a:solidFill>
                <a:schemeClr val="tx1">
                  <a:lumMod val="85000"/>
                  <a:lumOff val="15000"/>
                </a:schemeClr>
              </a:solidFill>
              <a:latin typeface="Arial" pitchFamily="34" charset="0"/>
              <a:cs typeface="Arial" pitchFamily="34" charset="0"/>
            </a:endParaRPr>
          </a:p>
          <a:p>
            <a:pPr algn="just">
              <a:lnSpc>
                <a:spcPct val="150000"/>
              </a:lnSpc>
              <a:buFont typeface="Wingdings" pitchFamily="2" charset="2"/>
              <a:buChar char="ü"/>
            </a:pPr>
            <a:r>
              <a:rPr lang="en-US" dirty="0">
                <a:solidFill>
                  <a:schemeClr val="tx1">
                    <a:lumMod val="85000"/>
                    <a:lumOff val="15000"/>
                  </a:schemeClr>
                </a:solidFill>
                <a:latin typeface="Arial" pitchFamily="34" charset="0"/>
                <a:cs typeface="Arial" pitchFamily="34" charset="0"/>
              </a:rPr>
              <a:t>An electrolytic cell is an apparatus for carrying out electrolysis.</a:t>
            </a:r>
          </a:p>
          <a:p>
            <a:pPr algn="just">
              <a:lnSpc>
                <a:spcPct val="70000"/>
              </a:lnSpc>
              <a:buFont typeface="Wingdings" pitchFamily="2" charset="2"/>
              <a:buChar char="ü"/>
            </a:pPr>
            <a:endParaRPr lang="en-US" dirty="0">
              <a:solidFill>
                <a:schemeClr val="tx1">
                  <a:lumMod val="85000"/>
                  <a:lumOff val="15000"/>
                </a:schemeClr>
              </a:solidFill>
              <a:latin typeface="Arial" pitchFamily="34" charset="0"/>
              <a:cs typeface="Arial" pitchFamily="34" charset="0"/>
            </a:endParaRPr>
          </a:p>
          <a:p>
            <a:pPr algn="just">
              <a:lnSpc>
                <a:spcPct val="110000"/>
              </a:lnSpc>
              <a:buFont typeface="Wingdings" pitchFamily="2" charset="2"/>
              <a:buChar char="ü"/>
            </a:pPr>
            <a:r>
              <a:rPr lang="en-US" dirty="0">
                <a:solidFill>
                  <a:schemeClr val="tx1">
                    <a:lumMod val="85000"/>
                    <a:lumOff val="15000"/>
                  </a:schemeClr>
                </a:solidFill>
                <a:latin typeface="Arial" pitchFamily="34" charset="0"/>
                <a:cs typeface="Arial" pitchFamily="34" charset="0"/>
              </a:rPr>
              <a:t>Processes in an electrolytic cell are the </a:t>
            </a:r>
            <a:r>
              <a:rPr lang="en-US" i="1" dirty="0">
                <a:solidFill>
                  <a:schemeClr val="tx1">
                    <a:lumMod val="85000"/>
                    <a:lumOff val="15000"/>
                  </a:schemeClr>
                </a:solidFill>
                <a:latin typeface="Arial" pitchFamily="34" charset="0"/>
                <a:cs typeface="Arial" pitchFamily="34" charset="0"/>
              </a:rPr>
              <a:t>reverse</a:t>
            </a:r>
            <a:r>
              <a:rPr lang="en-US" dirty="0">
                <a:solidFill>
                  <a:schemeClr val="tx1">
                    <a:lumMod val="85000"/>
                    <a:lumOff val="15000"/>
                  </a:schemeClr>
                </a:solidFill>
                <a:latin typeface="Arial" pitchFamily="34" charset="0"/>
                <a:cs typeface="Arial" pitchFamily="34" charset="0"/>
              </a:rPr>
              <a:t> of those in a galvanic cell.</a:t>
            </a:r>
          </a:p>
          <a:p>
            <a:pPr algn="just">
              <a:lnSpc>
                <a:spcPct val="150000"/>
              </a:lnSpc>
              <a:buFont typeface="Wingdings" pitchFamily="2" charset="2"/>
              <a:buChar char="ü"/>
            </a:pPr>
            <a:r>
              <a:rPr lang="en-US" dirty="0">
                <a:latin typeface="Arial" pitchFamily="34" charset="0"/>
                <a:cs typeface="Arial" pitchFamily="34" charset="0"/>
              </a:rPr>
              <a:t>Electrolysis process is used in  Manufacture of Cl</a:t>
            </a:r>
            <a:r>
              <a:rPr lang="en-US" baseline="-25000" dirty="0">
                <a:latin typeface="Arial" pitchFamily="34" charset="0"/>
                <a:cs typeface="Arial" pitchFamily="34" charset="0"/>
              </a:rPr>
              <a:t>2</a:t>
            </a:r>
            <a:r>
              <a:rPr lang="en-US" dirty="0">
                <a:latin typeface="Arial" pitchFamily="34" charset="0"/>
                <a:cs typeface="Arial" pitchFamily="34" charset="0"/>
              </a:rPr>
              <a:t> and NaOH, Electro-refining and Electroplating, Electrolysis of water etc. </a:t>
            </a:r>
          </a:p>
          <a:p>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FARADAY’S LAW OF ELECTROLYSIS</a:t>
            </a:r>
          </a:p>
        </p:txBody>
      </p:sp>
      <p:sp>
        <p:nvSpPr>
          <p:cNvPr id="3" name="Content Placeholder 2"/>
          <p:cNvSpPr>
            <a:spLocks noGrp="1"/>
          </p:cNvSpPr>
          <p:nvPr>
            <p:ph idx="1"/>
          </p:nvPr>
        </p:nvSpPr>
        <p:spPr>
          <a:xfrm>
            <a:off x="0" y="1600200"/>
            <a:ext cx="8915400" cy="4953000"/>
          </a:xfrm>
        </p:spPr>
        <p:txBody>
          <a:bodyPr>
            <a:normAutofit/>
          </a:bodyPr>
          <a:lstStyle/>
          <a:p>
            <a:pPr algn="just">
              <a:lnSpc>
                <a:spcPct val="150000"/>
              </a:lnSpc>
              <a:buFont typeface="Wingdings" pitchFamily="2" charset="2"/>
              <a:buChar char="ü"/>
            </a:pPr>
            <a:r>
              <a:rPr lang="en-US" dirty="0">
                <a:latin typeface="Arial" pitchFamily="34" charset="0"/>
                <a:cs typeface="Arial" pitchFamily="34" charset="0"/>
              </a:rPr>
              <a:t>(</a:t>
            </a:r>
            <a:r>
              <a:rPr lang="en-US" dirty="0" err="1">
                <a:latin typeface="Arial" pitchFamily="34" charset="0"/>
                <a:cs typeface="Arial" pitchFamily="34" charset="0"/>
              </a:rPr>
              <a:t>i</a:t>
            </a:r>
            <a:r>
              <a:rPr lang="en-US" dirty="0">
                <a:latin typeface="Arial" pitchFamily="34" charset="0"/>
                <a:cs typeface="Arial" pitchFamily="34" charset="0"/>
              </a:rPr>
              <a:t>) </a:t>
            </a:r>
            <a:r>
              <a:rPr lang="en-US" dirty="0">
                <a:solidFill>
                  <a:srgbClr val="C00000"/>
                </a:solidFill>
                <a:latin typeface="Arial" pitchFamily="34" charset="0"/>
                <a:cs typeface="Arial" pitchFamily="34" charset="0"/>
              </a:rPr>
              <a:t>First Law: </a:t>
            </a:r>
            <a:r>
              <a:rPr lang="en-US" dirty="0">
                <a:latin typeface="Arial" pitchFamily="34" charset="0"/>
                <a:cs typeface="Arial" pitchFamily="34" charset="0"/>
              </a:rPr>
              <a:t>The amount of chemical reaction which occurs at any electrode during electrolysis by a current is proportional to the quantity of electricity passed through the electrolyte (solution or melt).</a:t>
            </a:r>
          </a:p>
          <a:p>
            <a:pPr algn="just">
              <a:lnSpc>
                <a:spcPct val="150000"/>
              </a:lnSpc>
              <a:buFont typeface="Wingdings" pitchFamily="2" charset="2"/>
              <a:buChar char="ü"/>
            </a:pPr>
            <a:r>
              <a:rPr lang="en-US" dirty="0">
                <a:latin typeface="Arial" pitchFamily="34" charset="0"/>
                <a:cs typeface="Arial" pitchFamily="34" charset="0"/>
              </a:rPr>
              <a:t>(ii)</a:t>
            </a:r>
            <a:r>
              <a:rPr lang="en-US" dirty="0">
                <a:solidFill>
                  <a:srgbClr val="C00000"/>
                </a:solidFill>
                <a:latin typeface="Arial" pitchFamily="34" charset="0"/>
                <a:cs typeface="Arial" pitchFamily="34" charset="0"/>
              </a:rPr>
              <a:t>Second Law: </a:t>
            </a:r>
            <a:r>
              <a:rPr lang="en-US" dirty="0">
                <a:latin typeface="Arial" pitchFamily="34" charset="0"/>
                <a:cs typeface="Arial" pitchFamily="34" charset="0"/>
              </a:rPr>
              <a:t>The amounts of different substances liberated by the same quantity of electricity passing through the electrolytic solution are proportional to their chemical equivalent weights (Atomic Mass of Metal ÷ Number of electrons required to reduce the </a:t>
            </a:r>
            <a:r>
              <a:rPr lang="en-US" dirty="0" err="1">
                <a:latin typeface="Arial" pitchFamily="34" charset="0"/>
                <a:cs typeface="Arial" pitchFamily="34" charset="0"/>
              </a:rPr>
              <a:t>cation</a:t>
            </a:r>
            <a:r>
              <a:rPr lang="en-US" dirty="0">
                <a:latin typeface="Arial" pitchFamily="34" charset="0"/>
                <a:cs typeface="Arial" pitchFamily="34" charset="0"/>
              </a:rPr>
              <a:t>).</a:t>
            </a:r>
          </a:p>
          <a:p>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2" cstate="print"/>
          <a:srcRect/>
          <a:stretch>
            <a:fillRect/>
          </a:stretch>
        </p:blipFill>
        <p:spPr bwMode="auto">
          <a:xfrm>
            <a:off x="304800" y="304800"/>
            <a:ext cx="8077200" cy="63246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3000" fill="hold"/>
                                        <p:tgtEl>
                                          <p:spTgt spid="7"/>
                                        </p:tgtEl>
                                        <p:attrNameLst>
                                          <p:attrName>ppt_x</p:attrName>
                                        </p:attrNameLst>
                                      </p:cBhvr>
                                      <p:tavLst>
                                        <p:tav tm="0">
                                          <p:val>
                                            <p:strVal val="#ppt_x"/>
                                          </p:val>
                                        </p:tav>
                                        <p:tav tm="100000">
                                          <p:val>
                                            <p:strVal val="#ppt_x"/>
                                          </p:val>
                                        </p:tav>
                                      </p:tavLst>
                                    </p:anim>
                                    <p:anim calcmode="lin" valueType="num">
                                      <p:cBhvr additive="base">
                                        <p:cTn id="8" dur="30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BATTERIES</a:t>
            </a:r>
          </a:p>
        </p:txBody>
      </p:sp>
      <p:sp>
        <p:nvSpPr>
          <p:cNvPr id="3" name="Content Placeholder 2"/>
          <p:cNvSpPr>
            <a:spLocks noGrp="1"/>
          </p:cNvSpPr>
          <p:nvPr>
            <p:ph idx="1"/>
          </p:nvPr>
        </p:nvSpPr>
        <p:spPr/>
        <p:txBody>
          <a:bodyPr>
            <a:normAutofit/>
          </a:bodyPr>
          <a:lstStyle/>
          <a:p>
            <a:pPr algn="just">
              <a:lnSpc>
                <a:spcPct val="150000"/>
              </a:lnSpc>
              <a:buFont typeface="Wingdings" pitchFamily="2" charset="2"/>
              <a:buChar char="ü"/>
            </a:pPr>
            <a:r>
              <a:rPr lang="en-US" dirty="0">
                <a:latin typeface="Arial" pitchFamily="34" charset="0"/>
                <a:cs typeface="Arial" pitchFamily="34" charset="0"/>
              </a:rPr>
              <a:t>Batteries are the most important practical application of galvanic cells. </a:t>
            </a:r>
          </a:p>
          <a:p>
            <a:pPr algn="just">
              <a:lnSpc>
                <a:spcPct val="150000"/>
              </a:lnSpc>
              <a:buFont typeface="Wingdings" pitchFamily="2" charset="2"/>
              <a:buChar char="ü"/>
            </a:pPr>
            <a:r>
              <a:rPr lang="en-US" dirty="0">
                <a:latin typeface="Arial" pitchFamily="34" charset="0"/>
                <a:cs typeface="Arial" pitchFamily="34" charset="0"/>
              </a:rPr>
              <a:t>Single-cell batteries consist of one galvanic cell. </a:t>
            </a:r>
          </a:p>
          <a:p>
            <a:pPr algn="just">
              <a:lnSpc>
                <a:spcPct val="150000"/>
              </a:lnSpc>
              <a:buFont typeface="Wingdings" pitchFamily="2" charset="2"/>
              <a:buChar char="ü"/>
            </a:pPr>
            <a:r>
              <a:rPr lang="en-US" dirty="0">
                <a:latin typeface="Arial" pitchFamily="34" charset="0"/>
                <a:cs typeface="Arial" pitchFamily="34" charset="0"/>
              </a:rPr>
              <a:t>Multi-cell batteries consist of several galvanic cells linked in series to obtain the desired voltage.</a:t>
            </a:r>
          </a:p>
          <a:p>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latin typeface="Arial" pitchFamily="34" charset="0"/>
                <a:cs typeface="Arial" pitchFamily="34" charset="0"/>
              </a:rPr>
              <a:t>Types of batteries </a:t>
            </a:r>
            <a:endParaRPr lang="en-IN" dirty="0"/>
          </a:p>
        </p:txBody>
      </p:sp>
      <p:sp>
        <p:nvSpPr>
          <p:cNvPr id="9" name="Content Placeholder 8"/>
          <p:cNvSpPr>
            <a:spLocks noGrp="1"/>
          </p:cNvSpPr>
          <p:nvPr>
            <p:ph sz="half" idx="1"/>
          </p:nvPr>
        </p:nvSpPr>
        <p:spPr>
          <a:xfrm>
            <a:off x="228600" y="1828800"/>
            <a:ext cx="4038600" cy="4724400"/>
          </a:xfrm>
        </p:spPr>
        <p:txBody>
          <a:bodyPr>
            <a:normAutofit fontScale="77500" lnSpcReduction="20000"/>
          </a:bodyPr>
          <a:lstStyle/>
          <a:p>
            <a:pPr marL="279400" indent="-279400" algn="just">
              <a:lnSpc>
                <a:spcPct val="150000"/>
              </a:lnSpc>
              <a:buNone/>
            </a:pPr>
            <a:r>
              <a:rPr lang="en-US" dirty="0">
                <a:latin typeface="Arial" pitchFamily="34" charset="0"/>
                <a:cs typeface="Arial" pitchFamily="34" charset="0"/>
              </a:rPr>
              <a:t>     </a:t>
            </a:r>
            <a:r>
              <a:rPr lang="en-US" sz="3300" b="1" dirty="0"/>
              <a:t>PRIMARY BATTERY</a:t>
            </a:r>
            <a:endParaRPr lang="en-US" b="1" dirty="0"/>
          </a:p>
          <a:p>
            <a:pPr marL="279400" indent="-279400" algn="just">
              <a:lnSpc>
                <a:spcPct val="150000"/>
              </a:lnSpc>
              <a:buFont typeface="Wingdings" pitchFamily="2" charset="2"/>
              <a:buChar char="ü"/>
            </a:pPr>
            <a:r>
              <a:rPr lang="en-US" sz="3100" dirty="0">
                <a:latin typeface="Arial" pitchFamily="34" charset="0"/>
                <a:cs typeface="Arial" pitchFamily="34" charset="0"/>
              </a:rPr>
              <a:t>In these batteries, the reaction occurs only once and after use over a time period battery becomes dead and cannot be reused again.</a:t>
            </a:r>
          </a:p>
          <a:p>
            <a:pPr>
              <a:lnSpc>
                <a:spcPct val="150000"/>
              </a:lnSpc>
              <a:buFont typeface="Wingdings" pitchFamily="2" charset="2"/>
              <a:buChar char="ü"/>
            </a:pPr>
            <a:r>
              <a:rPr lang="en-US" sz="3100" dirty="0">
                <a:latin typeface="Arial" pitchFamily="34" charset="0"/>
                <a:cs typeface="Arial" pitchFamily="34" charset="0"/>
              </a:rPr>
              <a:t>Example:  Dry Cell</a:t>
            </a:r>
          </a:p>
          <a:p>
            <a:endParaRPr lang="en-IN" dirty="0"/>
          </a:p>
        </p:txBody>
      </p:sp>
      <p:sp>
        <p:nvSpPr>
          <p:cNvPr id="10" name="Content Placeholder 9"/>
          <p:cNvSpPr>
            <a:spLocks noGrp="1"/>
          </p:cNvSpPr>
          <p:nvPr>
            <p:ph sz="half" idx="2"/>
          </p:nvPr>
        </p:nvSpPr>
        <p:spPr>
          <a:xfrm>
            <a:off x="4800600" y="1905000"/>
            <a:ext cx="4114800" cy="4648200"/>
          </a:xfrm>
        </p:spPr>
        <p:txBody>
          <a:bodyPr>
            <a:normAutofit fontScale="77500" lnSpcReduction="20000"/>
          </a:bodyPr>
          <a:lstStyle/>
          <a:p>
            <a:pPr>
              <a:buNone/>
            </a:pPr>
            <a:r>
              <a:rPr lang="en-US" dirty="0"/>
              <a:t>     </a:t>
            </a:r>
            <a:r>
              <a:rPr lang="en-US" sz="3300" b="1" dirty="0"/>
              <a:t>SECONDARY BATTERY</a:t>
            </a:r>
          </a:p>
          <a:p>
            <a:pPr algn="just">
              <a:lnSpc>
                <a:spcPct val="150000"/>
              </a:lnSpc>
              <a:buFont typeface="Wingdings" pitchFamily="2" charset="2"/>
              <a:buChar char="ü"/>
            </a:pPr>
            <a:r>
              <a:rPr lang="en-US" sz="3100" dirty="0">
                <a:latin typeface="Arial" pitchFamily="34" charset="0"/>
                <a:cs typeface="Arial" pitchFamily="34" charset="0"/>
              </a:rPr>
              <a:t>A secondary battery after use can be reused by recharging by passing current through it in the opposite direction</a:t>
            </a:r>
          </a:p>
          <a:p>
            <a:pPr algn="just">
              <a:lnSpc>
                <a:spcPct val="150000"/>
              </a:lnSpc>
              <a:buFont typeface="Wingdings" pitchFamily="2" charset="2"/>
              <a:buChar char="ü"/>
            </a:pPr>
            <a:r>
              <a:rPr lang="en-US" sz="3100" dirty="0">
                <a:latin typeface="Arial" pitchFamily="34" charset="0"/>
                <a:cs typeface="Arial" pitchFamily="34" charset="0"/>
              </a:rPr>
              <a:t>Example: Lead storage cell</a:t>
            </a:r>
          </a:p>
          <a:p>
            <a:endParaRPr lang="en-I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b="1" dirty="0"/>
              <a:t>DRY CELL</a:t>
            </a:r>
          </a:p>
        </p:txBody>
      </p:sp>
      <p:sp>
        <p:nvSpPr>
          <p:cNvPr id="6" name="Rectangle 5"/>
          <p:cNvSpPr/>
          <p:nvPr/>
        </p:nvSpPr>
        <p:spPr>
          <a:xfrm>
            <a:off x="0" y="1524000"/>
            <a:ext cx="9144000" cy="4401205"/>
          </a:xfrm>
          <a:prstGeom prst="rect">
            <a:avLst/>
          </a:prstGeom>
        </p:spPr>
        <p:txBody>
          <a:bodyPr wrap="square">
            <a:spAutoFit/>
          </a:bodyPr>
          <a:lstStyle/>
          <a:p>
            <a:r>
              <a:rPr lang="en-IN" sz="2800" dirty="0"/>
              <a:t>A </a:t>
            </a:r>
            <a:r>
              <a:rPr lang="en-IN" sz="2800" b="1" dirty="0"/>
              <a:t>dry cell</a:t>
            </a:r>
            <a:r>
              <a:rPr lang="en-IN" sz="2800" dirty="0"/>
              <a:t> is a type of electric battery, commonly used for portable electrical devices. It was developed in 1886 by the German scientist Carl </a:t>
            </a:r>
            <a:r>
              <a:rPr lang="en-IN" sz="2800" dirty="0" err="1"/>
              <a:t>Gassner</a:t>
            </a:r>
            <a:r>
              <a:rPr lang="en-IN" sz="2800" dirty="0"/>
              <a:t>, after development of wet zinc-carbon batteries by Georges </a:t>
            </a:r>
            <a:r>
              <a:rPr lang="en-IN" sz="2800" dirty="0" err="1"/>
              <a:t>Leclanché</a:t>
            </a:r>
            <a:r>
              <a:rPr lang="en-IN" sz="2800" dirty="0"/>
              <a:t> in 1866. The modern version was developed by Japanese </a:t>
            </a:r>
            <a:r>
              <a:rPr lang="en-IN" sz="2800" dirty="0" err="1"/>
              <a:t>Yai</a:t>
            </a:r>
            <a:r>
              <a:rPr lang="en-IN" sz="2800" dirty="0"/>
              <a:t> </a:t>
            </a:r>
            <a:r>
              <a:rPr lang="en-IN" sz="2800" dirty="0" err="1"/>
              <a:t>Sakizo</a:t>
            </a:r>
            <a:r>
              <a:rPr lang="en-IN" sz="2800" dirty="0"/>
              <a:t> in 1887.</a:t>
            </a:r>
          </a:p>
          <a:p>
            <a:r>
              <a:rPr lang="en-IN" sz="2800" dirty="0"/>
              <a:t>                  A dry cell uses a paste electrolyte, with only enough moisture to allow current to flow</a:t>
            </a:r>
          </a:p>
          <a:p>
            <a:r>
              <a:rPr lang="en-IN" sz="2800" dirty="0"/>
              <a:t>A common dry cell is the zinc-carbon cell, sometimes called the dry </a:t>
            </a:r>
            <a:r>
              <a:rPr lang="en-IN" sz="2800" dirty="0" err="1"/>
              <a:t>Leclanché</a:t>
            </a:r>
            <a:r>
              <a:rPr lang="en-IN" sz="2800" dirty="0"/>
              <a:t> cell, with a nominal voltage of 1.5 volts, the same as the alkaline cell.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CHA56017"/>
          <p:cNvPicPr>
            <a:picLocks noGrp="1" noChangeAspect="1" noChangeArrowheads="1"/>
          </p:cNvPicPr>
          <p:nvPr>
            <p:ph idx="4294967295"/>
          </p:nvPr>
        </p:nvPicPr>
        <p:blipFill>
          <a:blip r:embed="rId2" cstate="print"/>
          <a:srcRect/>
          <a:stretch>
            <a:fillRect/>
          </a:stretch>
        </p:blipFill>
        <p:spPr bwMode="auto">
          <a:xfrm>
            <a:off x="5334000" y="381000"/>
            <a:ext cx="3810000" cy="2971800"/>
          </a:xfrm>
          <a:prstGeom prst="rect">
            <a:avLst/>
          </a:prstGeom>
          <a:noFill/>
          <a:ln w="9525">
            <a:noFill/>
            <a:miter lim="800000"/>
            <a:headEnd/>
            <a:tailEnd/>
          </a:ln>
        </p:spPr>
      </p:pic>
      <p:sp>
        <p:nvSpPr>
          <p:cNvPr id="8" name="Rectangle 7"/>
          <p:cNvSpPr/>
          <p:nvPr/>
        </p:nvSpPr>
        <p:spPr>
          <a:xfrm>
            <a:off x="152400" y="457200"/>
            <a:ext cx="4953000" cy="2862322"/>
          </a:xfrm>
          <a:prstGeom prst="rect">
            <a:avLst/>
          </a:prstGeom>
        </p:spPr>
        <p:txBody>
          <a:bodyPr wrap="square">
            <a:spAutoFit/>
          </a:bodyPr>
          <a:lstStyle/>
          <a:p>
            <a:pPr marL="0" lvl="1">
              <a:lnSpc>
                <a:spcPct val="150000"/>
              </a:lnSpc>
              <a:buClr>
                <a:schemeClr val="accent1"/>
              </a:buClr>
              <a:buSzPct val="85000"/>
              <a:buFont typeface="Wingdings" pitchFamily="2" charset="2"/>
              <a:buChar char="Ø"/>
              <a:tabLst>
                <a:tab pos="63500" algn="l"/>
              </a:tabLst>
              <a:defRPr/>
            </a:pPr>
            <a:r>
              <a:rPr lang="en-US" sz="2000" dirty="0">
                <a:latin typeface="Arial" pitchFamily="34" charset="0"/>
                <a:cs typeface="Arial" pitchFamily="34" charset="0"/>
              </a:rPr>
              <a:t>It is also called </a:t>
            </a:r>
            <a:r>
              <a:rPr lang="en-US" sz="2000" dirty="0" err="1">
                <a:latin typeface="Arial" pitchFamily="34" charset="0"/>
                <a:cs typeface="Arial" pitchFamily="34" charset="0"/>
              </a:rPr>
              <a:t>Leclanche</a:t>
            </a:r>
            <a:r>
              <a:rPr lang="en-US" sz="2000" dirty="0">
                <a:latin typeface="Arial" pitchFamily="34" charset="0"/>
                <a:cs typeface="Arial" pitchFamily="34" charset="0"/>
              </a:rPr>
              <a:t> cell</a:t>
            </a:r>
          </a:p>
          <a:p>
            <a:pPr marL="0" lvl="1">
              <a:lnSpc>
                <a:spcPct val="150000"/>
              </a:lnSpc>
              <a:buClr>
                <a:schemeClr val="accent1"/>
              </a:buClr>
              <a:buSzPct val="85000"/>
              <a:buFont typeface="Wingdings" pitchFamily="2" charset="2"/>
              <a:buChar char="Ø"/>
              <a:tabLst>
                <a:tab pos="63500" algn="l"/>
              </a:tabLst>
              <a:defRPr/>
            </a:pPr>
            <a:r>
              <a:rPr lang="en-US" sz="2000" dirty="0">
                <a:solidFill>
                  <a:srgbClr val="FF0000"/>
                </a:solidFill>
                <a:latin typeface="Arial" pitchFamily="34" charset="0"/>
                <a:cs typeface="Arial" pitchFamily="34" charset="0"/>
              </a:rPr>
              <a:t>A</a:t>
            </a:r>
            <a:r>
              <a:rPr lang="en-US" sz="2000" dirty="0">
                <a:solidFill>
                  <a:srgbClr val="C00000"/>
                </a:solidFill>
                <a:latin typeface="Arial" pitchFamily="34" charset="0"/>
                <a:cs typeface="Arial" pitchFamily="34" charset="0"/>
              </a:rPr>
              <a:t>node: </a:t>
            </a:r>
            <a:r>
              <a:rPr lang="en-US" sz="2000" dirty="0">
                <a:latin typeface="Arial" pitchFamily="34" charset="0"/>
                <a:cs typeface="Arial" pitchFamily="34" charset="0"/>
              </a:rPr>
              <a:t>Zinc metal can </a:t>
            </a:r>
          </a:p>
          <a:p>
            <a:pPr marL="0" lvl="1">
              <a:lnSpc>
                <a:spcPct val="150000"/>
              </a:lnSpc>
              <a:buClr>
                <a:schemeClr val="accent1"/>
              </a:buClr>
              <a:buSzPct val="85000"/>
              <a:buFont typeface="Wingdings" pitchFamily="2" charset="2"/>
              <a:buChar char="Ø"/>
              <a:tabLst>
                <a:tab pos="63500" algn="l"/>
              </a:tabLst>
              <a:defRPr/>
            </a:pPr>
            <a:r>
              <a:rPr lang="en-US" sz="2000" dirty="0">
                <a:solidFill>
                  <a:srgbClr val="C00000"/>
                </a:solidFill>
                <a:latin typeface="Arial" pitchFamily="34" charset="0"/>
                <a:cs typeface="Arial" pitchFamily="34" charset="0"/>
              </a:rPr>
              <a:t>Cathode: </a:t>
            </a:r>
            <a:r>
              <a:rPr lang="en-US" sz="2000" dirty="0">
                <a:latin typeface="Arial" pitchFamily="34" charset="0"/>
                <a:cs typeface="Arial" pitchFamily="34" charset="0"/>
              </a:rPr>
              <a:t>MnO</a:t>
            </a:r>
            <a:r>
              <a:rPr lang="en-US" sz="2000" baseline="-25000" dirty="0">
                <a:latin typeface="Arial" pitchFamily="34" charset="0"/>
                <a:cs typeface="Arial" pitchFamily="34" charset="0"/>
              </a:rPr>
              <a:t>2</a:t>
            </a:r>
            <a:r>
              <a:rPr lang="en-US" sz="2000" dirty="0">
                <a:latin typeface="Arial" pitchFamily="34" charset="0"/>
                <a:cs typeface="Arial" pitchFamily="34" charset="0"/>
              </a:rPr>
              <a:t> and carbon paste</a:t>
            </a:r>
          </a:p>
          <a:p>
            <a:pPr marL="0" lvl="1">
              <a:lnSpc>
                <a:spcPct val="150000"/>
              </a:lnSpc>
              <a:buClr>
                <a:schemeClr val="accent1"/>
              </a:buClr>
              <a:buSzPct val="85000"/>
              <a:buFont typeface="Wingdings" pitchFamily="2" charset="2"/>
              <a:buChar char="Ø"/>
              <a:tabLst>
                <a:tab pos="63500" algn="l"/>
              </a:tabLst>
              <a:defRPr/>
            </a:pPr>
            <a:r>
              <a:rPr lang="en-US" sz="2000" dirty="0">
                <a:solidFill>
                  <a:srgbClr val="C00000"/>
                </a:solidFill>
                <a:latin typeface="Arial" pitchFamily="34" charset="0"/>
                <a:cs typeface="Arial" pitchFamily="34" charset="0"/>
              </a:rPr>
              <a:t>Electrolyte: </a:t>
            </a:r>
            <a:r>
              <a:rPr lang="en-US" sz="2000" dirty="0">
                <a:latin typeface="Arial" pitchFamily="34" charset="0"/>
                <a:cs typeface="Arial" pitchFamily="34" charset="0"/>
              </a:rPr>
              <a:t>NH</a:t>
            </a:r>
            <a:r>
              <a:rPr lang="en-US" sz="2000" baseline="-25000" dirty="0">
                <a:latin typeface="Arial" pitchFamily="34" charset="0"/>
                <a:cs typeface="Arial" pitchFamily="34" charset="0"/>
              </a:rPr>
              <a:t>4</a:t>
            </a:r>
            <a:r>
              <a:rPr lang="en-US" sz="2000" dirty="0">
                <a:latin typeface="Arial" pitchFamily="34" charset="0"/>
                <a:cs typeface="Arial" pitchFamily="34" charset="0"/>
              </a:rPr>
              <a:t>Cl and ZnCl</a:t>
            </a:r>
            <a:r>
              <a:rPr lang="en-US" sz="2000" baseline="-25000" dirty="0">
                <a:latin typeface="Arial" pitchFamily="34" charset="0"/>
                <a:cs typeface="Arial" pitchFamily="34" charset="0"/>
              </a:rPr>
              <a:t>2</a:t>
            </a:r>
            <a:r>
              <a:rPr lang="en-US" sz="2000" dirty="0">
                <a:latin typeface="Arial" pitchFamily="34" charset="0"/>
                <a:cs typeface="Arial" pitchFamily="34" charset="0"/>
              </a:rPr>
              <a:t> paste.</a:t>
            </a:r>
          </a:p>
          <a:p>
            <a:pPr marL="0" lvl="1">
              <a:lnSpc>
                <a:spcPct val="150000"/>
              </a:lnSpc>
              <a:buClr>
                <a:schemeClr val="accent1"/>
              </a:buClr>
              <a:buSzPct val="85000"/>
              <a:buFont typeface="Wingdings" pitchFamily="2" charset="2"/>
              <a:buChar char="Ø"/>
              <a:tabLst>
                <a:tab pos="63500" algn="l"/>
              </a:tabLst>
              <a:defRPr/>
            </a:pPr>
            <a:r>
              <a:rPr lang="en-US" sz="2000" dirty="0">
                <a:latin typeface="Arial" pitchFamily="34" charset="0"/>
                <a:cs typeface="Arial" pitchFamily="34" charset="0"/>
              </a:rPr>
              <a:t>Cell Potential: 1.5 V  but decreases	     to 0.8 V with use.</a:t>
            </a:r>
          </a:p>
        </p:txBody>
      </p:sp>
      <p:sp>
        <p:nvSpPr>
          <p:cNvPr id="9" name="Rectangle 8"/>
          <p:cNvSpPr/>
          <p:nvPr/>
        </p:nvSpPr>
        <p:spPr>
          <a:xfrm>
            <a:off x="304800" y="3886200"/>
            <a:ext cx="8839200" cy="1477328"/>
          </a:xfrm>
          <a:prstGeom prst="rect">
            <a:avLst/>
          </a:prstGeom>
        </p:spPr>
        <p:txBody>
          <a:bodyPr wrap="square">
            <a:spAutoFit/>
          </a:bodyPr>
          <a:lstStyle/>
          <a:p>
            <a:pPr marL="117475" indent="-117475">
              <a:lnSpc>
                <a:spcPct val="150000"/>
              </a:lnSpc>
            </a:pPr>
            <a:r>
              <a:rPr lang="en-US" sz="2000" b="1" dirty="0"/>
              <a:t>Anode:		 Zn(s)    </a:t>
            </a:r>
            <a:r>
              <a:rPr lang="en-US" sz="2000" b="1" dirty="0">
                <a:solidFill>
                  <a:schemeClr val="tx1">
                    <a:lumMod val="85000"/>
                    <a:lumOff val="15000"/>
                  </a:schemeClr>
                </a:solidFill>
                <a:latin typeface="Arial" pitchFamily="34" charset="0"/>
                <a:cs typeface="Arial" pitchFamily="34" charset="0"/>
                <a:sym typeface="Symbol" pitchFamily="18" charset="2"/>
              </a:rPr>
              <a:t></a:t>
            </a:r>
            <a:r>
              <a:rPr lang="en-US" sz="2000" b="1" dirty="0"/>
              <a:t>   Zn</a:t>
            </a:r>
            <a:r>
              <a:rPr lang="en-US" sz="2000" b="1" baseline="30000" dirty="0"/>
              <a:t>2+</a:t>
            </a:r>
            <a:r>
              <a:rPr lang="en-US" sz="2000" b="1" dirty="0"/>
              <a:t> (</a:t>
            </a:r>
            <a:r>
              <a:rPr lang="en-US" sz="2000" b="1" i="1" dirty="0" err="1"/>
              <a:t>aq</a:t>
            </a:r>
            <a:r>
              <a:rPr lang="en-US" sz="2000" b="1" dirty="0"/>
              <a:t>) + 2e</a:t>
            </a:r>
            <a:r>
              <a:rPr lang="en-US" sz="2000" b="1" baseline="30000" dirty="0"/>
              <a:t>-</a:t>
            </a:r>
          </a:p>
          <a:p>
            <a:pPr marL="117475" indent="-117475">
              <a:lnSpc>
                <a:spcPct val="150000"/>
              </a:lnSpc>
            </a:pPr>
            <a:r>
              <a:rPr lang="en-US" sz="2000" b="1" dirty="0"/>
              <a:t>Cathode: 	2NH</a:t>
            </a:r>
            <a:r>
              <a:rPr lang="en-US" sz="2000" b="1" baseline="30000" dirty="0"/>
              <a:t>+</a:t>
            </a:r>
            <a:r>
              <a:rPr lang="en-US" sz="2000" b="1" baseline="-25000" dirty="0"/>
              <a:t>4</a:t>
            </a:r>
            <a:r>
              <a:rPr lang="en-US" sz="2000" b="1" dirty="0"/>
              <a:t> (</a:t>
            </a:r>
            <a:r>
              <a:rPr lang="en-US" sz="2000" b="1" i="1" dirty="0" err="1"/>
              <a:t>aq</a:t>
            </a:r>
            <a:r>
              <a:rPr lang="en-US" sz="2000" b="1" dirty="0"/>
              <a:t>) + 2MnO</a:t>
            </a:r>
            <a:r>
              <a:rPr lang="en-US" sz="2000" b="1" baseline="-25000" dirty="0"/>
              <a:t>2</a:t>
            </a:r>
            <a:r>
              <a:rPr lang="en-US" sz="2000" b="1" dirty="0"/>
              <a:t> (</a:t>
            </a:r>
            <a:r>
              <a:rPr lang="en-US" sz="2000" b="1" i="1" dirty="0"/>
              <a:t>s</a:t>
            </a:r>
            <a:r>
              <a:rPr lang="en-US" sz="2000" b="1" dirty="0"/>
              <a:t>) + 2e</a:t>
            </a:r>
            <a:r>
              <a:rPr lang="en-US" sz="2000" b="1" baseline="30000" dirty="0"/>
              <a:t>-</a:t>
            </a:r>
            <a:r>
              <a:rPr lang="en-US" sz="2000" b="1" dirty="0"/>
              <a:t> </a:t>
            </a:r>
            <a:r>
              <a:rPr lang="en-US" sz="2000" b="1" dirty="0">
                <a:solidFill>
                  <a:schemeClr val="tx1">
                    <a:lumMod val="85000"/>
                    <a:lumOff val="15000"/>
                  </a:schemeClr>
                </a:solidFill>
                <a:latin typeface="Arial" pitchFamily="34" charset="0"/>
                <a:cs typeface="Arial" pitchFamily="34" charset="0"/>
                <a:sym typeface="Symbol" pitchFamily="18" charset="2"/>
              </a:rPr>
              <a:t></a:t>
            </a:r>
            <a:r>
              <a:rPr lang="en-US" sz="2000" b="1" dirty="0"/>
              <a:t>  Mn</a:t>
            </a:r>
            <a:r>
              <a:rPr lang="en-US" sz="2000" b="1" baseline="-25000" dirty="0"/>
              <a:t>2</a:t>
            </a:r>
            <a:r>
              <a:rPr lang="en-US" sz="2000" b="1" dirty="0"/>
              <a:t>O</a:t>
            </a:r>
            <a:r>
              <a:rPr lang="en-US" sz="2000" b="1" baseline="-25000" dirty="0"/>
              <a:t>3</a:t>
            </a:r>
            <a:r>
              <a:rPr lang="en-US" sz="2000" b="1" dirty="0"/>
              <a:t> (</a:t>
            </a:r>
            <a:r>
              <a:rPr lang="en-US" sz="2000" b="1" i="1" dirty="0"/>
              <a:t>s</a:t>
            </a:r>
            <a:r>
              <a:rPr lang="en-US" sz="2000" b="1" dirty="0"/>
              <a:t>) + 2NH</a:t>
            </a:r>
            <a:r>
              <a:rPr lang="en-US" sz="2000" b="1" baseline="-25000" dirty="0"/>
              <a:t>3</a:t>
            </a:r>
            <a:r>
              <a:rPr lang="en-US" sz="2000" b="1" dirty="0"/>
              <a:t> (</a:t>
            </a:r>
            <a:r>
              <a:rPr lang="en-US" sz="2000" b="1" i="1" dirty="0" err="1"/>
              <a:t>aq</a:t>
            </a:r>
            <a:r>
              <a:rPr lang="en-US" sz="2000" b="1" dirty="0"/>
              <a:t>) + H</a:t>
            </a:r>
            <a:r>
              <a:rPr lang="en-US" sz="2000" b="1" baseline="-25000" dirty="0"/>
              <a:t>2</a:t>
            </a:r>
            <a:r>
              <a:rPr lang="en-US" sz="2000" b="1" dirty="0"/>
              <a:t>O (</a:t>
            </a:r>
            <a:r>
              <a:rPr lang="en-US" sz="2000" b="1" i="1" dirty="0"/>
              <a:t>l</a:t>
            </a:r>
            <a:r>
              <a:rPr lang="en-US" sz="2000" b="1" dirty="0"/>
              <a:t>)</a:t>
            </a:r>
          </a:p>
          <a:p>
            <a:pPr marL="117475" indent="-117475">
              <a:lnSpc>
                <a:spcPct val="150000"/>
              </a:lnSpc>
            </a:pPr>
            <a:r>
              <a:rPr lang="en-US" sz="2000" b="1" dirty="0"/>
              <a:t>Overall: Zn(</a:t>
            </a:r>
            <a:r>
              <a:rPr lang="en-US" sz="2000" b="1" i="1" dirty="0"/>
              <a:t>s</a:t>
            </a:r>
            <a:r>
              <a:rPr lang="en-US" sz="2000" b="1" dirty="0"/>
              <a:t>) + 2NH</a:t>
            </a:r>
            <a:r>
              <a:rPr lang="en-US" sz="2000" b="1" baseline="30000" dirty="0"/>
              <a:t>+</a:t>
            </a:r>
            <a:r>
              <a:rPr lang="en-US" sz="2000" b="1" baseline="-25000" dirty="0"/>
              <a:t>4</a:t>
            </a:r>
            <a:r>
              <a:rPr lang="en-US" sz="2000" b="1" dirty="0"/>
              <a:t>(</a:t>
            </a:r>
            <a:r>
              <a:rPr lang="en-US" sz="2000" b="1" i="1" dirty="0" err="1"/>
              <a:t>aq</a:t>
            </a:r>
            <a:r>
              <a:rPr lang="en-US" sz="2000" b="1" dirty="0"/>
              <a:t>) + 2MnO</a:t>
            </a:r>
            <a:r>
              <a:rPr lang="en-US" sz="2000" b="1" baseline="-25000" dirty="0"/>
              <a:t>2</a:t>
            </a:r>
            <a:r>
              <a:rPr lang="en-US" sz="2000" b="1" dirty="0"/>
              <a:t>(</a:t>
            </a:r>
            <a:r>
              <a:rPr lang="en-US" sz="2000" b="1" i="1" dirty="0"/>
              <a:t>s</a:t>
            </a:r>
            <a:r>
              <a:rPr lang="en-US" sz="2000" b="1" dirty="0"/>
              <a:t>) </a:t>
            </a:r>
            <a:r>
              <a:rPr lang="en-US" sz="2000" b="1" dirty="0">
                <a:solidFill>
                  <a:schemeClr val="tx1">
                    <a:lumMod val="85000"/>
                    <a:lumOff val="15000"/>
                  </a:schemeClr>
                </a:solidFill>
                <a:latin typeface="Arial" pitchFamily="34" charset="0"/>
                <a:cs typeface="Arial" pitchFamily="34" charset="0"/>
                <a:sym typeface="Symbol" pitchFamily="18" charset="2"/>
              </a:rPr>
              <a:t></a:t>
            </a:r>
            <a:r>
              <a:rPr lang="en-US" sz="2000" b="1" dirty="0"/>
              <a:t> Zn</a:t>
            </a:r>
            <a:r>
              <a:rPr lang="en-US" sz="2000" b="1" baseline="30000" dirty="0"/>
              <a:t>2+</a:t>
            </a:r>
            <a:r>
              <a:rPr lang="en-US" sz="2000" b="1" dirty="0"/>
              <a:t> (</a:t>
            </a:r>
            <a:r>
              <a:rPr lang="en-US" sz="2000" b="1" i="1" dirty="0" err="1"/>
              <a:t>aq</a:t>
            </a:r>
            <a:r>
              <a:rPr lang="en-US" sz="2000" b="1" dirty="0"/>
              <a:t>) + 2NH</a:t>
            </a:r>
            <a:r>
              <a:rPr lang="en-US" sz="2000" b="1" baseline="-25000" dirty="0"/>
              <a:t>3</a:t>
            </a:r>
            <a:r>
              <a:rPr lang="en-US" sz="2000" b="1" dirty="0"/>
              <a:t>(</a:t>
            </a:r>
            <a:r>
              <a:rPr lang="en-US" sz="2000" b="1" i="1" dirty="0" err="1"/>
              <a:t>aq</a:t>
            </a:r>
            <a:r>
              <a:rPr lang="en-US" sz="2000" b="1" dirty="0"/>
              <a:t>) + H</a:t>
            </a:r>
            <a:r>
              <a:rPr lang="en-US" sz="2000" b="1" baseline="-25000" dirty="0"/>
              <a:t>2</a:t>
            </a:r>
            <a:r>
              <a:rPr lang="en-US" sz="2000" b="1" dirty="0"/>
              <a:t>O(</a:t>
            </a:r>
            <a:r>
              <a:rPr lang="en-US" sz="2000" b="1" i="1" dirty="0"/>
              <a:t>l</a:t>
            </a:r>
            <a:r>
              <a:rPr lang="en-US" sz="2000" b="1" dirty="0"/>
              <a:t>) + Mn</a:t>
            </a:r>
            <a:r>
              <a:rPr lang="en-US" sz="2000" b="1" baseline="-25000" dirty="0"/>
              <a:t>2</a:t>
            </a:r>
            <a:r>
              <a:rPr lang="en-US" sz="2000" b="1" dirty="0"/>
              <a:t>O</a:t>
            </a:r>
            <a:r>
              <a:rPr lang="en-US" sz="2000" b="1" baseline="-25000" dirty="0"/>
              <a:t>3</a:t>
            </a:r>
            <a:r>
              <a:rPr lang="en-US" sz="2000" b="1" dirty="0"/>
              <a:t>(</a:t>
            </a:r>
            <a:r>
              <a:rPr lang="en-US" sz="2000" b="1" i="1" dirty="0"/>
              <a:t>s</a:t>
            </a:r>
            <a:r>
              <a:rPr lang="en-US" sz="2000" b="1"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down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MERCURY CELL/ BUTTON CELL</a:t>
            </a:r>
          </a:p>
        </p:txBody>
      </p:sp>
      <p:sp>
        <p:nvSpPr>
          <p:cNvPr id="3" name="Rectangle 2"/>
          <p:cNvSpPr/>
          <p:nvPr/>
        </p:nvSpPr>
        <p:spPr>
          <a:xfrm>
            <a:off x="0" y="1143000"/>
            <a:ext cx="8915400" cy="5693866"/>
          </a:xfrm>
          <a:prstGeom prst="rect">
            <a:avLst/>
          </a:prstGeom>
        </p:spPr>
        <p:txBody>
          <a:bodyPr wrap="square">
            <a:spAutoFit/>
          </a:bodyPr>
          <a:lstStyle/>
          <a:p>
            <a:r>
              <a:rPr lang="en-IN" sz="2800" dirty="0"/>
              <a:t>A </a:t>
            </a:r>
            <a:r>
              <a:rPr lang="en-IN" sz="2800" b="1" dirty="0"/>
              <a:t>mercury battery</a:t>
            </a:r>
            <a:r>
              <a:rPr lang="en-IN" sz="2800" dirty="0"/>
              <a:t> (also called </a:t>
            </a:r>
            <a:r>
              <a:rPr lang="en-IN" sz="2800" b="1" dirty="0"/>
              <a:t>mercuric oxide battery</a:t>
            </a:r>
            <a:r>
              <a:rPr lang="en-IN" sz="2800" dirty="0"/>
              <a:t>, </a:t>
            </a:r>
            <a:r>
              <a:rPr lang="en-IN" sz="2800" b="1" dirty="0"/>
              <a:t>mercury cell</a:t>
            </a:r>
            <a:r>
              <a:rPr lang="en-IN" sz="2800" dirty="0"/>
              <a:t>, </a:t>
            </a:r>
            <a:r>
              <a:rPr lang="en-IN" sz="2800" b="1" dirty="0"/>
              <a:t>button cell</a:t>
            </a:r>
            <a:r>
              <a:rPr lang="en-IN" sz="2800" dirty="0"/>
              <a:t>, or </a:t>
            </a:r>
            <a:r>
              <a:rPr lang="en-IN" sz="2800" b="1" dirty="0"/>
              <a:t>Ruben-Mallory</a:t>
            </a:r>
            <a:r>
              <a:rPr lang="en-IN" sz="2800" dirty="0"/>
              <a:t>) is a non-rechargeable electrochemical battery, a primary cell. </a:t>
            </a:r>
          </a:p>
          <a:p>
            <a:endParaRPr lang="en-IN" sz="2800" dirty="0"/>
          </a:p>
          <a:p>
            <a:r>
              <a:rPr lang="en-IN" sz="2800" dirty="0"/>
              <a:t>Mercury batteries use a reaction between mercuric oxide and zinc electrodes in an alkaline electrolyte. </a:t>
            </a:r>
          </a:p>
          <a:p>
            <a:endParaRPr lang="en-IN" sz="2800" dirty="0"/>
          </a:p>
          <a:p>
            <a:r>
              <a:rPr lang="en-IN" sz="2800" dirty="0"/>
              <a:t>The voltage during discharge remains practically constant at 1.35 volts, and the capacity is much greater than that of a similarly sized zinc carbon battery. Mercury batteries were used in the shape of button cells for watches, hearing aids, cameras and calculators, and in larger forms for other applications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6" descr="CHA56018"/>
          <p:cNvPicPr>
            <a:picLocks noGrp="1" noChangeAspect="1" noChangeArrowheads="1"/>
          </p:cNvPicPr>
          <p:nvPr>
            <p:ph idx="4294967295"/>
          </p:nvPr>
        </p:nvPicPr>
        <p:blipFill>
          <a:blip r:embed="rId2" cstate="print"/>
          <a:srcRect/>
          <a:stretch>
            <a:fillRect/>
          </a:stretch>
        </p:blipFill>
        <p:spPr bwMode="auto">
          <a:xfrm>
            <a:off x="4572000" y="2209800"/>
            <a:ext cx="4572000" cy="4343400"/>
          </a:xfrm>
          <a:prstGeom prst="rect">
            <a:avLst/>
          </a:prstGeom>
          <a:noFill/>
          <a:ln w="9525">
            <a:noFill/>
            <a:miter lim="800000"/>
            <a:headEnd/>
            <a:tailEnd/>
          </a:ln>
        </p:spPr>
      </p:pic>
      <p:sp>
        <p:nvSpPr>
          <p:cNvPr id="5" name="Rectangle 4"/>
          <p:cNvSpPr/>
          <p:nvPr/>
        </p:nvSpPr>
        <p:spPr>
          <a:xfrm>
            <a:off x="228600" y="304800"/>
            <a:ext cx="9144000" cy="1815882"/>
          </a:xfrm>
          <a:prstGeom prst="rect">
            <a:avLst/>
          </a:prstGeom>
        </p:spPr>
        <p:txBody>
          <a:bodyPr wrap="square">
            <a:spAutoFit/>
          </a:bodyPr>
          <a:lstStyle/>
          <a:p>
            <a:r>
              <a:rPr lang="en-US" sz="2400" b="1" dirty="0">
                <a:solidFill>
                  <a:schemeClr val="tx2">
                    <a:lumMod val="50000"/>
                  </a:schemeClr>
                </a:solidFill>
              </a:rPr>
              <a:t>Anode: Zn(Hg) + 2OH</a:t>
            </a:r>
            <a:r>
              <a:rPr lang="en-US" sz="2400" b="1" baseline="30000" dirty="0">
                <a:solidFill>
                  <a:schemeClr val="tx2">
                    <a:lumMod val="50000"/>
                  </a:schemeClr>
                </a:solidFill>
              </a:rPr>
              <a:t>-</a:t>
            </a:r>
            <a:r>
              <a:rPr lang="en-US" sz="2400" b="1" dirty="0">
                <a:solidFill>
                  <a:schemeClr val="tx2">
                    <a:lumMod val="50000"/>
                  </a:schemeClr>
                </a:solidFill>
              </a:rPr>
              <a:t> (</a:t>
            </a:r>
            <a:r>
              <a:rPr lang="en-US" sz="2400" b="1" i="1" dirty="0" err="1">
                <a:solidFill>
                  <a:schemeClr val="tx2">
                    <a:lumMod val="50000"/>
                  </a:schemeClr>
                </a:solidFill>
              </a:rPr>
              <a:t>aq</a:t>
            </a:r>
            <a:r>
              <a:rPr lang="en-US" sz="2400" b="1" dirty="0">
                <a:solidFill>
                  <a:schemeClr val="tx2">
                    <a:lumMod val="50000"/>
                  </a:schemeClr>
                </a:solidFill>
              </a:rPr>
              <a:t>)  </a:t>
            </a:r>
            <a:r>
              <a:rPr lang="en-US" sz="2400" b="1" dirty="0">
                <a:solidFill>
                  <a:schemeClr val="tx1">
                    <a:lumMod val="85000"/>
                    <a:lumOff val="15000"/>
                  </a:schemeClr>
                </a:solidFill>
                <a:latin typeface="Arial" pitchFamily="34" charset="0"/>
                <a:cs typeface="Arial" pitchFamily="34" charset="0"/>
                <a:sym typeface="Symbol" pitchFamily="18" charset="2"/>
              </a:rPr>
              <a:t></a:t>
            </a:r>
            <a:r>
              <a:rPr lang="en-US" sz="2400" b="1" dirty="0">
                <a:solidFill>
                  <a:schemeClr val="tx2">
                    <a:lumMod val="50000"/>
                  </a:schemeClr>
                </a:solidFill>
              </a:rPr>
              <a:t>   </a:t>
            </a:r>
            <a:r>
              <a:rPr lang="en-US" sz="2400" b="1" dirty="0" err="1">
                <a:solidFill>
                  <a:schemeClr val="tx2">
                    <a:lumMod val="50000"/>
                  </a:schemeClr>
                </a:solidFill>
              </a:rPr>
              <a:t>ZnO</a:t>
            </a:r>
            <a:r>
              <a:rPr lang="en-US" sz="2400" b="1" dirty="0">
                <a:solidFill>
                  <a:schemeClr val="tx2">
                    <a:lumMod val="50000"/>
                  </a:schemeClr>
                </a:solidFill>
              </a:rPr>
              <a:t>(</a:t>
            </a:r>
            <a:r>
              <a:rPr lang="en-US" sz="2400" b="1" i="1" dirty="0">
                <a:solidFill>
                  <a:schemeClr val="tx2">
                    <a:lumMod val="50000"/>
                  </a:schemeClr>
                </a:solidFill>
              </a:rPr>
              <a:t>s</a:t>
            </a:r>
            <a:r>
              <a:rPr lang="en-US" sz="2400" b="1" dirty="0">
                <a:solidFill>
                  <a:schemeClr val="tx2">
                    <a:lumMod val="50000"/>
                  </a:schemeClr>
                </a:solidFill>
              </a:rPr>
              <a:t>) + H</a:t>
            </a:r>
            <a:r>
              <a:rPr lang="en-US" sz="2400" b="1" baseline="-25000" dirty="0">
                <a:solidFill>
                  <a:schemeClr val="tx2">
                    <a:lumMod val="50000"/>
                  </a:schemeClr>
                </a:solidFill>
              </a:rPr>
              <a:t>2</a:t>
            </a:r>
            <a:r>
              <a:rPr lang="en-US" sz="2400" b="1" dirty="0">
                <a:solidFill>
                  <a:schemeClr val="tx2">
                    <a:lumMod val="50000"/>
                  </a:schemeClr>
                </a:solidFill>
              </a:rPr>
              <a:t>O (</a:t>
            </a:r>
            <a:r>
              <a:rPr lang="en-US" sz="2400" b="1" i="1" dirty="0">
                <a:solidFill>
                  <a:schemeClr val="tx2">
                    <a:lumMod val="50000"/>
                  </a:schemeClr>
                </a:solidFill>
              </a:rPr>
              <a:t>l</a:t>
            </a:r>
            <a:r>
              <a:rPr lang="en-US" sz="2400" b="1" dirty="0">
                <a:solidFill>
                  <a:schemeClr val="tx2">
                    <a:lumMod val="50000"/>
                  </a:schemeClr>
                </a:solidFill>
              </a:rPr>
              <a:t>) + 2e</a:t>
            </a:r>
            <a:r>
              <a:rPr lang="en-US" sz="2400" b="1" baseline="30000" dirty="0">
                <a:solidFill>
                  <a:schemeClr val="tx2">
                    <a:lumMod val="50000"/>
                  </a:schemeClr>
                </a:solidFill>
              </a:rPr>
              <a:t>-</a:t>
            </a:r>
            <a:br>
              <a:rPr lang="en-US" sz="2400" b="1" baseline="30000" dirty="0">
                <a:solidFill>
                  <a:schemeClr val="tx2">
                    <a:lumMod val="50000"/>
                  </a:schemeClr>
                </a:solidFill>
              </a:rPr>
            </a:br>
            <a:br>
              <a:rPr lang="en-US" sz="2400" b="1" baseline="30000" dirty="0">
                <a:solidFill>
                  <a:schemeClr val="tx2">
                    <a:lumMod val="50000"/>
                  </a:schemeClr>
                </a:solidFill>
              </a:rPr>
            </a:br>
            <a:r>
              <a:rPr lang="en-US" sz="2400" b="1" dirty="0">
                <a:solidFill>
                  <a:schemeClr val="tx2">
                    <a:lumMod val="50000"/>
                  </a:schemeClr>
                </a:solidFill>
              </a:rPr>
              <a:t>Cathode: </a:t>
            </a:r>
            <a:r>
              <a:rPr lang="en-US" sz="2400" b="1" dirty="0" err="1">
                <a:solidFill>
                  <a:schemeClr val="tx2">
                    <a:lumMod val="50000"/>
                  </a:schemeClr>
                </a:solidFill>
              </a:rPr>
              <a:t>HgO</a:t>
            </a:r>
            <a:r>
              <a:rPr lang="en-US" sz="2400" b="1" dirty="0">
                <a:solidFill>
                  <a:schemeClr val="tx2">
                    <a:lumMod val="50000"/>
                  </a:schemeClr>
                </a:solidFill>
              </a:rPr>
              <a:t>(</a:t>
            </a:r>
            <a:r>
              <a:rPr lang="en-US" sz="2400" b="1" i="1" dirty="0">
                <a:solidFill>
                  <a:schemeClr val="tx2">
                    <a:lumMod val="50000"/>
                  </a:schemeClr>
                </a:solidFill>
              </a:rPr>
              <a:t>s</a:t>
            </a:r>
            <a:r>
              <a:rPr lang="en-US" sz="2400" b="1" dirty="0">
                <a:solidFill>
                  <a:schemeClr val="tx2">
                    <a:lumMod val="50000"/>
                  </a:schemeClr>
                </a:solidFill>
              </a:rPr>
              <a:t>) + H</a:t>
            </a:r>
            <a:r>
              <a:rPr lang="en-US" sz="2400" b="1" baseline="-25000" dirty="0">
                <a:solidFill>
                  <a:schemeClr val="tx2">
                    <a:lumMod val="50000"/>
                  </a:schemeClr>
                </a:solidFill>
              </a:rPr>
              <a:t>2</a:t>
            </a:r>
            <a:r>
              <a:rPr lang="en-US" sz="2400" b="1" dirty="0">
                <a:solidFill>
                  <a:schemeClr val="tx2">
                    <a:lumMod val="50000"/>
                  </a:schemeClr>
                </a:solidFill>
              </a:rPr>
              <a:t>O (</a:t>
            </a:r>
            <a:r>
              <a:rPr lang="en-US" sz="2400" b="1" i="1" dirty="0">
                <a:solidFill>
                  <a:schemeClr val="tx2">
                    <a:lumMod val="50000"/>
                  </a:schemeClr>
                </a:solidFill>
              </a:rPr>
              <a:t>l</a:t>
            </a:r>
            <a:r>
              <a:rPr lang="en-US" sz="2400" b="1" dirty="0">
                <a:solidFill>
                  <a:schemeClr val="tx2">
                    <a:lumMod val="50000"/>
                  </a:schemeClr>
                </a:solidFill>
              </a:rPr>
              <a:t>) + 2e</a:t>
            </a:r>
            <a:r>
              <a:rPr lang="en-US" sz="2400" b="1" baseline="30000" dirty="0">
                <a:solidFill>
                  <a:schemeClr val="tx2">
                    <a:lumMod val="50000"/>
                  </a:schemeClr>
                </a:solidFill>
              </a:rPr>
              <a:t>-</a:t>
            </a:r>
            <a:r>
              <a:rPr lang="en-US" sz="2400" b="1" dirty="0">
                <a:solidFill>
                  <a:schemeClr val="tx2">
                    <a:lumMod val="50000"/>
                  </a:schemeClr>
                </a:solidFill>
              </a:rPr>
              <a:t> </a:t>
            </a:r>
            <a:r>
              <a:rPr lang="en-US" sz="2400" b="1" dirty="0">
                <a:solidFill>
                  <a:schemeClr val="tx1">
                    <a:lumMod val="85000"/>
                    <a:lumOff val="15000"/>
                  </a:schemeClr>
                </a:solidFill>
                <a:latin typeface="Arial" pitchFamily="34" charset="0"/>
                <a:cs typeface="Arial" pitchFamily="34" charset="0"/>
                <a:sym typeface="Symbol" pitchFamily="18" charset="2"/>
              </a:rPr>
              <a:t></a:t>
            </a:r>
            <a:r>
              <a:rPr lang="en-US" sz="2400" b="1" dirty="0">
                <a:solidFill>
                  <a:schemeClr val="tx2">
                    <a:lumMod val="50000"/>
                  </a:schemeClr>
                </a:solidFill>
              </a:rPr>
              <a:t>  Hg(</a:t>
            </a:r>
            <a:r>
              <a:rPr lang="en-US" sz="2400" b="1" i="1" dirty="0">
                <a:solidFill>
                  <a:schemeClr val="tx2">
                    <a:lumMod val="50000"/>
                  </a:schemeClr>
                </a:solidFill>
              </a:rPr>
              <a:t>l</a:t>
            </a:r>
            <a:r>
              <a:rPr lang="en-US" sz="2400" b="1" dirty="0">
                <a:solidFill>
                  <a:schemeClr val="tx2">
                    <a:lumMod val="50000"/>
                  </a:schemeClr>
                </a:solidFill>
              </a:rPr>
              <a:t>) + 2OH</a:t>
            </a:r>
            <a:r>
              <a:rPr lang="en-US" sz="2400" b="1" baseline="30000" dirty="0">
                <a:solidFill>
                  <a:schemeClr val="tx2">
                    <a:lumMod val="50000"/>
                  </a:schemeClr>
                </a:solidFill>
              </a:rPr>
              <a:t>-</a:t>
            </a:r>
            <a:r>
              <a:rPr lang="en-US" sz="2400" b="1" dirty="0">
                <a:solidFill>
                  <a:schemeClr val="tx2">
                    <a:lumMod val="50000"/>
                  </a:schemeClr>
                </a:solidFill>
              </a:rPr>
              <a:t> (</a:t>
            </a:r>
            <a:r>
              <a:rPr lang="en-US" sz="2400" b="1" i="1" dirty="0" err="1">
                <a:solidFill>
                  <a:schemeClr val="tx2">
                    <a:lumMod val="50000"/>
                  </a:schemeClr>
                </a:solidFill>
              </a:rPr>
              <a:t>aq</a:t>
            </a:r>
            <a:r>
              <a:rPr lang="en-US" sz="2400" b="1" dirty="0">
                <a:solidFill>
                  <a:schemeClr val="tx2">
                    <a:lumMod val="50000"/>
                  </a:schemeClr>
                </a:solidFill>
              </a:rPr>
              <a:t>)</a:t>
            </a:r>
            <a:br>
              <a:rPr lang="en-US" sz="2400" b="1" dirty="0">
                <a:solidFill>
                  <a:schemeClr val="tx2">
                    <a:lumMod val="50000"/>
                  </a:schemeClr>
                </a:solidFill>
              </a:rPr>
            </a:br>
            <a:br>
              <a:rPr lang="en-US" sz="2400" b="1" dirty="0">
                <a:solidFill>
                  <a:schemeClr val="tx2">
                    <a:lumMod val="50000"/>
                  </a:schemeClr>
                </a:solidFill>
              </a:rPr>
            </a:br>
            <a:r>
              <a:rPr lang="en-US" sz="2400" b="1" dirty="0">
                <a:solidFill>
                  <a:schemeClr val="tx2">
                    <a:lumMod val="50000"/>
                  </a:schemeClr>
                </a:solidFill>
              </a:rPr>
              <a:t>Overall: Zn(Hg) + </a:t>
            </a:r>
            <a:r>
              <a:rPr lang="en-US" sz="2400" b="1" dirty="0" err="1">
                <a:solidFill>
                  <a:schemeClr val="tx2">
                    <a:lumMod val="50000"/>
                  </a:schemeClr>
                </a:solidFill>
              </a:rPr>
              <a:t>HgO</a:t>
            </a:r>
            <a:r>
              <a:rPr lang="en-US" sz="2400" b="1" dirty="0">
                <a:solidFill>
                  <a:schemeClr val="tx2">
                    <a:lumMod val="50000"/>
                  </a:schemeClr>
                </a:solidFill>
              </a:rPr>
              <a:t>(</a:t>
            </a:r>
            <a:r>
              <a:rPr lang="en-US" sz="2400" b="1" i="1" dirty="0">
                <a:solidFill>
                  <a:schemeClr val="tx2">
                    <a:lumMod val="50000"/>
                  </a:schemeClr>
                </a:solidFill>
              </a:rPr>
              <a:t>s</a:t>
            </a:r>
            <a:r>
              <a:rPr lang="en-US" sz="2400" b="1" dirty="0">
                <a:solidFill>
                  <a:schemeClr val="tx2">
                    <a:lumMod val="50000"/>
                  </a:schemeClr>
                </a:solidFill>
              </a:rPr>
              <a:t>) </a:t>
            </a:r>
            <a:r>
              <a:rPr lang="en-US" sz="2400" b="1" dirty="0">
                <a:solidFill>
                  <a:schemeClr val="tx1">
                    <a:lumMod val="85000"/>
                    <a:lumOff val="15000"/>
                  </a:schemeClr>
                </a:solidFill>
                <a:latin typeface="Arial" pitchFamily="34" charset="0"/>
                <a:cs typeface="Arial" pitchFamily="34" charset="0"/>
                <a:sym typeface="Symbol" pitchFamily="18" charset="2"/>
              </a:rPr>
              <a:t></a:t>
            </a:r>
            <a:r>
              <a:rPr lang="en-US" sz="2400" b="1" dirty="0">
                <a:solidFill>
                  <a:schemeClr val="tx2">
                    <a:lumMod val="50000"/>
                  </a:schemeClr>
                </a:solidFill>
              </a:rPr>
              <a:t>   </a:t>
            </a:r>
            <a:r>
              <a:rPr lang="en-US" sz="2400" b="1" dirty="0" err="1">
                <a:solidFill>
                  <a:schemeClr val="tx2">
                    <a:lumMod val="50000"/>
                  </a:schemeClr>
                </a:solidFill>
              </a:rPr>
              <a:t>ZnO</a:t>
            </a:r>
            <a:r>
              <a:rPr lang="en-US" sz="2400" b="1" dirty="0">
                <a:solidFill>
                  <a:schemeClr val="tx2">
                    <a:lumMod val="50000"/>
                  </a:schemeClr>
                </a:solidFill>
              </a:rPr>
              <a:t>(</a:t>
            </a:r>
            <a:r>
              <a:rPr lang="en-US" sz="2400" b="1" i="1" dirty="0">
                <a:solidFill>
                  <a:schemeClr val="tx2">
                    <a:lumMod val="50000"/>
                  </a:schemeClr>
                </a:solidFill>
              </a:rPr>
              <a:t>s</a:t>
            </a:r>
            <a:r>
              <a:rPr lang="en-US" sz="2400" b="1" dirty="0">
                <a:solidFill>
                  <a:schemeClr val="tx2">
                    <a:lumMod val="50000"/>
                  </a:schemeClr>
                </a:solidFill>
              </a:rPr>
              <a:t>) + Hg (</a:t>
            </a:r>
            <a:r>
              <a:rPr lang="en-US" sz="2400" b="1" i="1" dirty="0">
                <a:solidFill>
                  <a:schemeClr val="tx2">
                    <a:lumMod val="50000"/>
                  </a:schemeClr>
                </a:solidFill>
              </a:rPr>
              <a:t>l</a:t>
            </a:r>
            <a:r>
              <a:rPr lang="en-US" sz="2400" b="1" dirty="0">
                <a:solidFill>
                  <a:schemeClr val="tx2">
                    <a:lumMod val="50000"/>
                  </a:schemeClr>
                </a:solidFill>
              </a:rPr>
              <a:t>)</a:t>
            </a:r>
            <a:endParaRPr lang="en-IN"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7" descr="CHA56019"/>
          <p:cNvPicPr>
            <a:picLocks noGrp="1" noChangeAspect="1" noChangeArrowheads="1"/>
          </p:cNvPicPr>
          <p:nvPr>
            <p:ph idx="4294967295"/>
          </p:nvPr>
        </p:nvPicPr>
        <p:blipFill>
          <a:blip r:embed="rId2" cstate="print"/>
          <a:srcRect/>
          <a:stretch>
            <a:fillRect/>
          </a:stretch>
        </p:blipFill>
        <p:spPr bwMode="auto">
          <a:xfrm>
            <a:off x="0" y="1447800"/>
            <a:ext cx="5943600" cy="3352800"/>
          </a:xfrm>
          <a:prstGeom prst="rect">
            <a:avLst/>
          </a:prstGeom>
          <a:noFill/>
          <a:ln w="9525">
            <a:noFill/>
            <a:miter lim="800000"/>
            <a:headEnd/>
            <a:tailEnd/>
          </a:ln>
        </p:spPr>
      </p:pic>
      <p:sp>
        <p:nvSpPr>
          <p:cNvPr id="5" name="Rectangle 4"/>
          <p:cNvSpPr/>
          <p:nvPr/>
        </p:nvSpPr>
        <p:spPr>
          <a:xfrm>
            <a:off x="304800" y="5151119"/>
            <a:ext cx="8305800" cy="1631216"/>
          </a:xfrm>
          <a:prstGeom prst="rect">
            <a:avLst/>
          </a:prstGeom>
        </p:spPr>
        <p:txBody>
          <a:bodyPr wrap="square">
            <a:spAutoFit/>
          </a:bodyPr>
          <a:lstStyle/>
          <a:p>
            <a:r>
              <a:rPr lang="en-US" sz="2000" dirty="0"/>
              <a:t>Anode :  </a:t>
            </a:r>
            <a:r>
              <a:rPr lang="en-US" sz="2000" dirty="0" err="1"/>
              <a:t>Pb</a:t>
            </a:r>
            <a:r>
              <a:rPr lang="en-US" sz="2000" dirty="0"/>
              <a:t>(s) + SO</a:t>
            </a:r>
            <a:r>
              <a:rPr lang="en-US" sz="2000" baseline="30000" dirty="0"/>
              <a:t>2-</a:t>
            </a:r>
            <a:r>
              <a:rPr lang="en-US" sz="2000" dirty="0"/>
              <a:t> (</a:t>
            </a:r>
            <a:r>
              <a:rPr lang="en-US" sz="2000" i="1" dirty="0" err="1"/>
              <a:t>aq</a:t>
            </a:r>
            <a:r>
              <a:rPr lang="en-US" sz="2000" dirty="0"/>
              <a:t>)                     PbSO</a:t>
            </a:r>
            <a:r>
              <a:rPr lang="en-US" sz="2000" baseline="-25000" dirty="0"/>
              <a:t>4</a:t>
            </a:r>
            <a:r>
              <a:rPr lang="en-US" sz="2000" dirty="0"/>
              <a:t>(</a:t>
            </a:r>
            <a:r>
              <a:rPr lang="en-US" sz="2000" i="1" dirty="0"/>
              <a:t>s</a:t>
            </a:r>
            <a:r>
              <a:rPr lang="en-US" sz="2000" dirty="0"/>
              <a:t>) + 2e</a:t>
            </a:r>
            <a:r>
              <a:rPr lang="en-US" sz="2000" baseline="30000" dirty="0"/>
              <a:t>-</a:t>
            </a:r>
          </a:p>
          <a:p>
            <a:r>
              <a:rPr lang="en-US" sz="2000" dirty="0"/>
              <a:t>Cathode:          </a:t>
            </a:r>
          </a:p>
          <a:p>
            <a:r>
              <a:rPr lang="en-US" sz="2000" dirty="0"/>
              <a:t> PbO</a:t>
            </a:r>
            <a:r>
              <a:rPr lang="en-US" sz="2000" baseline="-25000" dirty="0"/>
              <a:t>2</a:t>
            </a:r>
            <a:r>
              <a:rPr lang="en-US" sz="2000" dirty="0"/>
              <a:t>(</a:t>
            </a:r>
            <a:r>
              <a:rPr lang="en-US" sz="2000" i="1" dirty="0"/>
              <a:t>s</a:t>
            </a:r>
            <a:r>
              <a:rPr lang="en-US" sz="2000" dirty="0"/>
              <a:t>) + 4H</a:t>
            </a:r>
            <a:r>
              <a:rPr lang="en-US" sz="2000" baseline="30000" dirty="0"/>
              <a:t>+</a:t>
            </a:r>
            <a:r>
              <a:rPr lang="en-US" sz="2000" dirty="0"/>
              <a:t> (</a:t>
            </a:r>
            <a:r>
              <a:rPr lang="en-US" sz="2000" i="1" dirty="0" err="1"/>
              <a:t>aq</a:t>
            </a:r>
            <a:r>
              <a:rPr lang="en-US" sz="2000" dirty="0"/>
              <a:t>) + SO</a:t>
            </a:r>
            <a:r>
              <a:rPr lang="en-US" sz="2000" baseline="-25000" dirty="0"/>
              <a:t>4</a:t>
            </a:r>
            <a:r>
              <a:rPr lang="en-US" sz="2000" baseline="30000" dirty="0"/>
              <a:t>2-</a:t>
            </a:r>
            <a:r>
              <a:rPr lang="en-US" sz="2000" dirty="0"/>
              <a:t> </a:t>
            </a:r>
            <a:r>
              <a:rPr lang="en-US" sz="2000" i="1" dirty="0"/>
              <a:t>(</a:t>
            </a:r>
            <a:r>
              <a:rPr lang="en-US" sz="2000" i="1" dirty="0" err="1"/>
              <a:t>aq</a:t>
            </a:r>
            <a:r>
              <a:rPr lang="en-US" sz="2000" dirty="0"/>
              <a:t>) </a:t>
            </a:r>
            <a:r>
              <a:rPr lang="en-US" sz="2000" i="1" dirty="0"/>
              <a:t>+</a:t>
            </a:r>
            <a:r>
              <a:rPr lang="en-US" sz="2000" dirty="0"/>
              <a:t> 2e</a:t>
            </a:r>
            <a:r>
              <a:rPr lang="en-US" sz="2000" baseline="30000" dirty="0"/>
              <a:t>-</a:t>
            </a:r>
            <a:r>
              <a:rPr lang="en-US" sz="2000" dirty="0"/>
              <a:t>                    PbSO</a:t>
            </a:r>
            <a:r>
              <a:rPr lang="en-US" sz="2000" baseline="-25000" dirty="0"/>
              <a:t>4</a:t>
            </a:r>
            <a:r>
              <a:rPr lang="en-US" sz="2000" dirty="0"/>
              <a:t>(</a:t>
            </a:r>
            <a:r>
              <a:rPr lang="en-US" sz="2000" i="1" dirty="0"/>
              <a:t>s</a:t>
            </a:r>
            <a:r>
              <a:rPr lang="en-US" sz="2000" dirty="0"/>
              <a:t>) + 2H</a:t>
            </a:r>
            <a:r>
              <a:rPr lang="en-US" sz="2000" baseline="-25000" dirty="0"/>
              <a:t>2</a:t>
            </a:r>
            <a:r>
              <a:rPr lang="en-US" sz="2000" dirty="0"/>
              <a:t>O(l)</a:t>
            </a:r>
          </a:p>
          <a:p>
            <a:r>
              <a:rPr lang="en-US" sz="2000" dirty="0"/>
              <a:t>Overall reaction: </a:t>
            </a:r>
          </a:p>
          <a:p>
            <a:r>
              <a:rPr lang="en-US" sz="2000" dirty="0"/>
              <a:t> </a:t>
            </a:r>
            <a:r>
              <a:rPr lang="en-US" sz="2000" dirty="0" err="1"/>
              <a:t>Pb</a:t>
            </a:r>
            <a:r>
              <a:rPr lang="en-US" sz="2000" dirty="0"/>
              <a:t>(</a:t>
            </a:r>
            <a:r>
              <a:rPr lang="en-US" sz="2000" i="1" dirty="0"/>
              <a:t>s</a:t>
            </a:r>
            <a:r>
              <a:rPr lang="en-US" sz="2000" dirty="0"/>
              <a:t>) + PbO</a:t>
            </a:r>
            <a:r>
              <a:rPr lang="en-US" sz="2000" baseline="-25000" dirty="0"/>
              <a:t>2</a:t>
            </a:r>
            <a:r>
              <a:rPr lang="en-US" sz="2000" dirty="0"/>
              <a:t>(</a:t>
            </a:r>
            <a:r>
              <a:rPr lang="en-US" sz="2000" i="1" dirty="0"/>
              <a:t>s</a:t>
            </a:r>
            <a:r>
              <a:rPr lang="en-US" sz="2000" dirty="0"/>
              <a:t>) + 4H</a:t>
            </a:r>
            <a:r>
              <a:rPr lang="en-US" sz="2000" baseline="30000" dirty="0"/>
              <a:t>+</a:t>
            </a:r>
            <a:r>
              <a:rPr lang="en-US" sz="2000" dirty="0"/>
              <a:t>(</a:t>
            </a:r>
            <a:r>
              <a:rPr lang="en-US" sz="2000" i="1" dirty="0" err="1"/>
              <a:t>aq</a:t>
            </a:r>
            <a:r>
              <a:rPr lang="en-US" sz="2000" dirty="0"/>
              <a:t>) + 2SO</a:t>
            </a:r>
            <a:r>
              <a:rPr lang="en-US" sz="2000" baseline="-25000" dirty="0"/>
              <a:t>4</a:t>
            </a:r>
            <a:r>
              <a:rPr lang="en-US" sz="2000" baseline="30000" dirty="0"/>
              <a:t>2-</a:t>
            </a:r>
            <a:r>
              <a:rPr lang="en-US" sz="2000" dirty="0"/>
              <a:t>(</a:t>
            </a:r>
            <a:r>
              <a:rPr lang="en-US" sz="2000" i="1" dirty="0" err="1"/>
              <a:t>aq</a:t>
            </a:r>
            <a:r>
              <a:rPr lang="en-US" sz="2000" dirty="0"/>
              <a:t>)                 2PbSO</a:t>
            </a:r>
            <a:r>
              <a:rPr lang="en-US" sz="2000" baseline="-25000" dirty="0"/>
              <a:t>4</a:t>
            </a:r>
            <a:r>
              <a:rPr lang="en-US" sz="2000" dirty="0"/>
              <a:t> (</a:t>
            </a:r>
            <a:r>
              <a:rPr lang="en-US" sz="2000" i="1" dirty="0"/>
              <a:t>s</a:t>
            </a:r>
            <a:r>
              <a:rPr lang="en-US" sz="2000" dirty="0"/>
              <a:t>) + 2H</a:t>
            </a:r>
            <a:r>
              <a:rPr lang="en-US" sz="2000" baseline="-25000" dirty="0"/>
              <a:t>2</a:t>
            </a:r>
            <a:r>
              <a:rPr lang="en-US" sz="2000" dirty="0"/>
              <a:t>O (</a:t>
            </a:r>
            <a:r>
              <a:rPr lang="en-US" sz="2000" i="1" dirty="0"/>
              <a:t>l</a:t>
            </a:r>
            <a:r>
              <a:rPr lang="en-US" sz="2000" dirty="0"/>
              <a:t>)</a:t>
            </a:r>
          </a:p>
        </p:txBody>
      </p:sp>
      <p:sp>
        <p:nvSpPr>
          <p:cNvPr id="13" name="Right Arrow 12"/>
          <p:cNvSpPr/>
          <p:nvPr/>
        </p:nvSpPr>
        <p:spPr>
          <a:xfrm>
            <a:off x="4434840" y="6553200"/>
            <a:ext cx="7620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ight Arrow 13"/>
          <p:cNvSpPr/>
          <p:nvPr/>
        </p:nvSpPr>
        <p:spPr>
          <a:xfrm>
            <a:off x="3200400" y="5334000"/>
            <a:ext cx="8382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ight Arrow 14"/>
          <p:cNvSpPr/>
          <p:nvPr/>
        </p:nvSpPr>
        <p:spPr>
          <a:xfrm>
            <a:off x="4343400" y="5955297"/>
            <a:ext cx="6858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p:cNvSpPr txBox="1"/>
          <p:nvPr/>
        </p:nvSpPr>
        <p:spPr>
          <a:xfrm>
            <a:off x="1524000" y="457200"/>
            <a:ext cx="5181600" cy="523220"/>
          </a:xfrm>
          <a:prstGeom prst="rect">
            <a:avLst/>
          </a:prstGeom>
          <a:noFill/>
        </p:spPr>
        <p:txBody>
          <a:bodyPr wrap="square" rtlCol="0">
            <a:spAutoFit/>
          </a:bodyPr>
          <a:lstStyle/>
          <a:p>
            <a:r>
              <a:rPr lang="en-US" sz="2800" b="1" dirty="0"/>
              <a:t>LEAD STORAGE CELL</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NICKEL CADMIUM BATTERY</a:t>
            </a:r>
          </a:p>
        </p:txBody>
      </p:sp>
      <p:sp>
        <p:nvSpPr>
          <p:cNvPr id="3" name="Content Placeholder 2"/>
          <p:cNvSpPr>
            <a:spLocks noGrp="1"/>
          </p:cNvSpPr>
          <p:nvPr>
            <p:ph idx="1"/>
          </p:nvPr>
        </p:nvSpPr>
        <p:spPr/>
        <p:txBody>
          <a:bodyPr>
            <a:normAutofit fontScale="77500" lnSpcReduction="20000"/>
          </a:bodyPr>
          <a:lstStyle/>
          <a:p>
            <a:r>
              <a:rPr lang="en-IN" sz="2000" dirty="0"/>
              <a:t>The </a:t>
            </a:r>
            <a:r>
              <a:rPr lang="en-IN" sz="2000" b="1" dirty="0"/>
              <a:t>nickel–cadmium battery</a:t>
            </a:r>
            <a:r>
              <a:rPr lang="en-IN" sz="2000" dirty="0"/>
              <a:t> (</a:t>
            </a:r>
            <a:r>
              <a:rPr lang="en-IN" sz="2000" b="1" dirty="0"/>
              <a:t>Ni-Cd battery</a:t>
            </a:r>
            <a:r>
              <a:rPr lang="en-IN" sz="2000" dirty="0"/>
              <a:t> or </a:t>
            </a:r>
            <a:r>
              <a:rPr lang="en-IN" sz="2000" b="1" dirty="0"/>
              <a:t>NiCad battery</a:t>
            </a:r>
            <a:r>
              <a:rPr lang="en-IN" sz="2000" dirty="0"/>
              <a:t>) is a type of rechargeable battery using nickel oxide hydroxide and metallic cadmium as electrodes. </a:t>
            </a:r>
          </a:p>
          <a:p>
            <a:pPr marL="0" indent="0">
              <a:buNone/>
            </a:pPr>
            <a:r>
              <a:rPr lang="en-IN" sz="2000" dirty="0"/>
              <a:t>A fully charged Ni-Cd cell contains:</a:t>
            </a:r>
          </a:p>
          <a:p>
            <a:r>
              <a:rPr lang="en-IN" sz="2000" dirty="0"/>
              <a:t>a nickel(III) oxide-hydroxide positive electrode plate</a:t>
            </a:r>
          </a:p>
          <a:p>
            <a:r>
              <a:rPr lang="en-IN" sz="2000" dirty="0"/>
              <a:t>a cadmium negative electrode plate</a:t>
            </a:r>
          </a:p>
          <a:p>
            <a:r>
              <a:rPr lang="en-IN" sz="2000" dirty="0"/>
              <a:t>an alkaline electrolyte (potassium hydroxide).</a:t>
            </a:r>
          </a:p>
          <a:p>
            <a:r>
              <a:rPr lang="en-US" sz="2000" dirty="0"/>
              <a:t>anode reaction</a:t>
            </a:r>
          </a:p>
          <a:p>
            <a:r>
              <a:rPr lang="en-US" sz="2000" dirty="0"/>
              <a:t>(</a:t>
            </a:r>
            <a:r>
              <a:rPr lang="en-US" sz="2000" dirty="0" err="1"/>
              <a:t>i</a:t>
            </a:r>
            <a:r>
              <a:rPr lang="en-US" sz="2000" dirty="0"/>
              <a:t>) Cd</a:t>
            </a:r>
            <a:r>
              <a:rPr lang="en-US" sz="2000" baseline="-25000" dirty="0"/>
              <a:t>(s)</a:t>
            </a:r>
            <a:r>
              <a:rPr lang="en-US" sz="2000" dirty="0"/>
              <a:t> + 2OH</a:t>
            </a:r>
            <a:r>
              <a:rPr lang="en-US" sz="2000" baseline="30000" dirty="0"/>
              <a:t>-</a:t>
            </a:r>
            <a:r>
              <a:rPr lang="en-US" sz="2000" baseline="-25000" dirty="0"/>
              <a:t>(</a:t>
            </a:r>
            <a:r>
              <a:rPr lang="en-US" sz="2000" baseline="-25000" dirty="0" err="1"/>
              <a:t>aq</a:t>
            </a:r>
            <a:r>
              <a:rPr lang="en-US" sz="2000" baseline="-25000" dirty="0"/>
              <a:t>)</a:t>
            </a:r>
            <a:r>
              <a:rPr lang="en-US" sz="2000" dirty="0"/>
              <a:t> ==&gt; Cd(OH)</a:t>
            </a:r>
            <a:r>
              <a:rPr lang="en-US" sz="2000" baseline="-25000" dirty="0"/>
              <a:t>2(s)</a:t>
            </a:r>
            <a:r>
              <a:rPr lang="en-US" sz="2000" dirty="0"/>
              <a:t> + 2e</a:t>
            </a:r>
            <a:r>
              <a:rPr lang="en-US" sz="2000" baseline="30000" dirty="0"/>
              <a:t>-</a:t>
            </a:r>
            <a:endParaRPr lang="en-US" sz="2000" dirty="0"/>
          </a:p>
          <a:p>
            <a:pPr marL="0" indent="0">
              <a:buNone/>
            </a:pPr>
            <a:r>
              <a:rPr lang="en-US" sz="2000" dirty="0"/>
              <a:t>        cathode reaction</a:t>
            </a:r>
          </a:p>
          <a:p>
            <a:r>
              <a:rPr lang="en-US" sz="2000" dirty="0"/>
              <a:t>C</a:t>
            </a:r>
          </a:p>
          <a:p>
            <a:pPr marL="0" indent="0">
              <a:buNone/>
            </a:pPr>
            <a:br>
              <a:rPr lang="en-US" sz="2000" dirty="0"/>
            </a:br>
            <a:endParaRPr lang="en-US" sz="2000" dirty="0"/>
          </a:p>
          <a:p>
            <a:pPr marL="0" indent="0">
              <a:buNone/>
            </a:pPr>
            <a:endParaRPr lang="en-IN"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304800"/>
            <a:ext cx="4648200" cy="3276600"/>
          </a:xfrm>
        </p:spPr>
        <p:txBody>
          <a:bodyPr/>
          <a:lstStyle/>
          <a:p>
            <a:pPr marL="457200" indent="-457200">
              <a:lnSpc>
                <a:spcPct val="150000"/>
              </a:lnSpc>
            </a:pPr>
            <a:r>
              <a:rPr lang="en-US" sz="2400" dirty="0">
                <a:solidFill>
                  <a:schemeClr val="tx1">
                    <a:lumMod val="85000"/>
                    <a:lumOff val="15000"/>
                  </a:schemeClr>
                </a:solidFill>
                <a:latin typeface="Arial" pitchFamily="34" charset="0"/>
                <a:cs typeface="Arial" pitchFamily="34" charset="0"/>
              </a:rPr>
              <a:t>It is rechargeable  </a:t>
            </a:r>
          </a:p>
          <a:p>
            <a:pPr marL="457200" indent="-457200">
              <a:lnSpc>
                <a:spcPct val="150000"/>
              </a:lnSpc>
            </a:pPr>
            <a:r>
              <a:rPr lang="en-US" sz="2400" dirty="0">
                <a:solidFill>
                  <a:schemeClr val="tx1">
                    <a:lumMod val="85000"/>
                    <a:lumOff val="15000"/>
                  </a:schemeClr>
                </a:solidFill>
                <a:latin typeface="Arial" pitchFamily="34" charset="0"/>
                <a:cs typeface="Arial" pitchFamily="34" charset="0"/>
              </a:rPr>
              <a:t>Cell Potential :1.30 V</a:t>
            </a:r>
          </a:p>
          <a:p>
            <a:pPr marL="457200" indent="-457200">
              <a:lnSpc>
                <a:spcPct val="150000"/>
              </a:lnSpc>
            </a:pPr>
            <a:r>
              <a:rPr lang="en-US" sz="2400" dirty="0">
                <a:solidFill>
                  <a:schemeClr val="tx1">
                    <a:lumMod val="85000"/>
                    <a:lumOff val="15000"/>
                  </a:schemeClr>
                </a:solidFill>
                <a:latin typeface="Arial" pitchFamily="34" charset="0"/>
                <a:cs typeface="Arial" pitchFamily="34" charset="0"/>
              </a:rPr>
              <a:t>Electrolyte: NiO(OH).</a:t>
            </a:r>
          </a:p>
          <a:p>
            <a:pPr>
              <a:buNone/>
            </a:pPr>
            <a:endParaRPr lang="en-IN" dirty="0"/>
          </a:p>
        </p:txBody>
      </p:sp>
      <p:pic>
        <p:nvPicPr>
          <p:cNvPr id="4" name="Picture 1"/>
          <p:cNvPicPr>
            <a:picLocks noChangeAspect="1" noChangeArrowheads="1"/>
          </p:cNvPicPr>
          <p:nvPr/>
        </p:nvPicPr>
        <p:blipFill>
          <a:blip r:embed="rId2" cstate="print"/>
          <a:srcRect/>
          <a:stretch>
            <a:fillRect/>
          </a:stretch>
        </p:blipFill>
        <p:spPr bwMode="auto">
          <a:xfrm>
            <a:off x="4191000" y="304800"/>
            <a:ext cx="4800600" cy="4191000"/>
          </a:xfrm>
          <a:prstGeom prst="rect">
            <a:avLst/>
          </a:prstGeom>
          <a:noFill/>
          <a:ln w="9525">
            <a:noFill/>
            <a:miter lim="800000"/>
            <a:headEnd/>
            <a:tailEnd/>
          </a:ln>
          <a:effectLst/>
        </p:spPr>
      </p:pic>
      <p:sp>
        <p:nvSpPr>
          <p:cNvPr id="5" name="Rectangle 4"/>
          <p:cNvSpPr/>
          <p:nvPr/>
        </p:nvSpPr>
        <p:spPr>
          <a:xfrm>
            <a:off x="228600" y="4648200"/>
            <a:ext cx="8686800" cy="2769989"/>
          </a:xfrm>
          <a:prstGeom prst="rect">
            <a:avLst/>
          </a:prstGeom>
        </p:spPr>
        <p:txBody>
          <a:bodyPr wrap="square">
            <a:spAutoFit/>
          </a:bodyPr>
          <a:lstStyle/>
          <a:p>
            <a:pPr marL="0" lvl="1">
              <a:lnSpc>
                <a:spcPct val="150000"/>
              </a:lnSpc>
              <a:buClr>
                <a:schemeClr val="accent3"/>
              </a:buClr>
              <a:buSzPct val="95000"/>
            </a:pPr>
            <a:r>
              <a:rPr lang="en-US" sz="2400">
                <a:solidFill>
                  <a:schemeClr val="tx1">
                    <a:lumMod val="85000"/>
                    <a:lumOff val="15000"/>
                  </a:schemeClr>
                </a:solidFill>
                <a:latin typeface="Arial" pitchFamily="34" charset="0"/>
                <a:cs typeface="Arial" pitchFamily="34" charset="0"/>
              </a:rPr>
              <a:t> Anode</a:t>
            </a:r>
            <a:r>
              <a:rPr lang="en-US" sz="2400" dirty="0">
                <a:solidFill>
                  <a:schemeClr val="tx1">
                    <a:lumMod val="85000"/>
                    <a:lumOff val="15000"/>
                  </a:schemeClr>
                </a:solidFill>
                <a:latin typeface="Arial" pitchFamily="34" charset="0"/>
                <a:cs typeface="Arial" pitchFamily="34" charset="0"/>
              </a:rPr>
              <a:t>: 	 Cd(</a:t>
            </a:r>
            <a:r>
              <a:rPr lang="en-US" sz="2400" i="1" dirty="0">
                <a:solidFill>
                  <a:schemeClr val="tx1">
                    <a:lumMod val="85000"/>
                    <a:lumOff val="15000"/>
                  </a:schemeClr>
                </a:solidFill>
                <a:latin typeface="Arial" pitchFamily="34" charset="0"/>
                <a:cs typeface="Arial" pitchFamily="34" charset="0"/>
              </a:rPr>
              <a:t>s</a:t>
            </a:r>
            <a:r>
              <a:rPr lang="en-US" sz="2400" dirty="0">
                <a:solidFill>
                  <a:schemeClr val="tx1">
                    <a:lumMod val="85000"/>
                    <a:lumOff val="15000"/>
                  </a:schemeClr>
                </a:solidFill>
                <a:latin typeface="Arial" pitchFamily="34" charset="0"/>
                <a:cs typeface="Arial" pitchFamily="34" charset="0"/>
              </a:rPr>
              <a:t>) + 2OH</a:t>
            </a:r>
            <a:r>
              <a:rPr lang="en-US" sz="2400" baseline="30000" dirty="0">
                <a:solidFill>
                  <a:schemeClr val="tx1">
                    <a:lumMod val="85000"/>
                    <a:lumOff val="15000"/>
                  </a:schemeClr>
                </a:solidFill>
                <a:latin typeface="Arial" pitchFamily="34" charset="0"/>
                <a:cs typeface="Arial" pitchFamily="34" charset="0"/>
              </a:rPr>
              <a:t>–</a:t>
            </a:r>
            <a:r>
              <a:rPr lang="en-US" sz="2400" dirty="0">
                <a:solidFill>
                  <a:schemeClr val="tx1">
                    <a:lumMod val="85000"/>
                    <a:lumOff val="15000"/>
                  </a:schemeClr>
                </a:solidFill>
                <a:latin typeface="Arial" pitchFamily="34" charset="0"/>
                <a:cs typeface="Arial" pitchFamily="34" charset="0"/>
              </a:rPr>
              <a:t>(</a:t>
            </a:r>
            <a:r>
              <a:rPr lang="en-US" sz="2400" i="1" dirty="0" err="1">
                <a:solidFill>
                  <a:schemeClr val="tx1">
                    <a:lumMod val="85000"/>
                    <a:lumOff val="15000"/>
                  </a:schemeClr>
                </a:solidFill>
                <a:latin typeface="Arial" pitchFamily="34" charset="0"/>
                <a:cs typeface="Arial" pitchFamily="34" charset="0"/>
              </a:rPr>
              <a:t>aq</a:t>
            </a:r>
            <a:r>
              <a:rPr lang="en-US" sz="2400" dirty="0">
                <a:solidFill>
                  <a:schemeClr val="tx1">
                    <a:lumMod val="85000"/>
                    <a:lumOff val="15000"/>
                  </a:schemeClr>
                </a:solidFill>
                <a:latin typeface="Arial" pitchFamily="34" charset="0"/>
                <a:cs typeface="Arial" pitchFamily="34" charset="0"/>
              </a:rPr>
              <a:t>) </a:t>
            </a:r>
            <a:r>
              <a:rPr lang="en-US" sz="2400" dirty="0">
                <a:solidFill>
                  <a:schemeClr val="tx1">
                    <a:lumMod val="85000"/>
                    <a:lumOff val="15000"/>
                  </a:schemeClr>
                </a:solidFill>
                <a:latin typeface="Arial" pitchFamily="34" charset="0"/>
                <a:cs typeface="Arial" pitchFamily="34" charset="0"/>
                <a:sym typeface="Symbol" pitchFamily="18" charset="2"/>
              </a:rPr>
              <a:t></a:t>
            </a:r>
            <a:r>
              <a:rPr lang="en-US" sz="2400" dirty="0">
                <a:solidFill>
                  <a:schemeClr val="tx1">
                    <a:lumMod val="85000"/>
                    <a:lumOff val="15000"/>
                  </a:schemeClr>
                </a:solidFill>
                <a:latin typeface="Arial" pitchFamily="34" charset="0"/>
                <a:cs typeface="Arial" pitchFamily="34" charset="0"/>
              </a:rPr>
              <a:t> Cd(OH)</a:t>
            </a:r>
            <a:r>
              <a:rPr lang="en-US" sz="2400" baseline="-25000" dirty="0">
                <a:solidFill>
                  <a:schemeClr val="tx1">
                    <a:lumMod val="85000"/>
                    <a:lumOff val="15000"/>
                  </a:schemeClr>
                </a:solidFill>
                <a:latin typeface="Arial" pitchFamily="34" charset="0"/>
                <a:cs typeface="Arial" pitchFamily="34" charset="0"/>
              </a:rPr>
              <a:t>2</a:t>
            </a:r>
            <a:r>
              <a:rPr lang="en-US" sz="2400" dirty="0">
                <a:solidFill>
                  <a:schemeClr val="tx1">
                    <a:lumMod val="85000"/>
                    <a:lumOff val="15000"/>
                  </a:schemeClr>
                </a:solidFill>
                <a:latin typeface="Arial" pitchFamily="34" charset="0"/>
                <a:cs typeface="Arial" pitchFamily="34" charset="0"/>
              </a:rPr>
              <a:t>(</a:t>
            </a:r>
            <a:r>
              <a:rPr lang="en-US" sz="2400" i="1" dirty="0">
                <a:solidFill>
                  <a:schemeClr val="tx1">
                    <a:lumMod val="85000"/>
                    <a:lumOff val="15000"/>
                  </a:schemeClr>
                </a:solidFill>
                <a:latin typeface="Arial" pitchFamily="34" charset="0"/>
                <a:cs typeface="Arial" pitchFamily="34" charset="0"/>
              </a:rPr>
              <a:t>s</a:t>
            </a:r>
            <a:r>
              <a:rPr lang="en-US" sz="2400" dirty="0">
                <a:solidFill>
                  <a:schemeClr val="tx1">
                    <a:lumMod val="85000"/>
                    <a:lumOff val="15000"/>
                  </a:schemeClr>
                </a:solidFill>
                <a:latin typeface="Arial" pitchFamily="34" charset="0"/>
                <a:cs typeface="Arial" pitchFamily="34" charset="0"/>
              </a:rPr>
              <a:t>) + 2e</a:t>
            </a:r>
            <a:r>
              <a:rPr lang="en-US" sz="2400" baseline="30000" dirty="0">
                <a:solidFill>
                  <a:schemeClr val="tx1">
                    <a:lumMod val="85000"/>
                    <a:lumOff val="15000"/>
                  </a:schemeClr>
                </a:solidFill>
                <a:latin typeface="Arial" pitchFamily="34" charset="0"/>
                <a:cs typeface="Arial" pitchFamily="34" charset="0"/>
              </a:rPr>
              <a:t>–</a:t>
            </a:r>
          </a:p>
          <a:p>
            <a:r>
              <a:rPr lang="en-US" sz="2400" dirty="0">
                <a:latin typeface="Arial" panose="020B0604020202020204" pitchFamily="34" charset="0"/>
                <a:cs typeface="Arial" panose="020B0604020202020204" pitchFamily="34" charset="0"/>
              </a:rPr>
              <a:t>cathode reaction</a:t>
            </a:r>
          </a:p>
          <a:p>
            <a:r>
              <a:rPr lang="en-US" sz="2400" dirty="0">
                <a:latin typeface="Arial" panose="020B0604020202020204" pitchFamily="34" charset="0"/>
                <a:cs typeface="Arial" panose="020B0604020202020204" pitchFamily="34" charset="0"/>
              </a:rPr>
              <a:t>(ii) NiO</a:t>
            </a:r>
            <a:r>
              <a:rPr lang="en-US" sz="2400" baseline="-25000" dirty="0">
                <a:latin typeface="Arial" panose="020B0604020202020204" pitchFamily="34" charset="0"/>
                <a:cs typeface="Arial" panose="020B0604020202020204" pitchFamily="34" charset="0"/>
              </a:rPr>
              <a:t>2(s)</a:t>
            </a:r>
            <a:r>
              <a:rPr lang="en-US" sz="2400" dirty="0">
                <a:latin typeface="Arial" panose="020B0604020202020204" pitchFamily="34" charset="0"/>
                <a:cs typeface="Arial" panose="020B0604020202020204" pitchFamily="34" charset="0"/>
              </a:rPr>
              <a:t> + 2e</a:t>
            </a:r>
            <a:r>
              <a:rPr lang="en-US" sz="2400" baseline="300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 + 2H</a:t>
            </a:r>
            <a:r>
              <a:rPr lang="en-US" sz="2400" baseline="-25000" dirty="0">
                <a:latin typeface="Arial" panose="020B0604020202020204" pitchFamily="34" charset="0"/>
                <a:cs typeface="Arial" panose="020B0604020202020204" pitchFamily="34" charset="0"/>
              </a:rPr>
              <a:t>2</a:t>
            </a:r>
            <a:r>
              <a:rPr lang="en-US" sz="2400" dirty="0">
                <a:latin typeface="Arial" panose="020B0604020202020204" pitchFamily="34" charset="0"/>
                <a:cs typeface="Arial" panose="020B0604020202020204" pitchFamily="34" charset="0"/>
              </a:rPr>
              <a:t>O ==&gt; Ni(OH)</a:t>
            </a:r>
            <a:r>
              <a:rPr lang="en-US" sz="2400" baseline="-25000" dirty="0">
                <a:latin typeface="Arial" panose="020B0604020202020204" pitchFamily="34" charset="0"/>
                <a:cs typeface="Arial" panose="020B0604020202020204" pitchFamily="34" charset="0"/>
              </a:rPr>
              <a:t>2(s)</a:t>
            </a:r>
            <a:r>
              <a:rPr lang="en-US" sz="2400" dirty="0">
                <a:latin typeface="Arial" panose="020B0604020202020204" pitchFamily="34" charset="0"/>
                <a:cs typeface="Arial" panose="020B0604020202020204" pitchFamily="34" charset="0"/>
              </a:rPr>
              <a:t> + 2OH</a:t>
            </a:r>
            <a:r>
              <a:rPr lang="en-US" sz="2400" baseline="30000" dirty="0">
                <a:latin typeface="Arial" panose="020B0604020202020204" pitchFamily="34" charset="0"/>
                <a:cs typeface="Arial" panose="020B0604020202020204" pitchFamily="34" charset="0"/>
              </a:rPr>
              <a:t>-</a:t>
            </a:r>
            <a:r>
              <a:rPr lang="en-US" sz="2400" baseline="-25000" dirty="0">
                <a:latin typeface="Arial" panose="020B0604020202020204" pitchFamily="34" charset="0"/>
                <a:cs typeface="Arial" panose="020B0604020202020204" pitchFamily="34" charset="0"/>
              </a:rPr>
              <a:t>(</a:t>
            </a:r>
            <a:r>
              <a:rPr lang="en-US" sz="2400" baseline="-25000" dirty="0" err="1">
                <a:latin typeface="Arial" panose="020B0604020202020204" pitchFamily="34" charset="0"/>
                <a:cs typeface="Arial" panose="020B0604020202020204" pitchFamily="34" charset="0"/>
              </a:rPr>
              <a:t>aq</a:t>
            </a:r>
            <a:r>
              <a:rPr lang="en-US" sz="2400" baseline="-25000" dirty="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overall cell reaction</a:t>
            </a:r>
          </a:p>
          <a:p>
            <a:r>
              <a:rPr lang="en-US" sz="2400" dirty="0">
                <a:latin typeface="Arial" panose="020B0604020202020204" pitchFamily="34" charset="0"/>
                <a:cs typeface="Arial" panose="020B0604020202020204" pitchFamily="34" charset="0"/>
              </a:rPr>
              <a:t>(iii) Cd</a:t>
            </a:r>
            <a:r>
              <a:rPr lang="en-US" sz="2400" baseline="-25000" dirty="0">
                <a:latin typeface="Arial" panose="020B0604020202020204" pitchFamily="34" charset="0"/>
                <a:cs typeface="Arial" panose="020B0604020202020204" pitchFamily="34" charset="0"/>
              </a:rPr>
              <a:t>(s)</a:t>
            </a:r>
            <a:r>
              <a:rPr lang="en-US" sz="2400" dirty="0">
                <a:latin typeface="Arial" panose="020B0604020202020204" pitchFamily="34" charset="0"/>
                <a:cs typeface="Arial" panose="020B0604020202020204" pitchFamily="34" charset="0"/>
              </a:rPr>
              <a:t> + NiO</a:t>
            </a:r>
            <a:r>
              <a:rPr lang="en-US" sz="2400" baseline="-25000" dirty="0">
                <a:latin typeface="Arial" panose="020B0604020202020204" pitchFamily="34" charset="0"/>
                <a:cs typeface="Arial" panose="020B0604020202020204" pitchFamily="34" charset="0"/>
              </a:rPr>
              <a:t>2(s)</a:t>
            </a:r>
            <a:r>
              <a:rPr lang="en-US" sz="2400" dirty="0">
                <a:latin typeface="Arial" panose="020B0604020202020204" pitchFamily="34" charset="0"/>
                <a:cs typeface="Arial" panose="020B0604020202020204" pitchFamily="34" charset="0"/>
              </a:rPr>
              <a:t> + 2H</a:t>
            </a:r>
            <a:r>
              <a:rPr lang="en-US" sz="2400" baseline="-25000" dirty="0">
                <a:latin typeface="Arial" panose="020B0604020202020204" pitchFamily="34" charset="0"/>
                <a:cs typeface="Arial" panose="020B0604020202020204" pitchFamily="34" charset="0"/>
              </a:rPr>
              <a:t>2</a:t>
            </a:r>
            <a:r>
              <a:rPr lang="en-US" sz="2400" dirty="0">
                <a:latin typeface="Arial" panose="020B0604020202020204" pitchFamily="34" charset="0"/>
                <a:cs typeface="Arial" panose="020B0604020202020204" pitchFamily="34" charset="0"/>
              </a:rPr>
              <a:t>O ==&gt; Cd(OH)</a:t>
            </a:r>
            <a:r>
              <a:rPr lang="en-US" sz="2400" baseline="-25000" dirty="0">
                <a:latin typeface="Arial" panose="020B0604020202020204" pitchFamily="34" charset="0"/>
                <a:cs typeface="Arial" panose="020B0604020202020204" pitchFamily="34" charset="0"/>
              </a:rPr>
              <a:t>2(s)</a:t>
            </a:r>
            <a:r>
              <a:rPr lang="en-US" sz="2400" dirty="0">
                <a:latin typeface="Arial" panose="020B0604020202020204" pitchFamily="34" charset="0"/>
                <a:cs typeface="Arial" panose="020B0604020202020204" pitchFamily="34" charset="0"/>
              </a:rPr>
              <a:t> + Ni(OH)</a:t>
            </a:r>
            <a:r>
              <a:rPr lang="en-US" sz="2400" baseline="-25000" dirty="0">
                <a:latin typeface="Arial" panose="020B0604020202020204" pitchFamily="34" charset="0"/>
                <a:cs typeface="Arial" panose="020B0604020202020204" pitchFamily="34" charset="0"/>
              </a:rPr>
              <a:t>2(s)</a:t>
            </a:r>
            <a:endParaRPr lang="en-US" sz="2400" dirty="0">
              <a:latin typeface="Arial" panose="020B0604020202020204" pitchFamily="34" charset="0"/>
              <a:cs typeface="Arial" panose="020B0604020202020204" pitchFamily="34" charset="0"/>
            </a:endParaRPr>
          </a:p>
          <a:p>
            <a:br>
              <a:rPr lang="en-US" dirty="0"/>
            </a:br>
            <a:endParaRPr lang="en-US" sz="2400" dirty="0">
              <a:solidFill>
                <a:schemeClr val="tx1">
                  <a:lumMod val="85000"/>
                  <a:lumOff val="15000"/>
                </a:schemeClr>
              </a:solidFill>
              <a:latin typeface="Arial" pitchFamily="34" charset="0"/>
              <a:cs typeface="Arial"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FUEL CELL</a:t>
            </a:r>
          </a:p>
        </p:txBody>
      </p:sp>
      <p:sp>
        <p:nvSpPr>
          <p:cNvPr id="3" name="Content Placeholder 2"/>
          <p:cNvSpPr>
            <a:spLocks noGrp="1"/>
          </p:cNvSpPr>
          <p:nvPr>
            <p:ph idx="1"/>
          </p:nvPr>
        </p:nvSpPr>
        <p:spPr>
          <a:xfrm>
            <a:off x="0" y="1600200"/>
            <a:ext cx="9144000" cy="4953000"/>
          </a:xfrm>
        </p:spPr>
        <p:txBody>
          <a:bodyPr>
            <a:normAutofit fontScale="62500" lnSpcReduction="20000"/>
          </a:bodyPr>
          <a:lstStyle/>
          <a:p>
            <a:pPr algn="just">
              <a:lnSpc>
                <a:spcPct val="150000"/>
              </a:lnSpc>
              <a:buFont typeface="Wingdings" pitchFamily="2" charset="2"/>
              <a:buChar char="ü"/>
            </a:pPr>
            <a:r>
              <a:rPr lang="en-US" sz="3800" dirty="0">
                <a:solidFill>
                  <a:schemeClr val="tx1">
                    <a:lumMod val="85000"/>
                    <a:lumOff val="15000"/>
                  </a:schemeClr>
                </a:solidFill>
                <a:latin typeface="Arial" pitchFamily="34" charset="0"/>
                <a:cs typeface="Arial" pitchFamily="34" charset="0"/>
              </a:rPr>
              <a:t>It’s a type of galvanic cell </a:t>
            </a:r>
            <a:r>
              <a:rPr lang="en-US" sz="3800" dirty="0">
                <a:latin typeface="Arial" pitchFamily="34" charset="0"/>
                <a:cs typeface="Arial" pitchFamily="34" charset="0"/>
              </a:rPr>
              <a:t>that requires a continuous supply of reactants to keep functioning.</a:t>
            </a:r>
          </a:p>
          <a:p>
            <a:pPr algn="just">
              <a:lnSpc>
                <a:spcPct val="150000"/>
              </a:lnSpc>
              <a:buFont typeface="Wingdings" pitchFamily="2" charset="2"/>
              <a:buChar char="ü"/>
            </a:pPr>
            <a:r>
              <a:rPr lang="en-US" sz="3800" dirty="0">
                <a:latin typeface="Arial" pitchFamily="34" charset="0"/>
                <a:cs typeface="Arial" pitchFamily="34" charset="0"/>
              </a:rPr>
              <a:t>Fuel cells are not batteries because they are not self-contained.</a:t>
            </a:r>
          </a:p>
          <a:p>
            <a:pPr algn="just">
              <a:lnSpc>
                <a:spcPct val="150000"/>
              </a:lnSpc>
              <a:buFont typeface="Wingdings" pitchFamily="2" charset="2"/>
              <a:buChar char="ü"/>
            </a:pPr>
            <a:r>
              <a:rPr lang="en-US" sz="3800" dirty="0">
                <a:solidFill>
                  <a:schemeClr val="tx1">
                    <a:lumMod val="85000"/>
                    <a:lumOff val="15000"/>
                  </a:schemeClr>
                </a:solidFill>
                <a:latin typeface="Arial" pitchFamily="34" charset="0"/>
                <a:cs typeface="Arial" pitchFamily="34" charset="0"/>
              </a:rPr>
              <a:t>It uses externally fed CH</a:t>
            </a:r>
            <a:r>
              <a:rPr lang="en-US" sz="3800" baseline="-25000" dirty="0">
                <a:solidFill>
                  <a:schemeClr val="tx1">
                    <a:lumMod val="85000"/>
                    <a:lumOff val="15000"/>
                  </a:schemeClr>
                </a:solidFill>
                <a:latin typeface="Arial" pitchFamily="34" charset="0"/>
                <a:cs typeface="Arial" pitchFamily="34" charset="0"/>
              </a:rPr>
              <a:t>4</a:t>
            </a:r>
            <a:r>
              <a:rPr lang="en-US" sz="3800" dirty="0">
                <a:solidFill>
                  <a:schemeClr val="tx1">
                    <a:lumMod val="85000"/>
                    <a:lumOff val="15000"/>
                  </a:schemeClr>
                </a:solidFill>
                <a:latin typeface="Arial" pitchFamily="34" charset="0"/>
                <a:cs typeface="Arial" pitchFamily="34" charset="0"/>
              </a:rPr>
              <a:t> , CH</a:t>
            </a:r>
            <a:r>
              <a:rPr lang="en-US" sz="3800" baseline="-25000" dirty="0">
                <a:solidFill>
                  <a:schemeClr val="tx1">
                    <a:lumMod val="85000"/>
                    <a:lumOff val="15000"/>
                  </a:schemeClr>
                </a:solidFill>
                <a:latin typeface="Arial" pitchFamily="34" charset="0"/>
                <a:cs typeface="Arial" pitchFamily="34" charset="0"/>
              </a:rPr>
              <a:t>3</a:t>
            </a:r>
            <a:r>
              <a:rPr lang="en-US" sz="3800" dirty="0">
                <a:solidFill>
                  <a:schemeClr val="tx1">
                    <a:lumMod val="85000"/>
                    <a:lumOff val="15000"/>
                  </a:schemeClr>
                </a:solidFill>
                <a:latin typeface="Arial" pitchFamily="34" charset="0"/>
                <a:cs typeface="Arial" pitchFamily="34" charset="0"/>
              </a:rPr>
              <a:t>OH or H</a:t>
            </a:r>
            <a:r>
              <a:rPr lang="en-US" sz="3800" baseline="-25000" dirty="0">
                <a:solidFill>
                  <a:schemeClr val="tx1">
                    <a:lumMod val="85000"/>
                    <a:lumOff val="15000"/>
                  </a:schemeClr>
                </a:solidFill>
                <a:latin typeface="Arial" pitchFamily="34" charset="0"/>
                <a:cs typeface="Arial" pitchFamily="34" charset="0"/>
              </a:rPr>
              <a:t>2</a:t>
            </a:r>
            <a:r>
              <a:rPr lang="en-US" sz="3800" dirty="0">
                <a:solidFill>
                  <a:schemeClr val="tx1">
                    <a:lumMod val="85000"/>
                    <a:lumOff val="15000"/>
                  </a:schemeClr>
                </a:solidFill>
                <a:latin typeface="Arial" pitchFamily="34" charset="0"/>
                <a:cs typeface="Arial" pitchFamily="34" charset="0"/>
              </a:rPr>
              <a:t>, which react to form water. </a:t>
            </a:r>
          </a:p>
          <a:p>
            <a:pPr algn="just">
              <a:lnSpc>
                <a:spcPct val="150000"/>
              </a:lnSpc>
              <a:buFont typeface="Wingdings" pitchFamily="2" charset="2"/>
              <a:buChar char="ü"/>
            </a:pPr>
            <a:r>
              <a:rPr lang="en-US" sz="3800" dirty="0">
                <a:solidFill>
                  <a:schemeClr val="tx1">
                    <a:lumMod val="85000"/>
                    <a:lumOff val="15000"/>
                  </a:schemeClr>
                </a:solidFill>
                <a:latin typeface="Arial" pitchFamily="34" charset="0"/>
                <a:cs typeface="Arial" pitchFamily="34" charset="0"/>
              </a:rPr>
              <a:t>Electrolyte: Hot aqueous KOH solution.</a:t>
            </a:r>
          </a:p>
          <a:p>
            <a:pPr algn="just">
              <a:lnSpc>
                <a:spcPct val="150000"/>
              </a:lnSpc>
              <a:buFont typeface="Wingdings" pitchFamily="2" charset="2"/>
              <a:buChar char="ü"/>
            </a:pPr>
            <a:r>
              <a:rPr lang="en-US" sz="3800" dirty="0">
                <a:solidFill>
                  <a:schemeClr val="tx1">
                    <a:lumMod val="85000"/>
                    <a:lumOff val="15000"/>
                  </a:schemeClr>
                </a:solidFill>
                <a:latin typeface="Arial" pitchFamily="34" charset="0"/>
                <a:cs typeface="Arial" pitchFamily="34" charset="0"/>
              </a:rPr>
              <a:t>Cell Potential: 1.23 V and have </a:t>
            </a:r>
            <a:r>
              <a:rPr lang="en-US" sz="3800" dirty="0">
                <a:latin typeface="Arial" pitchFamily="34" charset="0"/>
                <a:cs typeface="Arial" pitchFamily="34" charset="0"/>
              </a:rPr>
              <a:t>about 40% conversion to electricity; the remainder is lost as heat. Excess heat can be used to drive turbine generators</a:t>
            </a:r>
            <a:r>
              <a:rPr lang="en-US" dirty="0">
                <a:latin typeface="Arial" pitchFamily="34" charset="0"/>
                <a:cs typeface="Arial" pitchFamily="34" charset="0"/>
              </a:rPr>
              <a:t>.</a:t>
            </a:r>
          </a:p>
          <a:p>
            <a:endParaRPr lang="en-I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noChangeArrowheads="1"/>
          </p:cNvPicPr>
          <p:nvPr/>
        </p:nvPicPr>
        <p:blipFill>
          <a:blip r:embed="rId2" cstate="print"/>
          <a:srcRect/>
          <a:stretch>
            <a:fillRect/>
          </a:stretch>
        </p:blipFill>
        <p:spPr>
          <a:xfrm>
            <a:off x="4191000" y="533400"/>
            <a:ext cx="4219575" cy="3733800"/>
          </a:xfrm>
          <a:prstGeom prst="rect">
            <a:avLst/>
          </a:prstGeom>
        </p:spPr>
      </p:pic>
      <p:sp>
        <p:nvSpPr>
          <p:cNvPr id="5" name="Rectangle 4"/>
          <p:cNvSpPr/>
          <p:nvPr/>
        </p:nvSpPr>
        <p:spPr>
          <a:xfrm>
            <a:off x="304800" y="4800600"/>
            <a:ext cx="8001000" cy="1015663"/>
          </a:xfrm>
          <a:prstGeom prst="rect">
            <a:avLst/>
          </a:prstGeom>
        </p:spPr>
        <p:txBody>
          <a:bodyPr wrap="square">
            <a:spAutoFit/>
          </a:bodyPr>
          <a:lstStyle/>
          <a:p>
            <a:pPr>
              <a:buNone/>
            </a:pPr>
            <a:r>
              <a:rPr lang="en-US" sz="2000" b="1" dirty="0">
                <a:solidFill>
                  <a:srgbClr val="FF0000"/>
                </a:solidFill>
              </a:rPr>
              <a:t>Anode : 	2H</a:t>
            </a:r>
            <a:r>
              <a:rPr lang="en-US" sz="2000" b="1" baseline="-25000" dirty="0">
                <a:solidFill>
                  <a:srgbClr val="FF0000"/>
                </a:solidFill>
              </a:rPr>
              <a:t>2</a:t>
            </a:r>
            <a:r>
              <a:rPr lang="en-US" sz="2000" b="1" dirty="0">
                <a:solidFill>
                  <a:srgbClr val="FF0000"/>
                </a:solidFill>
              </a:rPr>
              <a:t> (</a:t>
            </a:r>
            <a:r>
              <a:rPr lang="en-US" sz="2000" b="1" i="1" dirty="0">
                <a:solidFill>
                  <a:srgbClr val="FF0000"/>
                </a:solidFill>
              </a:rPr>
              <a:t>g</a:t>
            </a:r>
            <a:r>
              <a:rPr lang="en-US" sz="2000" b="1" dirty="0">
                <a:solidFill>
                  <a:srgbClr val="FF0000"/>
                </a:solidFill>
              </a:rPr>
              <a:t>) + 4OH</a:t>
            </a:r>
            <a:r>
              <a:rPr lang="en-US" sz="2000" b="1" baseline="30000" dirty="0">
                <a:solidFill>
                  <a:srgbClr val="FF0000"/>
                </a:solidFill>
              </a:rPr>
              <a:t>-</a:t>
            </a:r>
            <a:r>
              <a:rPr lang="en-US" sz="2000" b="1" dirty="0">
                <a:solidFill>
                  <a:srgbClr val="FF0000"/>
                </a:solidFill>
              </a:rPr>
              <a:t> (</a:t>
            </a:r>
            <a:r>
              <a:rPr lang="en-US" sz="2000" b="1" i="1" dirty="0" err="1">
                <a:solidFill>
                  <a:srgbClr val="FF0000"/>
                </a:solidFill>
              </a:rPr>
              <a:t>aq</a:t>
            </a:r>
            <a:r>
              <a:rPr lang="en-US" sz="2000" b="1" dirty="0">
                <a:solidFill>
                  <a:srgbClr val="FF0000"/>
                </a:solidFill>
              </a:rPr>
              <a:t>)                          4H</a:t>
            </a:r>
            <a:r>
              <a:rPr lang="en-US" sz="2000" b="1" baseline="-25000" dirty="0">
                <a:solidFill>
                  <a:srgbClr val="FF0000"/>
                </a:solidFill>
              </a:rPr>
              <a:t>2</a:t>
            </a:r>
            <a:r>
              <a:rPr lang="en-US" sz="2000" b="1" dirty="0">
                <a:solidFill>
                  <a:srgbClr val="FF0000"/>
                </a:solidFill>
              </a:rPr>
              <a:t>O (</a:t>
            </a:r>
            <a:r>
              <a:rPr lang="en-US" sz="2000" b="1" i="1" dirty="0">
                <a:solidFill>
                  <a:srgbClr val="FF0000"/>
                </a:solidFill>
              </a:rPr>
              <a:t>l</a:t>
            </a:r>
            <a:r>
              <a:rPr lang="en-US" sz="2000" b="1" dirty="0">
                <a:solidFill>
                  <a:srgbClr val="FF0000"/>
                </a:solidFill>
              </a:rPr>
              <a:t>) + 4e</a:t>
            </a:r>
            <a:r>
              <a:rPr lang="en-US" sz="2000" b="1" baseline="30000" dirty="0">
                <a:solidFill>
                  <a:srgbClr val="FF0000"/>
                </a:solidFill>
              </a:rPr>
              <a:t>-</a:t>
            </a:r>
          </a:p>
          <a:p>
            <a:pPr>
              <a:buNone/>
            </a:pPr>
            <a:r>
              <a:rPr lang="en-US" sz="2000" b="1" dirty="0">
                <a:solidFill>
                  <a:schemeClr val="accent2"/>
                </a:solidFill>
              </a:rPr>
              <a:t>Cathode: 	O</a:t>
            </a:r>
            <a:r>
              <a:rPr lang="en-US" sz="2000" b="1" baseline="-25000" dirty="0">
                <a:solidFill>
                  <a:schemeClr val="accent2"/>
                </a:solidFill>
              </a:rPr>
              <a:t>2</a:t>
            </a:r>
            <a:r>
              <a:rPr lang="en-US" sz="2000" b="1" dirty="0">
                <a:solidFill>
                  <a:schemeClr val="accent2"/>
                </a:solidFill>
              </a:rPr>
              <a:t> (</a:t>
            </a:r>
            <a:r>
              <a:rPr lang="en-US" sz="2000" b="1" i="1" dirty="0">
                <a:solidFill>
                  <a:schemeClr val="accent2"/>
                </a:solidFill>
              </a:rPr>
              <a:t>g</a:t>
            </a:r>
            <a:r>
              <a:rPr lang="en-US" sz="2000" b="1" dirty="0">
                <a:solidFill>
                  <a:schemeClr val="accent2"/>
                </a:solidFill>
              </a:rPr>
              <a:t>) + 2H</a:t>
            </a:r>
            <a:r>
              <a:rPr lang="en-US" sz="2000" b="1" baseline="-25000" dirty="0">
                <a:solidFill>
                  <a:schemeClr val="accent2"/>
                </a:solidFill>
              </a:rPr>
              <a:t>2</a:t>
            </a:r>
            <a:r>
              <a:rPr lang="en-US" sz="2000" b="1" dirty="0">
                <a:solidFill>
                  <a:schemeClr val="accent2"/>
                </a:solidFill>
              </a:rPr>
              <a:t>O (</a:t>
            </a:r>
            <a:r>
              <a:rPr lang="en-US" sz="2000" b="1" i="1" dirty="0">
                <a:solidFill>
                  <a:schemeClr val="accent2"/>
                </a:solidFill>
              </a:rPr>
              <a:t>l</a:t>
            </a:r>
            <a:r>
              <a:rPr lang="en-US" sz="2000" b="1" dirty="0">
                <a:solidFill>
                  <a:schemeClr val="accent2"/>
                </a:solidFill>
              </a:rPr>
              <a:t>) + 4e</a:t>
            </a:r>
            <a:r>
              <a:rPr lang="en-US" sz="2000" b="1" baseline="30000" dirty="0">
                <a:solidFill>
                  <a:schemeClr val="accent2"/>
                </a:solidFill>
              </a:rPr>
              <a:t>-</a:t>
            </a:r>
            <a:r>
              <a:rPr lang="en-US" sz="2000" b="1" dirty="0">
                <a:solidFill>
                  <a:schemeClr val="accent2"/>
                </a:solidFill>
              </a:rPr>
              <a:t>              4OH</a:t>
            </a:r>
            <a:r>
              <a:rPr lang="en-US" sz="2000" b="1" baseline="30000" dirty="0">
                <a:solidFill>
                  <a:schemeClr val="accent2"/>
                </a:solidFill>
              </a:rPr>
              <a:t>-</a:t>
            </a:r>
            <a:r>
              <a:rPr lang="en-US" sz="2000" b="1" dirty="0">
                <a:solidFill>
                  <a:schemeClr val="accent2"/>
                </a:solidFill>
              </a:rPr>
              <a:t> (</a:t>
            </a:r>
            <a:r>
              <a:rPr lang="en-US" sz="2000" b="1" i="1" dirty="0" err="1">
                <a:solidFill>
                  <a:schemeClr val="accent2"/>
                </a:solidFill>
              </a:rPr>
              <a:t>aq</a:t>
            </a:r>
            <a:r>
              <a:rPr lang="en-US" sz="2000" b="1" dirty="0">
                <a:solidFill>
                  <a:schemeClr val="accent2"/>
                </a:solidFill>
              </a:rPr>
              <a:t>)</a:t>
            </a:r>
          </a:p>
          <a:p>
            <a:pPr>
              <a:buNone/>
            </a:pPr>
            <a:r>
              <a:rPr lang="en-US" sz="2000" b="1" dirty="0"/>
              <a:t>Overall: 	2H</a:t>
            </a:r>
            <a:r>
              <a:rPr lang="en-US" sz="2000" b="1" baseline="-25000" dirty="0"/>
              <a:t>2</a:t>
            </a:r>
            <a:r>
              <a:rPr lang="en-US" sz="2000" b="1" dirty="0"/>
              <a:t> (</a:t>
            </a:r>
            <a:r>
              <a:rPr lang="en-US" sz="2000" b="1" i="1" dirty="0"/>
              <a:t>g</a:t>
            </a:r>
            <a:r>
              <a:rPr lang="en-US" sz="2000" b="1" dirty="0"/>
              <a:t>) + O</a:t>
            </a:r>
            <a:r>
              <a:rPr lang="en-US" sz="2000" b="1" baseline="-25000" dirty="0"/>
              <a:t>2</a:t>
            </a:r>
            <a:r>
              <a:rPr lang="en-US" sz="2000" b="1" dirty="0"/>
              <a:t> (</a:t>
            </a:r>
            <a:r>
              <a:rPr lang="en-US" sz="2000" b="1" i="1" dirty="0"/>
              <a:t>g</a:t>
            </a:r>
            <a:r>
              <a:rPr lang="en-US" sz="2000" b="1"/>
              <a:t>)                        </a:t>
            </a:r>
            <a:r>
              <a:rPr lang="en-US" sz="2000" b="1" dirty="0"/>
              <a:t>2H</a:t>
            </a:r>
            <a:r>
              <a:rPr lang="en-US" sz="2000" b="1" baseline="-25000" dirty="0"/>
              <a:t>2</a:t>
            </a:r>
            <a:r>
              <a:rPr lang="en-US" sz="2000" b="1" dirty="0"/>
              <a:t>O (</a:t>
            </a:r>
            <a:r>
              <a:rPr lang="en-US" sz="2000" b="1" i="1" dirty="0"/>
              <a:t>l</a:t>
            </a:r>
            <a:r>
              <a:rPr lang="en-US" sz="2000" b="1" dirty="0"/>
              <a:t>)</a:t>
            </a:r>
          </a:p>
        </p:txBody>
      </p:sp>
      <p:sp>
        <p:nvSpPr>
          <p:cNvPr id="6" name="Right Arrow 5"/>
          <p:cNvSpPr/>
          <p:nvPr/>
        </p:nvSpPr>
        <p:spPr>
          <a:xfrm>
            <a:off x="3733800" y="5029200"/>
            <a:ext cx="8382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ight Arrow 6"/>
          <p:cNvSpPr/>
          <p:nvPr/>
        </p:nvSpPr>
        <p:spPr>
          <a:xfrm>
            <a:off x="4495800" y="5334000"/>
            <a:ext cx="6858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ight Arrow 7"/>
          <p:cNvSpPr/>
          <p:nvPr/>
        </p:nvSpPr>
        <p:spPr>
          <a:xfrm>
            <a:off x="3048000" y="5638800"/>
            <a:ext cx="7620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CORROSION</a:t>
            </a:r>
          </a:p>
        </p:txBody>
      </p:sp>
      <p:sp>
        <p:nvSpPr>
          <p:cNvPr id="3" name="Content Placeholder 2"/>
          <p:cNvSpPr>
            <a:spLocks noGrp="1"/>
          </p:cNvSpPr>
          <p:nvPr>
            <p:ph idx="1"/>
          </p:nvPr>
        </p:nvSpPr>
        <p:spPr/>
        <p:txBody>
          <a:bodyPr>
            <a:normAutofit/>
          </a:bodyPr>
          <a:lstStyle/>
          <a:p>
            <a:pPr algn="just">
              <a:lnSpc>
                <a:spcPct val="110000"/>
              </a:lnSpc>
              <a:buFont typeface="Wingdings" pitchFamily="2" charset="2"/>
              <a:buChar char="ü"/>
            </a:pPr>
            <a:r>
              <a:rPr lang="en-US" dirty="0">
                <a:latin typeface="Arial" pitchFamily="34" charset="0"/>
                <a:cs typeface="Arial" pitchFamily="34" charset="0"/>
              </a:rPr>
              <a:t>Corrosion is the oxidative deterioration of metal.</a:t>
            </a:r>
          </a:p>
          <a:p>
            <a:pPr algn="just">
              <a:lnSpc>
                <a:spcPct val="50000"/>
              </a:lnSpc>
              <a:buFont typeface="Wingdings" pitchFamily="2" charset="2"/>
              <a:buChar char="ü"/>
            </a:pPr>
            <a:endParaRPr lang="en-US" dirty="0">
              <a:latin typeface="Arial" pitchFamily="34" charset="0"/>
              <a:cs typeface="Arial" pitchFamily="34" charset="0"/>
            </a:endParaRPr>
          </a:p>
          <a:p>
            <a:pPr algn="just">
              <a:lnSpc>
                <a:spcPct val="110000"/>
              </a:lnSpc>
              <a:buFont typeface="Wingdings" pitchFamily="2" charset="2"/>
              <a:buChar char="ü"/>
            </a:pPr>
            <a:r>
              <a:rPr lang="en-US" dirty="0">
                <a:latin typeface="Arial" pitchFamily="34" charset="0"/>
                <a:cs typeface="Arial" pitchFamily="34" charset="0"/>
              </a:rPr>
              <a:t>25% of steel produced goes to replace steel structures and products destroyed by corrosion.</a:t>
            </a:r>
          </a:p>
          <a:p>
            <a:pPr algn="just">
              <a:lnSpc>
                <a:spcPct val="50000"/>
              </a:lnSpc>
              <a:buFont typeface="Wingdings" pitchFamily="2" charset="2"/>
              <a:buChar char="ü"/>
            </a:pPr>
            <a:endParaRPr lang="en-US" dirty="0">
              <a:latin typeface="Arial" pitchFamily="34" charset="0"/>
              <a:cs typeface="Arial" pitchFamily="34" charset="0"/>
            </a:endParaRPr>
          </a:p>
          <a:p>
            <a:pPr algn="just">
              <a:lnSpc>
                <a:spcPct val="110000"/>
              </a:lnSpc>
              <a:buFont typeface="Wingdings" pitchFamily="2" charset="2"/>
              <a:buChar char="ü"/>
            </a:pPr>
            <a:r>
              <a:rPr lang="en-US" dirty="0">
                <a:latin typeface="Arial" pitchFamily="34" charset="0"/>
                <a:cs typeface="Arial" pitchFamily="34" charset="0"/>
              </a:rPr>
              <a:t>Rusting of iron requires the presence of </a:t>
            </a:r>
            <a:r>
              <a:rPr lang="en-US" dirty="0">
                <a:solidFill>
                  <a:srgbClr val="FF0000"/>
                </a:solidFill>
                <a:latin typeface="Arial" pitchFamily="34" charset="0"/>
                <a:cs typeface="Arial" pitchFamily="34" charset="0"/>
              </a:rPr>
              <a:t>both</a:t>
            </a:r>
            <a:r>
              <a:rPr lang="en-US" dirty="0">
                <a:latin typeface="Arial" pitchFamily="34" charset="0"/>
                <a:cs typeface="Arial" pitchFamily="34" charset="0"/>
              </a:rPr>
              <a:t> oxygen and water. </a:t>
            </a:r>
          </a:p>
          <a:p>
            <a:pPr algn="just">
              <a:lnSpc>
                <a:spcPct val="50000"/>
              </a:lnSpc>
              <a:buFont typeface="Wingdings" pitchFamily="2" charset="2"/>
              <a:buChar char="ü"/>
            </a:pPr>
            <a:endParaRPr lang="en-US" dirty="0">
              <a:latin typeface="Arial" pitchFamily="34" charset="0"/>
              <a:cs typeface="Arial" pitchFamily="34" charset="0"/>
            </a:endParaRPr>
          </a:p>
          <a:p>
            <a:pPr algn="just">
              <a:lnSpc>
                <a:spcPct val="110000"/>
              </a:lnSpc>
              <a:buFont typeface="Wingdings" pitchFamily="2" charset="2"/>
              <a:buChar char="ü"/>
            </a:pPr>
            <a:r>
              <a:rPr lang="en-US" dirty="0">
                <a:latin typeface="Arial" pitchFamily="34" charset="0"/>
                <a:cs typeface="Arial" pitchFamily="34" charset="0"/>
              </a:rPr>
              <a:t>Rusting results from tiny galvanic cells formed by water droplets.</a:t>
            </a:r>
          </a:p>
          <a:p>
            <a:endParaRPr lang="en-I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noChangeArrowheads="1"/>
          </p:cNvPicPr>
          <p:nvPr/>
        </p:nvPicPr>
        <p:blipFill>
          <a:blip r:embed="rId2" cstate="print"/>
          <a:srcRect l="2777" t="15741" r="2777" b="25926"/>
          <a:stretch>
            <a:fillRect/>
          </a:stretch>
        </p:blipFill>
        <p:spPr>
          <a:xfrm>
            <a:off x="304800" y="457200"/>
            <a:ext cx="7848600" cy="3797300"/>
          </a:xfrm>
          <a:prstGeom prst="rect">
            <a:avLst/>
          </a:prstGeom>
        </p:spPr>
      </p:pic>
      <p:sp>
        <p:nvSpPr>
          <p:cNvPr id="5" name="Rectangle 4"/>
          <p:cNvSpPr/>
          <p:nvPr/>
        </p:nvSpPr>
        <p:spPr>
          <a:xfrm>
            <a:off x="228600" y="4419600"/>
            <a:ext cx="7162800" cy="1173078"/>
          </a:xfrm>
          <a:prstGeom prst="rect">
            <a:avLst/>
          </a:prstGeom>
        </p:spPr>
        <p:txBody>
          <a:bodyPr wrap="square">
            <a:spAutoFit/>
          </a:bodyPr>
          <a:lstStyle/>
          <a:p>
            <a:pPr>
              <a:lnSpc>
                <a:spcPct val="120000"/>
              </a:lnSpc>
              <a:spcBef>
                <a:spcPct val="0"/>
              </a:spcBef>
              <a:buFont typeface="Arial" charset="0"/>
              <a:buNone/>
              <a:tabLst>
                <a:tab pos="1528763" algn="l"/>
              </a:tabLst>
            </a:pPr>
            <a:r>
              <a:rPr lang="en-US" sz="2000" b="1" dirty="0">
                <a:solidFill>
                  <a:schemeClr val="tx1">
                    <a:lumMod val="85000"/>
                    <a:lumOff val="15000"/>
                  </a:schemeClr>
                </a:solidFill>
              </a:rPr>
              <a:t>Oxidation:	Fe(</a:t>
            </a:r>
            <a:r>
              <a:rPr lang="en-US" sz="2000" b="1" i="1" dirty="0">
                <a:solidFill>
                  <a:schemeClr val="tx1">
                    <a:lumMod val="85000"/>
                    <a:lumOff val="15000"/>
                  </a:schemeClr>
                </a:solidFill>
              </a:rPr>
              <a:t>s</a:t>
            </a:r>
            <a:r>
              <a:rPr lang="en-US" sz="2000" b="1" dirty="0">
                <a:solidFill>
                  <a:schemeClr val="tx1">
                    <a:lumMod val="85000"/>
                    <a:lumOff val="15000"/>
                  </a:schemeClr>
                </a:solidFill>
              </a:rPr>
              <a:t>) </a:t>
            </a:r>
            <a:r>
              <a:rPr lang="en-US" sz="2000" b="1" dirty="0">
                <a:solidFill>
                  <a:schemeClr val="tx1">
                    <a:lumMod val="85000"/>
                    <a:lumOff val="15000"/>
                  </a:schemeClr>
                </a:solidFill>
                <a:sym typeface="Symbol" pitchFamily="18" charset="2"/>
              </a:rPr>
              <a:t> Fe</a:t>
            </a:r>
            <a:r>
              <a:rPr lang="en-US" sz="2000" b="1" baseline="30000" dirty="0">
                <a:solidFill>
                  <a:schemeClr val="tx1">
                    <a:lumMod val="85000"/>
                    <a:lumOff val="15000"/>
                  </a:schemeClr>
                </a:solidFill>
                <a:sym typeface="Symbol" pitchFamily="18" charset="2"/>
              </a:rPr>
              <a:t>2+</a:t>
            </a:r>
            <a:r>
              <a:rPr lang="en-US" sz="2000" b="1" dirty="0">
                <a:solidFill>
                  <a:schemeClr val="tx1">
                    <a:lumMod val="85000"/>
                    <a:lumOff val="15000"/>
                  </a:schemeClr>
                </a:solidFill>
                <a:sym typeface="Symbol" pitchFamily="18" charset="2"/>
              </a:rPr>
              <a:t>(</a:t>
            </a:r>
            <a:r>
              <a:rPr lang="en-US" sz="2000" b="1" i="1" dirty="0" err="1">
                <a:solidFill>
                  <a:schemeClr val="tx1">
                    <a:lumMod val="85000"/>
                    <a:lumOff val="15000"/>
                  </a:schemeClr>
                </a:solidFill>
                <a:sym typeface="Symbol" pitchFamily="18" charset="2"/>
              </a:rPr>
              <a:t>aq</a:t>
            </a:r>
            <a:r>
              <a:rPr lang="en-US" sz="2000" b="1" dirty="0">
                <a:solidFill>
                  <a:schemeClr val="tx1">
                    <a:lumMod val="85000"/>
                    <a:lumOff val="15000"/>
                  </a:schemeClr>
                </a:solidFill>
                <a:sym typeface="Symbol" pitchFamily="18" charset="2"/>
              </a:rPr>
              <a:t>) + 2 e</a:t>
            </a:r>
            <a:r>
              <a:rPr lang="en-US" sz="2000" b="1" baseline="30000" dirty="0">
                <a:solidFill>
                  <a:schemeClr val="tx1">
                    <a:lumMod val="85000"/>
                    <a:lumOff val="15000"/>
                  </a:schemeClr>
                </a:solidFill>
                <a:sym typeface="Symbol" pitchFamily="18" charset="2"/>
              </a:rPr>
              <a:t>–</a:t>
            </a:r>
            <a:endParaRPr lang="en-US" sz="2000" b="1" dirty="0">
              <a:solidFill>
                <a:schemeClr val="tx1">
                  <a:lumMod val="85000"/>
                  <a:lumOff val="15000"/>
                </a:schemeClr>
              </a:solidFill>
              <a:sym typeface="Symbol" pitchFamily="18" charset="2"/>
            </a:endParaRPr>
          </a:p>
          <a:p>
            <a:pPr>
              <a:lnSpc>
                <a:spcPct val="120000"/>
              </a:lnSpc>
              <a:spcBef>
                <a:spcPct val="0"/>
              </a:spcBef>
              <a:buFont typeface="Arial" charset="0"/>
              <a:buNone/>
              <a:tabLst>
                <a:tab pos="1528763" algn="l"/>
              </a:tabLst>
            </a:pPr>
            <a:r>
              <a:rPr lang="en-US" sz="2000" b="1" dirty="0">
                <a:solidFill>
                  <a:schemeClr val="tx1">
                    <a:lumMod val="85000"/>
                    <a:lumOff val="15000"/>
                  </a:schemeClr>
                </a:solidFill>
                <a:sym typeface="Symbol" pitchFamily="18" charset="2"/>
              </a:rPr>
              <a:t>Reduction:	O</a:t>
            </a:r>
            <a:r>
              <a:rPr lang="en-US" sz="2000" b="1" baseline="-25000" dirty="0">
                <a:solidFill>
                  <a:schemeClr val="tx1">
                    <a:lumMod val="85000"/>
                    <a:lumOff val="15000"/>
                  </a:schemeClr>
                </a:solidFill>
                <a:sym typeface="Symbol" pitchFamily="18" charset="2"/>
              </a:rPr>
              <a:t>2</a:t>
            </a:r>
            <a:r>
              <a:rPr lang="en-US" sz="2000" b="1" dirty="0">
                <a:solidFill>
                  <a:schemeClr val="tx1">
                    <a:lumMod val="85000"/>
                    <a:lumOff val="15000"/>
                  </a:schemeClr>
                </a:solidFill>
                <a:sym typeface="Symbol" pitchFamily="18" charset="2"/>
              </a:rPr>
              <a:t>(</a:t>
            </a:r>
            <a:r>
              <a:rPr lang="en-US" sz="2000" b="1" i="1" dirty="0">
                <a:solidFill>
                  <a:schemeClr val="tx1">
                    <a:lumMod val="85000"/>
                    <a:lumOff val="15000"/>
                  </a:schemeClr>
                </a:solidFill>
                <a:sym typeface="Symbol" pitchFamily="18" charset="2"/>
              </a:rPr>
              <a:t>g</a:t>
            </a:r>
            <a:r>
              <a:rPr lang="en-US" sz="2000" b="1" dirty="0">
                <a:solidFill>
                  <a:schemeClr val="tx1">
                    <a:lumMod val="85000"/>
                    <a:lumOff val="15000"/>
                  </a:schemeClr>
                </a:solidFill>
                <a:sym typeface="Symbol" pitchFamily="18" charset="2"/>
              </a:rPr>
              <a:t>) + 4 H</a:t>
            </a:r>
            <a:r>
              <a:rPr lang="en-US" sz="2000" b="1" baseline="30000" dirty="0">
                <a:solidFill>
                  <a:schemeClr val="tx1">
                    <a:lumMod val="85000"/>
                    <a:lumOff val="15000"/>
                  </a:schemeClr>
                </a:solidFill>
                <a:sym typeface="Symbol" pitchFamily="18" charset="2"/>
              </a:rPr>
              <a:t>+</a:t>
            </a:r>
            <a:r>
              <a:rPr lang="en-US" sz="2000" b="1" dirty="0">
                <a:solidFill>
                  <a:schemeClr val="tx1">
                    <a:lumMod val="85000"/>
                    <a:lumOff val="15000"/>
                  </a:schemeClr>
                </a:solidFill>
                <a:sym typeface="Symbol" pitchFamily="18" charset="2"/>
              </a:rPr>
              <a:t>(</a:t>
            </a:r>
            <a:r>
              <a:rPr lang="en-US" sz="2000" b="1" i="1" dirty="0" err="1">
                <a:solidFill>
                  <a:schemeClr val="tx1">
                    <a:lumMod val="85000"/>
                    <a:lumOff val="15000"/>
                  </a:schemeClr>
                </a:solidFill>
                <a:sym typeface="Symbol" pitchFamily="18" charset="2"/>
              </a:rPr>
              <a:t>aq</a:t>
            </a:r>
            <a:r>
              <a:rPr lang="en-US" sz="2000" b="1" dirty="0">
                <a:solidFill>
                  <a:schemeClr val="tx1">
                    <a:lumMod val="85000"/>
                    <a:lumOff val="15000"/>
                  </a:schemeClr>
                </a:solidFill>
                <a:sym typeface="Symbol" pitchFamily="18" charset="2"/>
              </a:rPr>
              <a:t>) + 4 e</a:t>
            </a:r>
            <a:r>
              <a:rPr lang="en-US" sz="2000" b="1" baseline="30000" dirty="0">
                <a:solidFill>
                  <a:schemeClr val="tx1">
                    <a:lumMod val="85000"/>
                    <a:lumOff val="15000"/>
                  </a:schemeClr>
                </a:solidFill>
                <a:sym typeface="Symbol" pitchFamily="18" charset="2"/>
              </a:rPr>
              <a:t>–</a:t>
            </a:r>
            <a:r>
              <a:rPr lang="en-US" sz="2000" b="1" dirty="0">
                <a:solidFill>
                  <a:schemeClr val="tx1">
                    <a:lumMod val="85000"/>
                    <a:lumOff val="15000"/>
                  </a:schemeClr>
                </a:solidFill>
                <a:sym typeface="Symbol" pitchFamily="18" charset="2"/>
              </a:rPr>
              <a:t>  2 H</a:t>
            </a:r>
            <a:r>
              <a:rPr lang="en-US" sz="2000" b="1" baseline="-25000" dirty="0">
                <a:solidFill>
                  <a:schemeClr val="tx1">
                    <a:lumMod val="85000"/>
                    <a:lumOff val="15000"/>
                  </a:schemeClr>
                </a:solidFill>
                <a:sym typeface="Symbol" pitchFamily="18" charset="2"/>
              </a:rPr>
              <a:t>2</a:t>
            </a:r>
            <a:r>
              <a:rPr lang="en-US" sz="2000" b="1" dirty="0">
                <a:solidFill>
                  <a:schemeClr val="tx1">
                    <a:lumMod val="85000"/>
                    <a:lumOff val="15000"/>
                  </a:schemeClr>
                </a:solidFill>
                <a:sym typeface="Symbol" pitchFamily="18" charset="2"/>
              </a:rPr>
              <a:t>O(</a:t>
            </a:r>
            <a:r>
              <a:rPr lang="en-US" sz="2000" b="1" i="1" dirty="0">
                <a:solidFill>
                  <a:schemeClr val="tx1">
                    <a:lumMod val="85000"/>
                    <a:lumOff val="15000"/>
                  </a:schemeClr>
                </a:solidFill>
                <a:sym typeface="Symbol" pitchFamily="18" charset="2"/>
              </a:rPr>
              <a:t>l</a:t>
            </a:r>
            <a:r>
              <a:rPr lang="en-US" sz="2000" b="1" dirty="0">
                <a:solidFill>
                  <a:schemeClr val="tx1">
                    <a:lumMod val="85000"/>
                    <a:lumOff val="15000"/>
                  </a:schemeClr>
                </a:solidFill>
                <a:sym typeface="Symbol" pitchFamily="18" charset="2"/>
              </a:rPr>
              <a:t>)</a:t>
            </a:r>
          </a:p>
          <a:p>
            <a:pPr>
              <a:lnSpc>
                <a:spcPct val="120000"/>
              </a:lnSpc>
              <a:spcBef>
                <a:spcPct val="0"/>
              </a:spcBef>
              <a:buFont typeface="Arial" charset="0"/>
              <a:buNone/>
              <a:tabLst>
                <a:tab pos="1528763" algn="l"/>
              </a:tabLst>
            </a:pPr>
            <a:r>
              <a:rPr lang="en-US" sz="2000" b="1" dirty="0">
                <a:solidFill>
                  <a:schemeClr val="tx1">
                    <a:lumMod val="85000"/>
                    <a:lumOff val="15000"/>
                  </a:schemeClr>
                </a:solidFill>
                <a:sym typeface="Symbol" pitchFamily="18" charset="2"/>
              </a:rPr>
              <a:t>Overall: 	2 </a:t>
            </a:r>
            <a:r>
              <a:rPr lang="en-US" sz="2000" b="1" dirty="0">
                <a:solidFill>
                  <a:schemeClr val="tx1">
                    <a:lumMod val="85000"/>
                    <a:lumOff val="15000"/>
                  </a:schemeClr>
                </a:solidFill>
              </a:rPr>
              <a:t>Fe(</a:t>
            </a:r>
            <a:r>
              <a:rPr lang="en-US" sz="2000" b="1" i="1" dirty="0">
                <a:solidFill>
                  <a:schemeClr val="tx1">
                    <a:lumMod val="85000"/>
                    <a:lumOff val="15000"/>
                  </a:schemeClr>
                </a:solidFill>
              </a:rPr>
              <a:t>s</a:t>
            </a:r>
            <a:r>
              <a:rPr lang="en-US" sz="2000" b="1" dirty="0">
                <a:solidFill>
                  <a:schemeClr val="tx1">
                    <a:lumMod val="85000"/>
                    <a:lumOff val="15000"/>
                  </a:schemeClr>
                </a:solidFill>
              </a:rPr>
              <a:t>) </a:t>
            </a:r>
            <a:r>
              <a:rPr lang="en-US" sz="2000" b="1" dirty="0">
                <a:solidFill>
                  <a:schemeClr val="tx1">
                    <a:lumMod val="85000"/>
                    <a:lumOff val="15000"/>
                  </a:schemeClr>
                </a:solidFill>
                <a:sym typeface="Symbol" pitchFamily="18" charset="2"/>
              </a:rPr>
              <a:t>+ O</a:t>
            </a:r>
            <a:r>
              <a:rPr lang="en-US" sz="2000" b="1" baseline="-25000" dirty="0">
                <a:solidFill>
                  <a:schemeClr val="tx1">
                    <a:lumMod val="85000"/>
                    <a:lumOff val="15000"/>
                  </a:schemeClr>
                </a:solidFill>
                <a:sym typeface="Symbol" pitchFamily="18" charset="2"/>
              </a:rPr>
              <a:t>2</a:t>
            </a:r>
            <a:r>
              <a:rPr lang="en-US" sz="2000" b="1" dirty="0">
                <a:solidFill>
                  <a:schemeClr val="tx1">
                    <a:lumMod val="85000"/>
                    <a:lumOff val="15000"/>
                  </a:schemeClr>
                </a:solidFill>
                <a:sym typeface="Symbol" pitchFamily="18" charset="2"/>
              </a:rPr>
              <a:t>(</a:t>
            </a:r>
            <a:r>
              <a:rPr lang="en-US" sz="2000" b="1" i="1" dirty="0">
                <a:solidFill>
                  <a:schemeClr val="tx1">
                    <a:lumMod val="85000"/>
                    <a:lumOff val="15000"/>
                  </a:schemeClr>
                </a:solidFill>
                <a:sym typeface="Symbol" pitchFamily="18" charset="2"/>
              </a:rPr>
              <a:t>g</a:t>
            </a:r>
            <a:r>
              <a:rPr lang="en-US" sz="2000" b="1" dirty="0">
                <a:solidFill>
                  <a:schemeClr val="tx1">
                    <a:lumMod val="85000"/>
                    <a:lumOff val="15000"/>
                  </a:schemeClr>
                </a:solidFill>
                <a:sym typeface="Symbol" pitchFamily="18" charset="2"/>
              </a:rPr>
              <a:t>)</a:t>
            </a:r>
            <a:r>
              <a:rPr lang="en-US" sz="2000" b="1" i="1" dirty="0">
                <a:solidFill>
                  <a:schemeClr val="tx1">
                    <a:lumMod val="85000"/>
                    <a:lumOff val="15000"/>
                  </a:schemeClr>
                </a:solidFill>
                <a:sym typeface="Symbol" pitchFamily="18" charset="2"/>
              </a:rPr>
              <a:t> </a:t>
            </a:r>
            <a:r>
              <a:rPr lang="en-US" sz="2000" b="1" dirty="0">
                <a:solidFill>
                  <a:schemeClr val="tx1">
                    <a:lumMod val="85000"/>
                    <a:lumOff val="15000"/>
                  </a:schemeClr>
                </a:solidFill>
                <a:sym typeface="Symbol" pitchFamily="18" charset="2"/>
              </a:rPr>
              <a:t>+ 4 H</a:t>
            </a:r>
            <a:r>
              <a:rPr lang="en-US" sz="2000" b="1" baseline="30000" dirty="0">
                <a:solidFill>
                  <a:schemeClr val="tx1">
                    <a:lumMod val="85000"/>
                    <a:lumOff val="15000"/>
                  </a:schemeClr>
                </a:solidFill>
                <a:sym typeface="Symbol" pitchFamily="18" charset="2"/>
              </a:rPr>
              <a:t>+</a:t>
            </a:r>
            <a:r>
              <a:rPr lang="en-US" sz="2000" b="1" dirty="0">
                <a:solidFill>
                  <a:schemeClr val="tx1">
                    <a:lumMod val="85000"/>
                    <a:lumOff val="15000"/>
                  </a:schemeClr>
                </a:solidFill>
                <a:sym typeface="Symbol" pitchFamily="18" charset="2"/>
              </a:rPr>
              <a:t>(</a:t>
            </a:r>
            <a:r>
              <a:rPr lang="en-US" sz="2000" b="1" i="1" dirty="0" err="1">
                <a:solidFill>
                  <a:schemeClr val="tx1">
                    <a:lumMod val="85000"/>
                    <a:lumOff val="15000"/>
                  </a:schemeClr>
                </a:solidFill>
                <a:sym typeface="Symbol" pitchFamily="18" charset="2"/>
              </a:rPr>
              <a:t>aq</a:t>
            </a:r>
            <a:r>
              <a:rPr lang="en-US" sz="2000" b="1" dirty="0">
                <a:solidFill>
                  <a:schemeClr val="tx1">
                    <a:lumMod val="85000"/>
                    <a:lumOff val="15000"/>
                  </a:schemeClr>
                </a:solidFill>
                <a:sym typeface="Symbol" pitchFamily="18" charset="2"/>
              </a:rPr>
              <a:t>)  2 Fe</a:t>
            </a:r>
            <a:r>
              <a:rPr lang="en-US" sz="2000" b="1" baseline="30000" dirty="0">
                <a:solidFill>
                  <a:schemeClr val="tx1">
                    <a:lumMod val="85000"/>
                    <a:lumOff val="15000"/>
                  </a:schemeClr>
                </a:solidFill>
                <a:sym typeface="Symbol" pitchFamily="18" charset="2"/>
              </a:rPr>
              <a:t>2+</a:t>
            </a:r>
            <a:r>
              <a:rPr lang="en-US" sz="2000" b="1" dirty="0">
                <a:solidFill>
                  <a:schemeClr val="tx1">
                    <a:lumMod val="85000"/>
                    <a:lumOff val="15000"/>
                  </a:schemeClr>
                </a:solidFill>
                <a:sym typeface="Symbol" pitchFamily="18" charset="2"/>
              </a:rPr>
              <a:t>(</a:t>
            </a:r>
            <a:r>
              <a:rPr lang="en-US" sz="2000" b="1" i="1" dirty="0" err="1">
                <a:solidFill>
                  <a:schemeClr val="tx1">
                    <a:lumMod val="85000"/>
                    <a:lumOff val="15000"/>
                  </a:schemeClr>
                </a:solidFill>
                <a:sym typeface="Symbol" pitchFamily="18" charset="2"/>
              </a:rPr>
              <a:t>aq</a:t>
            </a:r>
            <a:r>
              <a:rPr lang="en-US" sz="2000" b="1" dirty="0">
                <a:solidFill>
                  <a:schemeClr val="tx1">
                    <a:lumMod val="85000"/>
                    <a:lumOff val="15000"/>
                  </a:schemeClr>
                </a:solidFill>
                <a:sym typeface="Symbol" pitchFamily="18" charset="2"/>
              </a:rPr>
              <a:t>) + 2 H</a:t>
            </a:r>
            <a:r>
              <a:rPr lang="en-US" sz="2000" b="1" baseline="-25000" dirty="0">
                <a:solidFill>
                  <a:schemeClr val="tx1">
                    <a:lumMod val="85000"/>
                    <a:lumOff val="15000"/>
                  </a:schemeClr>
                </a:solidFill>
                <a:sym typeface="Symbol" pitchFamily="18" charset="2"/>
              </a:rPr>
              <a:t>2</a:t>
            </a:r>
            <a:r>
              <a:rPr lang="en-US" sz="2000" b="1" dirty="0">
                <a:solidFill>
                  <a:schemeClr val="tx1">
                    <a:lumMod val="85000"/>
                    <a:lumOff val="15000"/>
                  </a:schemeClr>
                </a:solidFill>
                <a:sym typeface="Symbol" pitchFamily="18" charset="2"/>
              </a:rPr>
              <a:t>O(</a:t>
            </a:r>
            <a:r>
              <a:rPr lang="en-US" sz="2000" b="1" i="1" dirty="0">
                <a:solidFill>
                  <a:schemeClr val="tx1">
                    <a:lumMod val="85000"/>
                    <a:lumOff val="15000"/>
                  </a:schemeClr>
                </a:solidFill>
                <a:sym typeface="Symbol" pitchFamily="18" charset="2"/>
              </a:rPr>
              <a:t>l</a:t>
            </a:r>
            <a:r>
              <a:rPr lang="en-US" sz="2000" b="1" dirty="0">
                <a:solidFill>
                  <a:schemeClr val="tx1">
                    <a:lumMod val="85000"/>
                    <a:lumOff val="15000"/>
                  </a:schemeClr>
                </a:solidFill>
                <a:sym typeface="Symbol" pitchFamily="18" charset="2"/>
              </a:rPr>
              <a:t>)</a:t>
            </a:r>
            <a:endParaRPr lang="en-US" sz="2000" b="1" dirty="0">
              <a:solidFill>
                <a:schemeClr val="tx1">
                  <a:lumMod val="85000"/>
                  <a:lumOff val="15000"/>
                </a:schemeClr>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lumMod val="50000"/>
                  </a:schemeClr>
                </a:solidFill>
                <a:latin typeface="Arial" pitchFamily="34" charset="0"/>
                <a:cs typeface="Arial" pitchFamily="34" charset="0"/>
              </a:rPr>
              <a:t>Prevention of corrosion</a:t>
            </a:r>
            <a:endParaRPr lang="en-IN" dirty="0"/>
          </a:p>
        </p:txBody>
      </p:sp>
      <p:sp>
        <p:nvSpPr>
          <p:cNvPr id="3" name="Content Placeholder 2"/>
          <p:cNvSpPr>
            <a:spLocks noGrp="1"/>
          </p:cNvSpPr>
          <p:nvPr>
            <p:ph idx="1"/>
          </p:nvPr>
        </p:nvSpPr>
        <p:spPr>
          <a:xfrm>
            <a:off x="0" y="1600200"/>
            <a:ext cx="8991600" cy="5105400"/>
          </a:xfrm>
        </p:spPr>
        <p:txBody>
          <a:bodyPr>
            <a:normAutofit/>
          </a:bodyPr>
          <a:lstStyle/>
          <a:p>
            <a:pPr algn="just">
              <a:lnSpc>
                <a:spcPct val="150000"/>
              </a:lnSpc>
              <a:buFont typeface="Wingdings" pitchFamily="2" charset="2"/>
              <a:buChar char="ü"/>
            </a:pPr>
            <a:r>
              <a:rPr lang="en-US" dirty="0">
                <a:solidFill>
                  <a:schemeClr val="tx1">
                    <a:lumMod val="85000"/>
                    <a:lumOff val="15000"/>
                  </a:schemeClr>
                </a:solidFill>
                <a:latin typeface="Arial" pitchFamily="34" charset="0"/>
                <a:cs typeface="Arial" pitchFamily="34" charset="0"/>
              </a:rPr>
              <a:t>Galvanizing: is the coating of iron with zinc. Zinc is more easily oxidized than iron, which protects and reverses oxidation of the iron.</a:t>
            </a:r>
          </a:p>
          <a:p>
            <a:pPr algn="just">
              <a:lnSpc>
                <a:spcPct val="150000"/>
              </a:lnSpc>
              <a:buFont typeface="Wingdings" pitchFamily="2" charset="2"/>
              <a:buChar char="ü"/>
            </a:pPr>
            <a:r>
              <a:rPr lang="en-US" dirty="0" err="1">
                <a:solidFill>
                  <a:schemeClr val="tx1">
                    <a:lumMod val="85000"/>
                    <a:lumOff val="15000"/>
                  </a:schemeClr>
                </a:solidFill>
                <a:latin typeface="Arial" pitchFamily="34" charset="0"/>
                <a:cs typeface="Arial" pitchFamily="34" charset="0"/>
              </a:rPr>
              <a:t>Cathodic</a:t>
            </a:r>
            <a:r>
              <a:rPr lang="en-US" dirty="0">
                <a:solidFill>
                  <a:schemeClr val="tx1">
                    <a:lumMod val="85000"/>
                    <a:lumOff val="15000"/>
                  </a:schemeClr>
                </a:solidFill>
                <a:latin typeface="Arial" pitchFamily="34" charset="0"/>
                <a:cs typeface="Arial" pitchFamily="34" charset="0"/>
              </a:rPr>
              <a:t> Protection: is the protection of a metal from corrosion by connecting it to a metal (</a:t>
            </a:r>
            <a:r>
              <a:rPr lang="en-US" i="1" dirty="0">
                <a:solidFill>
                  <a:schemeClr val="tx1">
                    <a:lumMod val="85000"/>
                    <a:lumOff val="15000"/>
                  </a:schemeClr>
                </a:solidFill>
                <a:latin typeface="Arial" pitchFamily="34" charset="0"/>
                <a:cs typeface="Arial" pitchFamily="34" charset="0"/>
              </a:rPr>
              <a:t>a sacrificial anode e.g. Mg or Zn</a:t>
            </a:r>
            <a:r>
              <a:rPr lang="en-US" dirty="0">
                <a:solidFill>
                  <a:schemeClr val="tx1">
                    <a:lumMod val="85000"/>
                    <a:lumOff val="15000"/>
                  </a:schemeClr>
                </a:solidFill>
                <a:latin typeface="Arial" pitchFamily="34" charset="0"/>
                <a:cs typeface="Arial" pitchFamily="34" charset="0"/>
              </a:rPr>
              <a:t>) that is more easily oxidized.</a:t>
            </a:r>
          </a:p>
          <a:p>
            <a:pPr algn="just">
              <a:lnSpc>
                <a:spcPct val="150000"/>
              </a:lnSpc>
              <a:buFont typeface="Wingdings" pitchFamily="2" charset="2"/>
              <a:buChar char="ü"/>
            </a:pPr>
            <a:r>
              <a:rPr lang="en-US" dirty="0">
                <a:solidFill>
                  <a:schemeClr val="tx1">
                    <a:lumMod val="85000"/>
                    <a:lumOff val="15000"/>
                  </a:schemeClr>
                </a:solidFill>
                <a:latin typeface="Arial" pitchFamily="34" charset="0"/>
                <a:cs typeface="Arial" pitchFamily="34" charset="0"/>
              </a:rPr>
              <a:t>Electroplating.</a:t>
            </a:r>
          </a:p>
          <a:p>
            <a:pPr algn="just">
              <a:lnSpc>
                <a:spcPct val="150000"/>
              </a:lnSpc>
              <a:buFont typeface="Wingdings" pitchFamily="2" charset="2"/>
              <a:buChar char="ü"/>
            </a:pPr>
            <a:r>
              <a:rPr lang="en-US" dirty="0">
                <a:solidFill>
                  <a:schemeClr val="tx1">
                    <a:lumMod val="85000"/>
                    <a:lumOff val="15000"/>
                  </a:schemeClr>
                </a:solidFill>
                <a:latin typeface="Arial" pitchFamily="34" charset="0"/>
                <a:cs typeface="Arial" pitchFamily="34" charset="0"/>
              </a:rPr>
              <a:t>By applying paint, grease, rubber to prevent contact of metal surface from air.</a:t>
            </a:r>
          </a:p>
          <a:p>
            <a:endParaRPr lang="en-IN"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843</TotalTime>
  <Words>2950</Words>
  <Application>Microsoft Office PowerPoint</Application>
  <PresentationFormat>On-screen Show (4:3)</PresentationFormat>
  <Paragraphs>230</Paragraphs>
  <Slides>39</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50" baseType="lpstr">
      <vt:lpstr>Arial</vt:lpstr>
      <vt:lpstr>Calibri</vt:lpstr>
      <vt:lpstr>Open Sans</vt:lpstr>
      <vt:lpstr>Roboto</vt:lpstr>
      <vt:lpstr>Symbol</vt:lpstr>
      <vt:lpstr>Times New Roman</vt:lpstr>
      <vt:lpstr>Trebuchet MS</vt:lpstr>
      <vt:lpstr>Wingdings</vt:lpstr>
      <vt:lpstr>Wingdings 3</vt:lpstr>
      <vt:lpstr>Facet</vt:lpstr>
      <vt:lpstr>Equation</vt:lpstr>
      <vt:lpstr>Why Study Electrochemistry?</vt:lpstr>
      <vt:lpstr>DEFINITION</vt:lpstr>
      <vt:lpstr>ELECTROCHEMICAL CELLS </vt:lpstr>
      <vt:lpstr> ELECTRO CHEMICAL CELLS A COMPARISON</vt:lpstr>
      <vt:lpstr>DANIEL CELL</vt:lpstr>
      <vt:lpstr>ELECTRODE POTENTIAL</vt:lpstr>
      <vt:lpstr>PowerPoint Presentation</vt:lpstr>
      <vt:lpstr>REFERENCE ELECTRODE</vt:lpstr>
      <vt:lpstr>STANDARD HYDROGEN ELECTRODE (SHE)</vt:lpstr>
      <vt:lpstr>Determination of Standard Electrode Potential of Zn/Zn2+ Electrode </vt:lpstr>
      <vt:lpstr>PowerPoint Presentation</vt:lpstr>
      <vt:lpstr>PowerPoint Presentation</vt:lpstr>
      <vt:lpstr>NERNST EQUATION </vt:lpstr>
      <vt:lpstr>Nernst Equation for a cell</vt:lpstr>
      <vt:lpstr>NERNST EQUATION......</vt:lpstr>
      <vt:lpstr> </vt:lpstr>
      <vt:lpstr>RESISTENCE &amp; CONDUCTIVITY</vt:lpstr>
      <vt:lpstr>MOLAR CONDUCTIVITY</vt:lpstr>
      <vt:lpstr>CONDUCTIVITY CELL</vt:lpstr>
      <vt:lpstr>VARIATION OF CONDUCTIVITY &amp; MOLAR CONDUCTIVITY WITH DILUTION</vt:lpstr>
      <vt:lpstr>KOHLRAUSCH’S LAW</vt:lpstr>
      <vt:lpstr>APPLICATION OF KOHLRAUSCH’S LAW</vt:lpstr>
      <vt:lpstr>ELECTROLYTIC CELL AND ELECTROLYSIS</vt:lpstr>
      <vt:lpstr> FARADAY’S LAW OF ELECTROLYSIS</vt:lpstr>
      <vt:lpstr>PowerPoint Presentation</vt:lpstr>
      <vt:lpstr>BATTERIES</vt:lpstr>
      <vt:lpstr>Types of batteries </vt:lpstr>
      <vt:lpstr>DRY CELL</vt:lpstr>
      <vt:lpstr>PowerPoint Presentation</vt:lpstr>
      <vt:lpstr>MERCURY CELL/ BUTTON CELL</vt:lpstr>
      <vt:lpstr>PowerPoint Presentation</vt:lpstr>
      <vt:lpstr>PowerPoint Presentation</vt:lpstr>
      <vt:lpstr>NICKEL CADMIUM BATTERY</vt:lpstr>
      <vt:lpstr>PowerPoint Presentation</vt:lpstr>
      <vt:lpstr>FUEL CELL</vt:lpstr>
      <vt:lpstr>PowerPoint Presentation</vt:lpstr>
      <vt:lpstr>CORROSION</vt:lpstr>
      <vt:lpstr>PowerPoint Presentation</vt:lpstr>
      <vt:lpstr>Prevention of corrosion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ELECTROCHEMISTRY</dc:title>
  <dc:creator>Anjitha G Sunil</dc:creator>
  <cp:lastModifiedBy>devyanigautam1371@outlook.com</cp:lastModifiedBy>
  <cp:revision>16</cp:revision>
  <dcterms:created xsi:type="dcterms:W3CDTF">2006-08-16T00:00:00Z</dcterms:created>
  <dcterms:modified xsi:type="dcterms:W3CDTF">2026-04-16T06:50:36Z</dcterms:modified>
</cp:coreProperties>
</file>